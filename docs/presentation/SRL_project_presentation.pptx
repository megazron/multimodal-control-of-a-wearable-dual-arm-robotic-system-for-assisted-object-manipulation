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5FA8"/>
                </a:solidFill>
                <a:latin typeface="Calibri"/>
              </a:rPr>
              <a:t>MSc PROJECT  ·  ROS 2 JAZZY  ·  TWO KINOVA GEN3 7-DOF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9966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Multimodal Teleoperation of a Wearable Dual-Arm Supernumerary Robotic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63931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EB6C2"/>
                </a:solidFill>
                <a:latin typeface="Calibri"/>
              </a:rPr>
              <a:t>Master interface design, safety architecture, and a workspace characterisation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590288"/>
            <a:ext cx="1828800" cy="411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09744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Gaus Sayyad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6C2"/>
                </a:solidFill>
                <a:latin typeface="Calibri"/>
              </a:rPr>
              <a:t>The arms are worn by one person and driven by a different person. Both are participants.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C8595"/>
                </a:solidFill>
                <a:latin typeface="Consolas"/>
              </a:rPr>
              <a:t>Every figure in this deck is regenerated from a committed recording by  scripts/make_presentation.py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5212080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1116"/>
                </a:solidFill>
                <a:latin typeface="Calibri"/>
              </a:rPr>
              <a:t>1 · The problem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B1D21"/>
                </a:solidFill>
                <a:latin typeface="Calibri"/>
              </a:rPr>
              <a:t>A third and fourth arm worn by someone who is not driving them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1116"/>
                </a:solidFill>
                <a:latin typeface="Calibri"/>
              </a:rPr>
              <a:t>2 · The system as built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B1D21"/>
                </a:solidFill>
                <a:latin typeface="Calibri"/>
              </a:rPr>
              <a:t>Master arm, five operating modes, and the safety architecture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1116"/>
                </a:solidFill>
                <a:latin typeface="Calibri"/>
              </a:rPr>
              <a:t>3 · Perception and autonomy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B1D21"/>
                </a:solidFill>
                <a:latin typeface="Calibri"/>
              </a:rPr>
              <a:t>Measure the environment, then plan against the measurement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389888"/>
            <a:ext cx="5212080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1116"/>
                </a:solidFill>
                <a:latin typeface="Calibri"/>
              </a:rPr>
              <a:t>4 · Results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B1D21"/>
                </a:solidFill>
                <a:latin typeface="Calibri"/>
              </a:rPr>
              <a:t>Grasping, motion generation, VR, and the simulation-to-hardware gap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1116"/>
                </a:solidFill>
                <a:latin typeface="Calibri"/>
              </a:rPr>
              <a:t>5 · Workspace characterisation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B1D21"/>
                </a:solidFill>
                <a:latin typeface="Calibri"/>
              </a:rPr>
              <a:t>Why the arms barely move, sized rather than asserted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1116"/>
                </a:solidFill>
                <a:latin typeface="Calibri"/>
              </a:rPr>
              <a:t>6 · Method, limits and next steps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B1D21"/>
                </a:solidFill>
                <a:latin typeface="Calibri"/>
              </a:rPr>
              <a:t>What is verified, what is demonstration, and what is blocked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deck is ordered as the thesis is: what was built, what was measured, and what the measurement does not support.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thesis_v2/main.tex — chapters 1-14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331720"/>
            <a:ext cx="1417320" cy="4572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5FA8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886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81317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C3C9D2"/>
                </a:solidFill>
                <a:latin typeface="Calibri"/>
              </a:rPr>
              <a:t>A supernumerary limb is not a prosthesis and not an industrial arm. Two people share one body's worth of space, and only one of them is in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B62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Two people, one body, one set of arms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66" y="1348740"/>
            <a:ext cx="6999562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214" y="1389888"/>
            <a:ext cx="6917266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driver is across the room. The wearer carries 17 kg on a backpack frame and does not control the arms. A third person holds the emergency stop and watches the wearer, not the screen. This split is what makes the safety case different from ordinary teleoperation.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thesis_v2/figures/tikz/overview.tex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What the project set out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5783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116"/>
                </a:solidFill>
                <a:latin typeface="Calibri"/>
              </a:rPr>
              <a:t>A master interface a person can actually drive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B1D21"/>
                </a:solidFill>
                <a:latin typeface="Calibri"/>
              </a:rPr>
              <a:t>An instrumented mannequin arm over a Teensy 4.1, plus a VR route and a typed or spoken sentence — four ways into the same arms.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116"/>
                </a:solidFill>
                <a:latin typeface="Calibri"/>
              </a:rPr>
              <a:t>A safety case that survives the arms being worn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B1D21"/>
                </a:solidFill>
                <a:latin typeface="Calibri"/>
              </a:rPr>
              <a:t>The wearer is in the collision model, the clearance floor is measured geometrically, and every refusal names what blocked it.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116"/>
                </a:solidFill>
                <a:latin typeface="Calibri"/>
              </a:rPr>
              <a:t>A workspace characterisation, sized rather than asserted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B1D21"/>
                </a:solidFill>
                <a:latin typeface="Calibri"/>
              </a:rPr>
              <a:t>What limits the reach, by how much, and what each design choice costs in millimetres.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116"/>
                </a:solidFill>
                <a:latin typeface="Calibri"/>
              </a:rPr>
              <a:t>Autonomy that can be checked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B1D21"/>
                </a:solidFill>
                <a:latin typeface="Calibri"/>
              </a:rPr>
              <a:t>From a typed sentence to four cubes placed by colour, with the camera's detections shown before anything moves.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116"/>
                </a:solidFill>
                <a:latin typeface="Calibri"/>
              </a:rPr>
              <a:t>An instrument discipline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B1D21"/>
                </a:solidFill>
                <a:latin typeface="Calibri"/>
              </a:rPr>
              <a:t>Every analysis script carries a known-answer test, because the measuring tool has been the fault seventeen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five objectives, and the order the rest of this deck follows.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docs/WORK_BRIEF.md, docs/TASK_SPEC.md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331720"/>
            <a:ext cx="1417320" cy="4572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5FA8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886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system 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81317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C3C9D2"/>
                </a:solidFill>
                <a:latin typeface="Calibri"/>
              </a:rPr>
              <a:t>Hardware, the master arm, the software architecture, the five operating modes, and the safety chain that gates all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B62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1140" y="1348740"/>
            <a:ext cx="2703575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w_kinova_vend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389888"/>
            <a:ext cx="2621279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96128" y="1389888"/>
            <a:ext cx="602863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116"/>
                </a:solidFill>
                <a:latin typeface="Calibri"/>
              </a:rPr>
              <a:t>Two Kinova Gen3, 7-DOF, Robotiq 2F-85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Mounted behind the wearer's shoulders on a backpack frame, 150 mm outboard and 15° of yaw from the shoulder line.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116"/>
                </a:solidFill>
                <a:latin typeface="Calibri"/>
              </a:rPr>
              <a:t>Master: an instrumented mannequin arm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14 channels over a Teensy 4.1 — roll and bend alternating along the chain.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116"/>
                </a:solidFill>
                <a:latin typeface="Calibri"/>
              </a:rPr>
              <a:t>ROS 2 Jazzy, 16 packages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Teleoperation imports nothing in-repo, so it stays the baseline condition of every comparison.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116"/>
                </a:solidFill>
                <a:latin typeface="Calibri"/>
              </a:rPr>
              <a:t>Host is WSL2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Which forces the high-level Kortex API: every cyclic write is a network round trip.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1392B"/>
                </a:solidFill>
                <a:latin typeface="Calibri"/>
              </a:rPr>
              <a:t>The arm shown is the vendor's product image. NO PHOTOGRAPH OF THE ASSEMBLED LAB RIG IS COMMITTED TO THIS REPOSITORY — every visual in this deck is a render, a screenshot or a diagram, and is labelled as such.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src/ros2_kortex/doc/resources/ — vendor image, not a lab photograph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MASTER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master arm, from CAD to kinematic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2239122"/>
            <a:ext cx="5474055" cy="2416331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ster_arm_cad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80270"/>
            <a:ext cx="5391759" cy="23340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CAD, zero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21679" y="1348740"/>
            <a:ext cx="3214416" cy="41970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ster_arm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27" y="1389888"/>
            <a:ext cx="3132120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Chain: CAD against measured,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Roll and bend alternate along the chain. Link lengths are CAD-inferred and then checked against the measured arm — the two disagree by a few millimetres per link, and the measured value is the one the software uses.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thesis_v2/figures/master_arm_cad_views.png, master_arm_chain.png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MASTER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Electronics and pin assignment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6155" y="1348740"/>
            <a:ext cx="619938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electron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03" y="1389888"/>
            <a:ext cx="6117088" cy="435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Fourteen channels over one Teensy 4.1. The call-out records why two analog-capable pins could not be used — a wiring constraint that later shows up in the channel health results.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thesis_v2/figures/diagrams/electronics.tex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Master channel health — the honest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411187"/>
            <a:ext cx="5660136" cy="3889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nnel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52335"/>
            <a:ext cx="5577840" cy="38070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69379" y="2158101"/>
            <a:ext cx="5196535" cy="2395493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nnel_degra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7" y="2199249"/>
            <a:ext cx="5114239" cy="23131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1392B"/>
                </a:solidFill>
                <a:latin typeface="Calibri"/>
              </a:rPr>
              <a:t>Seven of fourteen channels are incoherent — a soldering problem, with l_j2 and l_j4 named by regression. The system degrades rather than stopping: which channels are FROZEN is decided from the newest baseline, and a stale baseline freezes channels that now work.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recordings/baselines/channels_20260806.json (2026-08-06)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Software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8653" y="1348740"/>
            <a:ext cx="5514388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801" y="1389888"/>
            <a:ext cx="5432092" cy="435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Six srl_* packages. The dependency arrow runs one way: srl_teleop imports nothing in-repo, so the baseline condition of every experiment cannot be contaminated by the autonomy layer it is compared against.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thesis_v2/figures/diagrams/architecture.tex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data path,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3092" y="1348740"/>
            <a:ext cx="618551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data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240" y="1389888"/>
            <a:ext cx="6103214" cy="435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From a sensed master joint to a commanded arm joint, with every rate and every gate on the way.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thesis_v2/figures/tikz/datapath.tex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Driving the arms by hand: the mannequin, and VR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84248" y="1348740"/>
            <a:ext cx="7823198" cy="2020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mode1_mannequ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396" y="1389888"/>
            <a:ext cx="7740902" cy="1938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383280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MODE 01 — instrumented mannequin arm over a Teensy 4.1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6590" y="3634739"/>
            <a:ext cx="7998514" cy="2020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ag_mode2_v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738" y="3675887"/>
            <a:ext cx="7916218" cy="1938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5650992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MODE 02 — two hand controllers as 6-DOF motion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03504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Blue is sensing, grey is processing, red can stop the arm, green commands motion — the same colour law in every mode diagram.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thesis_v2/figures/diagrams/mode1_mannequin.tex, mode2_vr.tex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Sharing control, and giving up control entirely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1131" y="1348740"/>
            <a:ext cx="5569432" cy="2020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mode3_sha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279" y="1389888"/>
            <a:ext cx="5487136" cy="1938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383280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MODES 03 / 04 — shared autonomy over either input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6595" y="3634739"/>
            <a:ext cx="4778504" cy="2020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ag_mode4_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743" y="3675887"/>
            <a:ext cx="4696208" cy="1938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5650992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MODE 06 — full autonomy from a typed or spoken sentence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03504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task layer commands the SAME waypoints under every mode — run_abc builds them with no mode argument — so any difference in what the robot does is a property of the mode, not of the task.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thesis_v2/figures/diagrams/mode3_shared.tex, mode4_voice.tex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safety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3155" y="1348740"/>
            <a:ext cx="8145383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303" y="1389888"/>
            <a:ext cx="8063087" cy="435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Three stages before any command leaves. Stage 3 measures the distance to the wearer from the shapes directly — it does not use the simulator's collision settings, because the SRDF deliberately excludes the 44 proximal pairs a shoulder mount actually threatens, and would report a clear pose with the tube inside the person.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thesis_v2/figures/tikz/safety.tex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wearer is in the collision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1086" y="1348740"/>
            <a:ext cx="4400962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viz_home_pose_labe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34" y="1389888"/>
            <a:ext cx="4318666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15100" y="1730787"/>
            <a:ext cx="5150815" cy="325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ome_presentation_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771935"/>
            <a:ext cx="5068519" cy="31678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RViz, home pose, both arms parked. The wearer's torso, head, hips and arms are all in the model, and the wearer's posture is a variable with one source — a posture that reaches the planner but not the clearance guard measures the old body under a new name.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thesis_v2/figures/rviz/home_pose_labelled.png; docs/img/presentation_pose_iso.png (2026-08-15)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SAFETY ·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Clearance to the wearer, per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542244"/>
            <a:ext cx="6848856" cy="36272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earance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83392"/>
            <a:ext cx="6766560" cy="35449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99248" y="1389888"/>
            <a:ext cx="392551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E1116"/>
                </a:solidFill>
                <a:latin typeface="Calibri"/>
              </a:rPr>
              <a:t>The floor is 150 mm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and the mount alone sits 161 mm from the torso — so there are 11 mm of headroom before the arm does anything at all.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E1116"/>
                </a:solidFill>
                <a:latin typeface="Calibri"/>
              </a:rPr>
              <a:t>Only T1 stage 1 is clean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T0 breaches by ~142/137 mm, T2 by 150/147, T3's left arm by 88.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E1116"/>
                </a:solidFill>
                <a:latin typeface="Calibri"/>
              </a:rPr>
              <a:t>Predictive avoidance is worth 0.0–5.6 mm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All 28 refusals name end_effector_link: the hand is inside the person, and the null space holds the hand fixed by definition.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1392B"/>
                </a:solidFill>
                <a:latin typeface="Calibri"/>
              </a:rPr>
              <a:t>A breach is reported, not silenced. An SRDF exclusion silences an alarm; it does not move the metal.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recordings/baselines/home_change_applied.json, predictive_avoidance.json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331720"/>
            <a:ext cx="1417320" cy="4572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5FA8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886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Perception and 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81317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C3C9D2"/>
                </a:solidFill>
                <a:latin typeface="Calibri"/>
              </a:rPr>
              <a:t>Measure the environment, then plan against the measurement — rather than against a scene someone typed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B62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perception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5134" y="1348740"/>
            <a:ext cx="6701425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per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282" y="1389888"/>
            <a:ext cx="6619129" cy="435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Four cameras — both wrist RGB-D, a RealSense and a USB scene camera — reduced to a plane and a set of objects per camera per cycle, with per-camera health and named refusals.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thesis_v2/figures/tikz/perception.tex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SAFETY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camera may only make the wearer BIGGER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5783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E1116"/>
                </a:solidFill>
                <a:latin typeface="Calibri"/>
              </a:rPr>
              <a:t>fuse() keeps whichever body is CLOSER to the robot, per part, with no mode switch.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A tracked torso can sit beside a mannequin upper arm in one scene. A body injected 0.10 / 0.30 / 1.00 / 5.00 m FURTHER away changes nothing at all — which is the property that makes the camera safe to add.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50008"/>
            <a:ext cx="11073384" cy="329184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414016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fault injected through the live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8656" y="2414016"/>
            <a:ext cx="40233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must happen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4895" y="2414016"/>
            <a:ext cx="2112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79192"/>
            <a:ext cx="11073384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729484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the frame is dark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729484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refuse, naming darkness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54895" y="2729484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F7D4F"/>
                </a:solidFill>
                <a:latin typeface="Calibri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13532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the frame is blank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3113532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refuse, naming a blank 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5" y="3113532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F7D4F"/>
                </a:solidFill>
                <a:latin typeface="Calibri"/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47288"/>
            <a:ext cx="11073384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9758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two people in 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497580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refuse, naming the second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5" y="3497580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F7D4F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881628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nobody in 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6" y="3881628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refuse, naming the empty frame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5" y="3881628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F7D4F"/>
                </a:solidFill>
                <a:latin typeface="Calibri"/>
              </a:rPr>
              <a:t>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215384"/>
            <a:ext cx="11073384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265676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the arms are occluded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8656" y="4265676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fall back per part, naming the occlusion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5" y="4265676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F7D4F"/>
                </a:solidFill>
                <a:latin typeface="Calibri"/>
              </a:rP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4649724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the body is pushed further 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8656" y="4649724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ignore it — keep the mannequin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5" y="4649724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F7D4F"/>
                </a:solidFill>
                <a:latin typeface="Calibri"/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983480"/>
            <a:ext cx="11073384" cy="38404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033772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control: one person, clear frame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48656" y="5033772"/>
            <a:ext cx="4023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track, and say it is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54895" y="5033772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F7D4F"/>
                </a:solidFill>
                <a:latin typeface="Calibri"/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01675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7 of 7 — and the requirement that a refusal NAME its own fault caught a false pass where the two-person gate had never run. The injected frames are stock test images, not lab photographs.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scripts/verify_wearer_fallbacks.py, src/srl_perception/test/test_wearer_tracking.py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ENVIRONMENT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robot maps the workspace, then plans against the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571625"/>
            <a:ext cx="5660136" cy="356844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ssion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12773"/>
            <a:ext cx="5577840" cy="3486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10528" y="1389888"/>
            <a:ext cx="2456535" cy="12344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0528" y="1389888"/>
            <a:ext cx="50292" cy="123444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1536192"/>
            <a:ext cx="2090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F7D4F"/>
                </a:solidFill>
                <a:latin typeface="Calibri"/>
              </a:rPr>
              <a:t>6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1993392"/>
            <a:ext cx="2090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objects recovered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4" y="2240280"/>
            <a:ext cx="2090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every one exact in x,y to a millimetre; every dimension within 3 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8231" y="1389888"/>
            <a:ext cx="2456535" cy="12344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68231" y="1389888"/>
            <a:ext cx="50292" cy="123444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7687" y="1536192"/>
            <a:ext cx="2090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F7D4F"/>
                </a:solidFill>
                <a:latin typeface="Calibri"/>
              </a:rPr>
              <a:t>+0.2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7687" y="1993392"/>
            <a:ext cx="2090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surface height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7687" y="2240280"/>
            <a:ext cx="2090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against the renderer's own geometry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807208"/>
            <a:ext cx="5114239" cy="2935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E1116"/>
                </a:solidFill>
                <a:latin typeface="Calibri"/>
              </a:rPr>
              <a:t>Objects are cut from the picture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segment_lift, not clustered from the point pile.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E1116"/>
                </a:solidFill>
                <a:latin typeface="Calibri"/>
              </a:rPr>
              <a:t>One wrist attitude per pass, pure translation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printer-probe style: 2 layers × 3 yaws × 2 arms.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E1116"/>
                </a:solidFill>
                <a:latin typeface="Calibri"/>
              </a:rPr>
              <a:t>74 of 74 reachable cells, 0 stillness refusals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and the sweep records what it can reach, then replans from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earlier '−5.2 mm' surface error was surface_z reporting the plane's intercept AT THE ORIGIN, which is inside the wearer — an instrument fault, not a measurement.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recordings/session/20260824_190937/ ; docs/system/25_calibrate_then_plan.md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ENVIRONMENT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From the map to a pick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" y="1348740"/>
            <a:ext cx="637336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ssion_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389888"/>
            <a:ext cx="6291071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90688" y="1389888"/>
            <a:ext cx="383407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Table found at z = 1.2485 m, tilt 0.54°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bounds found by a coarse probe before the sweep, not typed in.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6 objects; 4 graspable at 41 mm, 2 refused at 140 mm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'too wide' is a named refusal — the gripper opens 85 mm.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Approached from ABOVE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pregrasp z 1.490 → grasp z 1.381 onto an object at z 1.282.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765 s end to end, 55 narration sentences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full scan, reference, pick and quick check, all exit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1392B"/>
                </a:solidFill>
                <a:latin typeface="Calibri"/>
              </a:rPr>
              <a:t>DEMONSTRATION, not evidence: the arm is simulated and the depth is rendered. What is real is the sweep order, the deprojection, the segmentation, the fusion, the plane fit, the IK, the approach-angle search and every refusal.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recordings/session/20260824_190937/summary.txt (2026-08-24)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MODE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Full autonomy: four cubes placed by colour, from a typed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2164" y="1348740"/>
            <a:ext cx="6373368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ip_t1_qu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389888"/>
            <a:ext cx="629107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96528" y="1389888"/>
            <a:ext cx="282823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4 grasps, 4 releases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every cube on the pad of its own colour, started at home 0.0000 rad.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Both arms, pads at ±0.290 m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straddling the centreline — and neither arm can cross it, so a cube is only ever delivered to the pad on its own side.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Each clip runs card → look → task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the observe move is in the footage, and the card carries the sentence verbatim.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Four synchronised RViz views of one run. The wearer, the table, the two coloured pads and the four cubes are all in the scene the planner is checked against.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recordings/verification/06_full_autonomy/T1/S1_both_arms_centre/rviz_quad.mp4 (2026-08-23)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MODE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A seeded layout, and the view where a grasp is judged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721215"/>
            <a:ext cx="5474055" cy="345214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ip_t1s2_qu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62363"/>
            <a:ext cx="5391759" cy="33698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T1 stage 2 — seeded layout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859" y="1721215"/>
            <a:ext cx="5474055" cy="345214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ip_t1_gri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762363"/>
            <a:ext cx="5391759" cy="33698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T1 — the pads on the cube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Stage 2 is stage 1's geometry with the side drawn at random — eight seeds walked, all clean. The gripper view exists because a grasp asserted from a joint angle is not a grasp: it has to be seen closing on the object.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recordings/verification/06_full_autonomy/T1S2/... and .../T1/S1_both_arms_centre/rviz_gripper.mp4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Understanding a free-form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432544"/>
            <a:ext cx="6117336" cy="38466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nguage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73692"/>
            <a:ext cx="6035040" cy="37643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67728" y="1389888"/>
            <a:ext cx="465703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Zero MISUNDERSTOOD is the whole result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ASKED and REFUSED are both SAFE — the arm moved in neither. The bar is drawn at zero rather than omitted, so it reads as a measured zero and not an absence.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A wider parser sweep, 75 phrasings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34 correct / 14 asked / 27 refused / 0 misunderstood, against 21 / 14 / 37 / 3 for the grammar it replaced, run on the same cases in its own interpreter.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Ambiguity asks, and the ask is answerable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10 of the 14 asks carry a scored reply; all 10 resolve correctly, and a reply is never counted as CORRECT.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1392B"/>
                </a:solidFill>
                <a:latin typeface="Calibri"/>
              </a:rPr>
              <a:t>Voice is a PARSER score, never a transcription score. /dev/snd on this host has only 'timer', so no microphone can be opened and every voice figure came from synthesised audio.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recordings/baselines/language_vision_sweep.json (40 phrasings); scripts/sweep_t1_instructions.py (75)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331720"/>
            <a:ext cx="1417320" cy="4572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5FA8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886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81317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C3C9D2"/>
                </a:solidFill>
                <a:latin typeface="Calibri"/>
              </a:rPr>
              <a:t>Grasping and placement, motion generation, the VR path, and the one measurement taken on real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B627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Headline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613583" cy="12070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89888"/>
            <a:ext cx="50292" cy="120700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36192"/>
            <a:ext cx="22478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F7D4F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93392"/>
            <a:ext cx="22478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grasp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40280"/>
            <a:ext cx="22478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17 cells × 8 angles, all five modes (2026-08-23 clip set)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1679" y="1389888"/>
            <a:ext cx="2613583" cy="12070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1679" y="1389888"/>
            <a:ext cx="50292" cy="120700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1135" y="1536192"/>
            <a:ext cx="22478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F7D4F"/>
                </a:solidFill>
                <a:latin typeface="Calibri"/>
              </a:rPr>
              <a:t>0.000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1135" y="1993392"/>
            <a:ext cx="22478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grasp positioning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135" y="2240280"/>
            <a:ext cx="22478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against a 30 mm capture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389888"/>
            <a:ext cx="2613583" cy="12070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389888"/>
            <a:ext cx="50292" cy="120700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1536192"/>
            <a:ext cx="22478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F7D4F"/>
                </a:solidFill>
                <a:latin typeface="Calibri"/>
              </a:rPr>
              <a:t>56.3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1993392"/>
            <a:ext cx="22478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T1 placement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240280"/>
            <a:ext cx="22478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down from 319.7 mm before the re-record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1183" y="1389888"/>
            <a:ext cx="2613583" cy="12070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1183" y="1389888"/>
            <a:ext cx="50292" cy="120700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0639" y="1536192"/>
            <a:ext cx="22478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5FA8"/>
                </a:solidFill>
                <a:latin typeface="Calibri"/>
              </a:rPr>
              <a:t>12.91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639" y="1993392"/>
            <a:ext cx="22478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control budget, RSS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639" y="2240280"/>
            <a:ext cx="22478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worst case 19.99 mm — inside the 30 mm gate for the first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79776"/>
            <a:ext cx="11073384" cy="329184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284378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2656" y="284378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6" y="28437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284378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grasped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2843784"/>
            <a:ext cx="2011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positioning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3376" y="2843784"/>
            <a:ext cx="2843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placement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08960"/>
            <a:ext cx="11073384" cy="3291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315925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01 master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62656" y="31592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6" y="3159252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7216" y="31592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2 /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3159252"/>
            <a:ext cx="2011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0.00 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3159252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3488436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02 VR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62656" y="348843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6" y="34884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348843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2 /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3488436"/>
            <a:ext cx="2011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0.00 mm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23376" y="3488436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767328"/>
            <a:ext cx="11073384" cy="3291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381762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03 shared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62656" y="381762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4256" y="3817620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57216" y="381762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2 /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8816" y="3817620"/>
            <a:ext cx="2011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0.00 mm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23376" y="3817620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414680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04 VR + shared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62656" y="41468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34256" y="4146804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57216" y="41468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2 /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8816" y="4146804"/>
            <a:ext cx="2011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0.00 mm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23376" y="4146804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4425696"/>
            <a:ext cx="11073384" cy="3291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" y="447598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06 autonomy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62656" y="447598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34256" y="447598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57216" y="447598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4 /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8816" y="4475988"/>
            <a:ext cx="2011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0.00 mm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3376" y="4475988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55.5 – 56.9 mm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80517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1D21"/>
                </a:solidFill>
                <a:latin typeface="Calibri"/>
              </a:rPr>
              <a:t>06 autonomy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62656" y="48051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T1S2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34256" y="4805172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57216" y="48051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4 / 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28816" y="4805172"/>
            <a:ext cx="20116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onsolas"/>
              </a:rPr>
              <a:t>0.00 mm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23376" y="4805172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601675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T1 and T1S2 run under mode 06 only; T0 and the dance routines grasp nothing by design. Reading a by-design absence as a gap has been an instrument fault here three times.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recordings/verification/accuracy_table.json (2026-08-24)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Grasp success and positioning error, per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2173737"/>
            <a:ext cx="5474055" cy="2547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_grasp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14885"/>
            <a:ext cx="5391759" cy="24648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grasp success, mode × 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859" y="1369253"/>
            <a:ext cx="5474055" cy="4156069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s_accuracy_per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0401"/>
            <a:ext cx="5391759" cy="40737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positioning and placement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Accuracy is TIED across all five modes on this clip set. That is the honest answer to 'is VR the most accurate mode': it is not distinguishable here, and this set PREDATES the 2026-08-26 VR smoothing.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recordings/verification/accuracy_table.json → recordings/analysis/ (2026-08-24)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same waypoints, different travel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5455" y="1348740"/>
            <a:ext cx="2760784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_mode_path_l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603" y="1389888"/>
            <a:ext cx="2678488" cy="435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task layer commands identical waypoints under every mode — run_abc builds them with no mode argument. The robot does not perform identically: T0's left path is 1.407 m under mode 01 against 2.034 m under mode 03, measured with no operator present.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recordings/baselines/mode_difference.json (2026-08-15)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RESULTS ·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Motion generation: a per-joint clamp replaced by Ruckig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6669" y="1348740"/>
            <a:ext cx="3829956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_teleop_motion_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817" y="1389888"/>
            <a:ext cx="3747660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82127" y="1389888"/>
            <a:ext cx="3742639" cy="11887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82127" y="1389888"/>
            <a:ext cx="50292" cy="118872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536192"/>
            <a:ext cx="3376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F7D4F"/>
                </a:solidFill>
                <a:latin typeface="Calibri"/>
              </a:rPr>
              <a:t>51.3 → 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1993392"/>
            <a:ext cx="33768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off-path excursion,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2240280"/>
            <a:ext cx="3376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left arm; right 39.2 → 0.0, against a 30 mm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2761488"/>
            <a:ext cx="3742639" cy="2980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It never read joint_limits.yaml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17.5 rad/s commanded against a 1.3963 limit — 12.53×. Now 1.00×.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Not a tuning problem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swept against its own step size, the clamp's excursion SETTLES at 68 mm. It cannot be tuned into compliance.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Acceleration and jerk are ASSUMED and labelled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the yaml declares has_acceleration_limits: false for all fourteen joints. Velocity limits are the robot's.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motion_generator:=legacy reproduces any recording made before 2026-08-23.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recordings/baselines/teleop_motion.json (2026-08-23)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RESULTS · 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VR path: smoothing, and where it stops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909" y="1348740"/>
            <a:ext cx="5225796" cy="419709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_vr_smoot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57" y="1389888"/>
            <a:ext cx="51435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stillness residual and reach 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859" y="2019687"/>
            <a:ext cx="5474055" cy="285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s_vr_lag_vs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060835"/>
            <a:ext cx="5391759" cy="27729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peak lag against peak hand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1-Euro against the EMA it replaced: 3.4× better stillness and 2.4× less lag. Under 0.27 m/s every protocol segment stays inside the 30 mm gate; the deliberate fast reach at 0.31–0.35 m/s does not. The smoothing figure is the filter maths recomputed through the shipped code — NOT a through-the-node or real-arm measurement.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srl_vr_teleop/vr_smoothing.py; recordings/vr_teleop/protocol_20260826_124739.json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RESULTS · REAL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simulation-to-hardware gap — measured on the real arms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7780" y="1348740"/>
            <a:ext cx="5324856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_sim_to_real_park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28" y="1389888"/>
            <a:ext cx="5242560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99248" y="1389888"/>
            <a:ext cx="3925519" cy="11887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1389888"/>
            <a:ext cx="50292" cy="118872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18704" y="1536192"/>
            <a:ext cx="3559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1392B"/>
                </a:solidFill>
                <a:latin typeface="Calibri"/>
              </a:rPr>
              <a:t>0.305°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8704" y="1993392"/>
            <a:ext cx="3559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every joint parks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2240280"/>
            <a:ext cx="35597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on the side it came from; 211 of 252 errors in a 0.007°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761488"/>
            <a:ext cx="3925519" cy="2980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7.2 mm RMS at the end effector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on a 100 mm move, both arms.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A bound, not a spread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pushing the joint errors through the Jacobian reproduces the Cartesian error to 90%, r = 0.923 — a constant terminal offset.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1116"/>
                </a:solidFill>
                <a:latin typeface="Calibri"/>
              </a:rPr>
              <a:t>ONE parameter per arm removes 74% / 76%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B1D21"/>
                </a:solidFill>
                <a:latin typeface="Calibri"/>
              </a:rPr>
              <a:t>held out on an axis it was never fitted on, where a Cartesian 3×3 scores 93 mm.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1392B"/>
                </a:solidFill>
                <a:latin typeface="Calibri"/>
              </a:rPr>
              <a:t>36 real runs on the physical arms — the only hardware measurement in this deck. The COMPENSATION is modelled and has NOT been tried on hardware. The data already existed in arm_directional_calibration.json and nothing read it.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recordings/baselines/arm_directional_calibration.json, sim_to_real_gap.json (2026-08-23)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RESULTS ·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And the 'speed sweep' was not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5783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E1116"/>
                </a:solidFill>
                <a:latin typeface="Calibri"/>
              </a:rPr>
              <a:t>The claim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1D21"/>
                </a:solidFill>
                <a:latin typeface="Calibri"/>
              </a:rPr>
              <a:t>I reported the parking error as speed-independent across a 5× range.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E1116"/>
                </a:solidFill>
                <a:latin typeface="Calibri"/>
              </a:rPr>
              <a:t>What the data says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1D21"/>
                </a:solidFill>
                <a:latin typeface="Calibri"/>
              </a:rPr>
              <a:t>vmax_rad_s was read once at bridge start-up and never applied. 7 of 36 runs moved FASTER than the limit they were commanded with, and kortex_highlevel_bridge records this in its own source.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E1116"/>
                </a:solidFill>
                <a:latin typeface="Calibri"/>
              </a:rPr>
              <a:t>So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1D21"/>
                </a:solidFill>
                <a:latin typeface="Calibri"/>
              </a:rPr>
              <a:t>the three speeds are three REPLICATES of one condition. How the error varies with speed has NEVER been measured, and the file now says so in its own verdict field.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E1116"/>
                </a:solidFill>
                <a:latin typeface="Calibri"/>
              </a:rPr>
              <a:t>A control was added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1D21"/>
                </a:solidFill>
                <a:latin typeface="Calibri"/>
              </a:rPr>
              <a:t>which asserts the sweep still looks inert — so a genuine sweep makes the test fail and the stale sentences get rewritten.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1392B"/>
                </a:solidFill>
                <a:latin typeface="Calibri"/>
              </a:rPr>
              <a:t>This slide is a result. A measurement that contradicts an earlier one is an instrument check, not a finding, until the two are reconciled.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recordings/baselines/sim_to_real_gap.json → speed_sweep_was_inert; test_the_arm_stops_short_and_the_bridge_knows.py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331720"/>
            <a:ext cx="1417320" cy="4572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5FA8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886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Workspace characterisation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81317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C3C9D2"/>
                </a:solidFill>
                <a:latin typeface="Calibri"/>
              </a:rPr>
              <a:t>Why the arms barely move — sized in millimetres, per direction, per design choice, rather than asserted.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B627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Reachability, and two arms that cannot meet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933331"/>
            <a:ext cx="5474055" cy="3027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chability_p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74479"/>
            <a:ext cx="5391759" cy="29456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reach per direction, both arms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859" y="2031008"/>
            <a:ext cx="5474055" cy="2832559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orkspace_disj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072156"/>
            <a:ext cx="5391759" cy="27502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the two reachable sets do not 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N = 10 repeats over the whole densified path, not one IK call — TRAC-IK restarts randomly and one call is one coin flip. The two arms' reachable sets are disjoint, which is why a handover task needs the right arm re-parked in hardware before it can exist at all.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recordings/baselines/workspace_n10_20260806.json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What binds the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11073384" cy="329184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453896"/>
            <a:ext cx="2468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6" y="1453896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limits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1453896"/>
            <a:ext cx="4581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measured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19072"/>
            <a:ext cx="11073384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69363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1D21"/>
                </a:solidFill>
                <a:latin typeface="Calibri"/>
              </a:rPr>
              <a:t>forward / outboard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769363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the pinned wrist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1769363"/>
            <a:ext cx="4581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onsolas"/>
              </a:rPr>
              <a:t>0.065 m mean reach at the work point, against 0.450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336292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1D21"/>
                </a:solidFill>
                <a:latin typeface="Calibri"/>
              </a:rPr>
              <a:t>inboard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336292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the wearer — the TORSO, not their arms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2336292"/>
            <a:ext cx="4581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min |x| 0.300 (L) / 0.375 (R) with the wearer's arms deleted entirely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852928"/>
            <a:ext cx="11073384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903220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1D21"/>
                </a:solidFill>
                <a:latin typeface="Calibri"/>
              </a:rPr>
              <a:t>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2903220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the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903220"/>
            <a:ext cx="4581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no configuration puts |x| ≤ 0.10 m on the surface; 3360 cells searched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470148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1D21"/>
                </a:solidFill>
                <a:latin typeface="Calibri"/>
              </a:rPr>
              <a:t>top-down on a surface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8416" y="3470148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not achievable at 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3470148"/>
            <a:ext cx="4581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onsolas"/>
              </a:rPr>
              <a:t>0 of 840 cells, any table height 0.70–1.10 m, either arm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86784"/>
            <a:ext cx="11073384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037076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1D21"/>
                </a:solidFill>
                <a:latin typeface="Calibri"/>
              </a:rPr>
              <a:t>any joint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4037076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nothing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4037076"/>
            <a:ext cx="4581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1D21"/>
                </a:solidFill>
                <a:latin typeface="Calibri"/>
              </a:rPr>
              <a:t>no direction is bound by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96188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Folding the wearer's arms is worth 50 mm to the mannequin and NOTHING to a real person, because what binds changes identity: a limb for the mannequin, the torso every time for the person.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recordings/baselines/centre_vs_wearer_posture.json, centre_on_surface.json, wearer_size_effect.json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WORKSPACE · SIZED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What the pinned wrist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613583" cy="12070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89888"/>
            <a:ext cx="50292" cy="1207008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36192"/>
            <a:ext cx="22478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1392B"/>
                </a:solidFill>
                <a:latin typeface="Calibri"/>
              </a:rPr>
              <a:t>0.065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93392"/>
            <a:ext cx="22478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pinned, at the work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40280"/>
            <a:ext cx="22478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11 of 12 direction walks wearer-bound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1679" y="1389888"/>
            <a:ext cx="2613583" cy="12070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1679" y="1389888"/>
            <a:ext cx="50292" cy="120700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1135" y="1536192"/>
            <a:ext cx="22478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5FA8"/>
                </a:solidFill>
                <a:latin typeface="Calibri"/>
              </a:rPr>
              <a:t>0.325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1135" y="1993392"/>
            <a:ext cx="22478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with a 45° cone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135" y="2240280"/>
            <a:ext cx="22478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the follower's own cone supplies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389888"/>
            <a:ext cx="2613583" cy="12070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389888"/>
            <a:ext cx="50292" cy="120700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1536192"/>
            <a:ext cx="22478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F7D4F"/>
                </a:solidFill>
                <a:latin typeface="Calibri"/>
              </a:rPr>
              <a:t>0.450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1993392"/>
            <a:ext cx="22478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fully free orientation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240280"/>
            <a:ext cx="22478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+385 mm, and only 4 walks wearer-bound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1183" y="1389888"/>
            <a:ext cx="2613583" cy="12070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1183" y="1389888"/>
            <a:ext cx="50292" cy="12070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0639" y="1536192"/>
            <a:ext cx="22478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6B7280"/>
                </a:solidFill>
                <a:latin typeface="Calibri"/>
              </a:rPr>
              <a:t>+0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639" y="1993392"/>
            <a:ext cx="22478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freeing the ROLL 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639" y="2240280"/>
            <a:ext cx="22478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refused by name — it buys nothing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79776"/>
            <a:ext cx="11057839" cy="296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116"/>
                </a:solidFill>
                <a:latin typeface="Calibri"/>
              </a:rPr>
              <a:t>The mechanism is not the wearer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A fixed 6-DOF pose on a 7-DOF arm spends the whole redundancy — and the redundancy is exactly the joint that moves the elbow out of the person while the hand stays put.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116"/>
                </a:solidFill>
                <a:latin typeface="Calibri"/>
              </a:rPr>
              <a:t>A factor of seven, and it was never sized before this measurement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From the HOME end-effector the penalty is only 89 mm; at the point where the work actually happens it is 385 mm. Measuring from the wrong start point is what hid it.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116"/>
                </a:solidFill>
                <a:latin typeface="Calibri"/>
              </a:rPr>
              <a:t>Nothing changes until a mode opts in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orientation_policy defaults to 'exact', so HARD CONSTRAINT 1 is untouched by the finding.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0.15 m wearer floor enforced under every policy, so the comparison is like for like.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scripts/measure_orientation_cost.py; docs/system/21_what_makes_the_workspace_small.md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Mount geometry and the lateral constraint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912683"/>
            <a:ext cx="5474055" cy="30692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un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53831"/>
            <a:ext cx="5391759" cy="2986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mount position sweep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859" y="2005624"/>
            <a:ext cx="5474055" cy="288332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ateral_constr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046772"/>
            <a:ext cx="5391759" cy="28010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the lateral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mount was swept rather than chosen: 150 mm outboard and 15° of yaw is where the reachable set stops fighting the wearer. base_link still sits 161 mm from the torso and no joint moves it — so a clearance reading of exactly 0.1610 m is the MOUNT, not the arm.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recordings/baselines/gap_vs_mount.json, clearance_region.json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WORKSPACE ·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error budget, term by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11073384" cy="329184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453896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14538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3016" y="145389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systematic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616" y="1453896"/>
            <a:ext cx="4352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719072"/>
            <a:ext cx="11073384" cy="40233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769363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1D21"/>
                </a:solidFill>
                <a:latin typeface="Calibri"/>
              </a:rPr>
              <a:t>terminal joint error, uncompensated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1769363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onsolas"/>
              </a:rPr>
              <a:t>7.24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3016" y="1769363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1769363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onsolas"/>
              </a:rPr>
              <a:t>0.305° per joint on 36 real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171700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1D21"/>
                </a:solidFill>
                <a:latin typeface="Calibri"/>
              </a:rPr>
              <a:t>  the same, overshoot switched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171700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onsolas"/>
              </a:rPr>
              <a:t>1.88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17170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4616" y="2171700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1392B"/>
                </a:solidFill>
                <a:latin typeface="Calibri"/>
              </a:rPr>
              <a:t>modelled, held out on an unseen axis — UNTRIED on hardware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523744"/>
            <a:ext cx="11073384" cy="40233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574036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1D21"/>
                </a:solidFill>
                <a:latin typeface="Calibri"/>
              </a:rPr>
              <a:t>shell bias, before the plane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257403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onsolas"/>
              </a:rPr>
              <a:t>10.50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3016" y="257403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2574036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the object's bottom was unknown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2976372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1D21"/>
                </a:solidFill>
                <a:latin typeface="Calibri"/>
              </a:rPr>
              <a:t>  the same, with the support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2976372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onsolas"/>
              </a:rPr>
              <a:t>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3016" y="2976372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2976372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the object RESTS on the plane, so its bottom is known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328415"/>
            <a:ext cx="11073384" cy="40233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378708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1D21"/>
                </a:solidFill>
                <a:latin typeface="Calibri"/>
              </a:rPr>
              <a:t>depth noise at 0.4–0.8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3378708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onsolas"/>
              </a:rPr>
              <a:t>2.00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3016" y="3378708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4616" y="3378708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RealSense D4xx, subpixel-limited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3781044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1D21"/>
                </a:solidFill>
                <a:latin typeface="Calibri"/>
              </a:rPr>
              <a:t>IK solve residual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3781044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onsolas"/>
              </a:rPr>
              <a:t>0.20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3016" y="3781044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14616" y="3781044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arm_ik reports its achieved residual; a refusal is searched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133088"/>
            <a:ext cx="11073384" cy="40233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4183380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1D21"/>
                </a:solidFill>
                <a:latin typeface="Calibri"/>
              </a:rPr>
              <a:t>declared vs measured pad offset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8576" y="4183380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onsolas"/>
              </a:rPr>
              <a:t>0.05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3016" y="4183380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14616" y="4183380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derived from the FK measurement since 2026-08-23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585716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1D21"/>
                </a:solidFill>
                <a:latin typeface="Calibri"/>
              </a:rPr>
              <a:t>camera_link vs the physical module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4585716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1392B"/>
                </a:solidFill>
                <a:latin typeface="Calibri"/>
              </a:rPr>
              <a:t>UNMEASURED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3016" y="458571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1D21"/>
                </a:solidFill>
                <a:latin typeface="Calibri"/>
              </a:rPr>
              <a:t>yes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14616" y="4585716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1392B"/>
                </a:solidFill>
                <a:latin typeface="Calibri"/>
              </a:rPr>
              <a:t>the largest remaining unknown — no CAD of the gripper here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01675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RSS 18.64 → 12.91 mm, worst case 33.39 → 19.99 mm — inside the 30 mm capture gate for the first time. The pad row is COMPUTED from the constants, so reverting the derivation makes the budget say so.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recordings/baselines/control_budget.json; scripts/measure_control_budget.py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331720"/>
            <a:ext cx="1417320" cy="4572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5FA8"/>
                </a:solidFill>
                <a:latin typeface="Calibri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886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Method, limits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81317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C3C9D2"/>
                </a:solidFill>
                <a:latin typeface="Calibri"/>
              </a:rPr>
              <a:t>The operator's window, the instrument discipline that produced these numbers, and an honest account of what none of them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B6270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window is the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5500" y="1348740"/>
            <a:ext cx="7072376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ui_control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48" y="1389888"/>
            <a:ext cx="699008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22207" y="1389888"/>
            <a:ext cx="310255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Every capability reaches the window</a:t>
            </a:r>
          </a:p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1B1D21"/>
                </a:solidFill>
                <a:latin typeface="Calibri"/>
              </a:rPr>
              <a:t>A feature reachable only from a terminal does not exist for the person running the session.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257 checks, 0 failed</a:t>
            </a:r>
          </a:p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1B1D21"/>
                </a:solidFill>
                <a:latin typeface="Calibri"/>
              </a:rPr>
              <a:t>The audit presses every button AND checks what the press did — the e-stop must reach /estop, and a service button with no stack must say so.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E1116"/>
                </a:solidFill>
                <a:latin typeface="Calibri"/>
              </a:rPr>
              <a:t>A passing audit is not proof</a:t>
            </a:r>
          </a:p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1B1D21"/>
                </a:solidFill>
                <a:latin typeface="Calibri"/>
              </a:rPr>
              <a:t>Three defects lived for weeks behind a green return code: an invisible embedded RViz, a control column capped below its own content, and every mode button below the fold. So: launch it and look at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audit's own worst catch: it had HUNG on a modal consent dialog since that dialog was added, so it never reached the presses that would have shown five buttons doing nothing silently inside a Qt slot.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recordings/session/20260824_190937/control_window.png; scripts/verify_gui_buttons.py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Commanded against actual,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41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721215"/>
            <a:ext cx="5474055" cy="3452145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ui_rviz_after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62363"/>
            <a:ext cx="5391759" cy="33698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the embedded COMMANDED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859" y="1889707"/>
            <a:ext cx="5474055" cy="3115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ui_dual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930855"/>
            <a:ext cx="5391759" cy="3032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559551"/>
            <a:ext cx="5391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5FA8"/>
                </a:solidFill>
                <a:latin typeface="Calibri"/>
              </a:rPr>
              <a:t>both panels and the divergence readout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RViz (COMMANDED) embedded beside a native ACTUAL panel drawn from the real_* frames, with the divergence readout under both. The RViz master draws three states, not two — commanded, actual, and PLANNED-BUT-REFUSED with its reason string, which cannot be drawn without one.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thesis_v2/figures/rviz_after_fix.png; docs/img/gui_dual_panels.png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standing rule, and what it caught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5783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116"/>
                </a:solidFill>
                <a:latin typeface="Calibri"/>
              </a:rPr>
              <a:t>Before reporting a bad measurement, validate the instrument.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1B1D21"/>
                </a:solidFill>
                <a:latin typeface="Calibri"/>
              </a:rPr>
              <a:t>A surprising failure is evidence about the INSTRUMENT until the instrument has been cleared. This has been the fault seventeen times.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58568"/>
            <a:ext cx="11073384" cy="329184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322575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it looked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336" y="2322575"/>
            <a:ext cx="65928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it actually was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87751"/>
            <a:ext cx="11073384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638044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T2's grippers never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638044"/>
            <a:ext cx="6592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run_abc held a grip until the pads REACHED the object — unsatisfiable for a task declaring grip_obj=None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204972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A flaky autonomy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3204972"/>
            <a:ext cx="6592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clip_scene measured stage 2 at stage 1's approach: a 99.1 mm error in the MEASUREMENT, not the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21607"/>
            <a:ext cx="11073384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771899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A grasp that was 13.47 mm short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336" y="3771899"/>
            <a:ext cx="6592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PAD_MID_EE was derived, not measured — and the pad midpoint is a curve, not a constant: the fingers swing on a four-bar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4338827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A failing test called '='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4338827"/>
            <a:ext cx="6592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the test gate matched ^FAILED over pytest output, and pep257 echoes the source lines it objects 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855464"/>
            <a:ext cx="11073384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905755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Three instruments reporting defects that did not exist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4905755"/>
            <a:ext cx="65928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an i % 2 arm mapping, a by-design absence read as a gap, and a release demanded from a task that never releases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01675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Every analysis script carries a known-answer test, and a check that cannot fail on a deliberately broken input is not a check.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CLAUDE.md — THE STANDING RULE; docs/system/findings.md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What is verified, and what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382615" cy="4114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89888"/>
            <a:ext cx="50292" cy="411480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4925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F7D4F"/>
                </a:solidFill>
                <a:latin typeface="Calibri"/>
              </a:rPr>
              <a:t>MEASURED, AND THE FILE IS COMMITTED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4879695" cy="3803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Grasping and placement across five modes, 17 cells × 8 angles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The parking error, on 36 real-hardware runs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Ruckig against the clamp it replaced, including the sweep showing the clamp cannot be tuned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Workspace reach per direction at N = 10 over the whole path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Clearance to the wearer, geometrically, per task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Six injected perception faults, each refusal naming its own fault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1381 unit tests passing; 257 GUI checks, 0 failed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2151" y="1389888"/>
            <a:ext cx="5382615" cy="4114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2151" y="1389888"/>
            <a:ext cx="50292" cy="4114800"/>
          </a:xfrm>
          <a:prstGeom prst="rect">
            <a:avLst/>
          </a:prstGeom>
          <a:solidFill>
            <a:srgbClr val="C1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8183" y="1554480"/>
            <a:ext cx="4925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1392B"/>
                </a:solidFill>
                <a:latin typeface="Calibri"/>
              </a:rPr>
              <a:t>NOT MEASURED — AND NOT CLAIMED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8183" y="1938528"/>
            <a:ext cx="4879695" cy="3803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NO HUMAN DATA HAS BEEN COLLECTED AT ALL — blocked on ethics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Speech recognition against a real speaker: /dev/snd has only 'timer', so every voice number came from synthesised audio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The sim-to-real compensation, on hardware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How the parking error varies with speed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camera_link against the physical camera module — the largest remaining unknown in the budget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Detection rate at working distance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— 7 of 14 master channels are incoherent; a soldering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01675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Worn operation is &gt;17 kg with no gravity compensation on someone who did not choose the motion. The operator and the wearer are different people and consent separately.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CLAUDE.md — Blocked on the lab / Blocked on ethics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The study that is designed but not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80989" y="1348740"/>
            <a:ext cx="7829716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experiment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137" y="1389888"/>
            <a:ext cx="7747420" cy="435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3387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The protocol, the conditions and the analysis exist and are written up. No participant has been recruited: anonymity is enforced in code — write_manifest() raises on name, email, date of birth, address and phone — but consent has not been sought, so the participant results chapter is deliberately empty.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thesis_v2/figures/diagrams/experiment_design.tex; docs/research/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57839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1116"/>
                </a:solidFill>
                <a:latin typeface="Calibri"/>
              </a:rPr>
              <a:t>A working multimodal master interface</a:t>
            </a:r>
          </a:p>
          <a:p>
            <a:pPr algn="l">
              <a:spcAft>
                <a:spcPts val="9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Four input routes — instrumented mannequin arm, VR controllers, shared autonomy over either, and a typed or spoken sentence — into one arm-command path, with the baseline condition kept free of in-repo dependencies so the comparison is not circular.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1116"/>
                </a:solidFill>
                <a:latin typeface="Calibri"/>
              </a:rPr>
              <a:t>A safety architecture that measures the wearer rather than trusting the planner</a:t>
            </a:r>
          </a:p>
          <a:p>
            <a:pPr algn="l">
              <a:spcAft>
                <a:spcPts val="9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The wearer's body and posture are variables with one source; the camera may only ever make that body BIGGER; and the clearance floor is enforced against the same body the planner sees.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1116"/>
                </a:solidFill>
                <a:latin typeface="Calibri"/>
              </a:rPr>
              <a:t>A workspace characterisation that sizes its own constraints</a:t>
            </a:r>
          </a:p>
          <a:p>
            <a:pPr algn="l">
              <a:spcAft>
                <a:spcPts val="9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The pinned wrist costs a factor of seven at the work point, the torso is what closes the centre, and top-down on a surface is not achievable at all — each with the search that establishes it.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1116"/>
                </a:solidFill>
                <a:latin typeface="Calibri"/>
              </a:rPr>
              <a:t>Autonomy from a sentence, with zero misunderstandings</a:t>
            </a:r>
          </a:p>
          <a:p>
            <a:pPr algn="l">
              <a:spcAft>
                <a:spcPts val="9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40 phrasings in the vision-coupled sweep and 75 in the parser sweep; ambiguity asks, and the ask is answerable in the same box.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1116"/>
                </a:solidFill>
                <a:latin typeface="Calibri"/>
              </a:rPr>
              <a:t>An instrument discipline, and the ledger of what it caught</a:t>
            </a:r>
          </a:p>
          <a:p>
            <a:pPr algn="l">
              <a:spcAft>
                <a:spcPts val="90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Seventeen occasions where the measuring tool was the fault, each written up with the mechanism — which is itself a result about how to evaluate a system like this.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FA8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E1116"/>
                </a:solidFill>
                <a:latin typeface="Calibri"/>
              </a:rPr>
              <a:t>Next,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1057839" cy="12801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Wearable dual-arm supernumerary robot  ·  shared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65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11073384" cy="329184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4538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453896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1453896"/>
            <a:ext cx="64099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why it is 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19072"/>
            <a:ext cx="11073384" cy="6035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69363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1769363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Off-axis directions in the calibration sweep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1769363"/>
            <a:ext cx="64099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the 3×3 fit scores 93 mm held out on an axis — six axis-aligned directions are exactly a basis, with no redundancy to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372868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2372868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Try the terminal overshoot on 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372868"/>
            <a:ext cx="64099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modelled at 74% / 76% removal; both it and the 0.10° deadband are live parameters and four runs settle which wins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26080"/>
            <a:ext cx="11073384" cy="6035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976372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2976372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Measure camera_link against the physical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976372"/>
            <a:ext cx="64099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the cheapest high-value calibration left, and the largest unknown in the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579876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3579876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Attach a scene camera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3579876"/>
            <a:ext cx="64099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the node, both calibration tools and their self-tests are built; no camera has ever been attached to this host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133088"/>
            <a:ext cx="11073384" cy="6035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83380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4183380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Repair the seven incoherent master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6" y="4183380"/>
            <a:ext cx="64099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a soldering problem, with l_j2 and l_j4 named by 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4786884"/>
            <a:ext cx="274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1D21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4786884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Ethics approval, then participants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4786884"/>
            <a:ext cx="64099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B1D21"/>
                </a:solidFill>
                <a:latin typeface="Calibri"/>
              </a:rPr>
              <a:t>the protocol is written; the arms are worn by one person and driven by another, and they consent separately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016752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1D21"/>
                </a:solidFill>
                <a:latin typeface="Calibri"/>
              </a:rPr>
              <a:t>Ordered by what unblocks the most downstream work, not by effort.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Consolas"/>
              </a:rPr>
              <a:t>source: docs/NEXT_SESSION_2026_08_23.md, docs/system/24_motion_planning.md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33172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474720"/>
            <a:ext cx="1828800" cy="411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749039"/>
            <a:ext cx="9509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EB6C2"/>
                </a:solidFill>
                <a:latin typeface="Calibri"/>
              </a:rPr>
              <a:t>Everything shown is regenerated from committed recordings by scripts/make_presentation.py.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C8595"/>
                </a:solidFill>
                <a:latin typeface="Consolas"/>
              </a:rPr>
              <a:t>Evidence: recordings/verification/ (clips and the accuracy table) · recordings/baselines/ (every measurement) · recordings/analysis/ (the result figures) · docs/system/findings.md (the diagnostic history)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