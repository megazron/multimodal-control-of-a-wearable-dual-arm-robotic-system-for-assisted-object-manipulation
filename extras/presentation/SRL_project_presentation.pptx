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417320"/>
            <a:ext cx="969264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MSc PROJECT  ·  ROS 2 JAZZY  ·  TWO KINOVA GEN3 7-DOF</a:t>
            </a:r>
          </a:p>
        </p:txBody>
      </p:sp>
      <p:sp>
        <p:nvSpPr>
          <p:cNvPr id="5" name="TextBox 4"/>
          <p:cNvSpPr txBox="1"/>
          <p:nvPr/>
        </p:nvSpPr>
        <p:spPr>
          <a:xfrm>
            <a:off x="960120" y="1920240"/>
            <a:ext cx="9966960" cy="1920240"/>
          </a:xfrm>
          <a:prstGeom prst="rect">
            <a:avLst/>
          </a:prstGeom>
          <a:noFill/>
        </p:spPr>
        <p:txBody>
          <a:bodyPr wrap="square" lIns="0" rIns="0" tIns="0" bIns="0" anchor="t">
            <a:spAutoFit/>
          </a:bodyPr>
          <a:lstStyle/>
          <a:p>
            <a:pPr algn="l">
              <a:spcAft>
                <a:spcPts val="800"/>
              </a:spcAft>
            </a:pPr>
            <a:r>
              <a:rPr sz="3400" b="1" i="0">
                <a:solidFill>
                  <a:srgbClr val="FFFFFF"/>
                </a:solidFill>
                <a:latin typeface="Calibri"/>
              </a:rPr>
              <a:t>Multimodal Teleoperation of a Wearable Dual-Arm Supernumerary Robotic System</a:t>
            </a:r>
          </a:p>
        </p:txBody>
      </p:sp>
      <p:sp>
        <p:nvSpPr>
          <p:cNvPr id="6" name="TextBox 5"/>
          <p:cNvSpPr txBox="1"/>
          <p:nvPr/>
        </p:nvSpPr>
        <p:spPr>
          <a:xfrm>
            <a:off x="960120" y="3639312"/>
            <a:ext cx="9509760" cy="731520"/>
          </a:xfrm>
          <a:prstGeom prst="rect">
            <a:avLst/>
          </a:prstGeom>
          <a:noFill/>
        </p:spPr>
        <p:txBody>
          <a:bodyPr wrap="square" lIns="0" rIns="0" tIns="0" bIns="0" anchor="t">
            <a:spAutoFit/>
          </a:bodyPr>
          <a:lstStyle/>
          <a:p>
            <a:pPr algn="l">
              <a:spcAft>
                <a:spcPts val="0"/>
              </a:spcAft>
            </a:pPr>
            <a:r>
              <a:rPr sz="1700" b="0" i="0">
                <a:solidFill>
                  <a:srgbClr val="AEB6C2"/>
                </a:solidFill>
                <a:latin typeface="Calibri"/>
              </a:rPr>
              <a:t>Master interface design, safety architecture, and a workspace characterisation</a:t>
            </a:r>
          </a:p>
        </p:txBody>
      </p:sp>
      <p:sp>
        <p:nvSpPr>
          <p:cNvPr id="7" name="Rectangle 6"/>
          <p:cNvSpPr/>
          <p:nvPr/>
        </p:nvSpPr>
        <p:spPr>
          <a:xfrm>
            <a:off x="960120" y="4590288"/>
            <a:ext cx="1828800" cy="41148"/>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809744"/>
            <a:ext cx="9509760" cy="1005840"/>
          </a:xfrm>
          <a:prstGeom prst="rect">
            <a:avLst/>
          </a:prstGeom>
          <a:noFill/>
        </p:spPr>
        <p:txBody>
          <a:bodyPr wrap="square" lIns="0" rIns="0" tIns="0" bIns="0" anchor="t">
            <a:spAutoFit/>
          </a:bodyPr>
          <a:lstStyle/>
          <a:p>
            <a:pPr algn="l">
              <a:spcAft>
                <a:spcPts val="400"/>
              </a:spcAft>
            </a:pPr>
            <a:r>
              <a:rPr sz="1500" b="1" i="0">
                <a:solidFill>
                  <a:srgbClr val="FFFFFF"/>
                </a:solidFill>
                <a:latin typeface="Calibri"/>
              </a:rPr>
              <a:t>Gaus Sayyad</a:t>
            </a:r>
          </a:p>
          <a:p>
            <a:pPr algn="l">
              <a:spcAft>
                <a:spcPts val="0"/>
              </a:spcAft>
            </a:pPr>
            <a:r>
              <a:rPr sz="1200" b="0" i="0">
                <a:solidFill>
                  <a:srgbClr val="AEB6C2"/>
                </a:solidFill>
                <a:latin typeface="Calibri"/>
              </a:rPr>
              <a:t>The arms are worn by one person and driven by a different person. Both are participants.</a:t>
            </a:r>
          </a:p>
          <a:p>
            <a:pPr algn="l">
              <a:spcAft>
                <a:spcPts val="0"/>
              </a:spcAft>
            </a:pPr>
            <a:r>
              <a:rPr sz="1000" b="0" i="0">
                <a:solidFill>
                  <a:srgbClr val="7C8595"/>
                </a:solidFill>
                <a:latin typeface="Consolas"/>
              </a:rPr>
              <a:t>Every figure in this deck is regenerated from a committed recording by  scripts/make_presentation.py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CONTENTS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this deck covers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a:t>
            </a:r>
          </a:p>
        </p:txBody>
      </p:sp>
      <p:sp>
        <p:nvSpPr>
          <p:cNvPr id="8" name="TextBox 7"/>
          <p:cNvSpPr txBox="1"/>
          <p:nvPr/>
        </p:nvSpPr>
        <p:spPr>
          <a:xfrm>
            <a:off x="566928" y="1389888"/>
            <a:ext cx="5212080" cy="4352544"/>
          </a:xfrm>
          <a:prstGeom prst="rect">
            <a:avLst/>
          </a:prstGeom>
          <a:noFill/>
        </p:spPr>
        <p:txBody>
          <a:bodyPr wrap="square" lIns="0" rIns="0" tIns="0" bIns="0" anchor="t">
            <a:spAutoFit/>
          </a:bodyPr>
          <a:lstStyle/>
          <a:p>
            <a:pPr algn="l">
              <a:spcAft>
                <a:spcPts val="200"/>
              </a:spcAft>
            </a:pPr>
            <a:r>
              <a:rPr sz="1500" b="1" i="0">
                <a:solidFill>
                  <a:srgbClr val="0E1116"/>
                </a:solidFill>
                <a:latin typeface="Calibri"/>
              </a:rPr>
              <a:t>1 · The problem</a:t>
            </a:r>
          </a:p>
          <a:p>
            <a:pPr algn="l">
              <a:spcAft>
                <a:spcPts val="900"/>
              </a:spcAft>
            </a:pPr>
            <a:r>
              <a:rPr sz="1350" b="0" i="0">
                <a:solidFill>
                  <a:srgbClr val="1B1D21"/>
                </a:solidFill>
                <a:latin typeface="Calibri"/>
              </a:rPr>
              <a:t>A third and fourth arm worn by someone who is not driving them</a:t>
            </a:r>
          </a:p>
          <a:p>
            <a:pPr algn="l">
              <a:spcAft>
                <a:spcPts val="200"/>
              </a:spcAft>
            </a:pPr>
            <a:r>
              <a:rPr sz="1500" b="1" i="0">
                <a:solidFill>
                  <a:srgbClr val="0E1116"/>
                </a:solidFill>
                <a:latin typeface="Calibri"/>
              </a:rPr>
              <a:t>2 · The system as built</a:t>
            </a:r>
          </a:p>
          <a:p>
            <a:pPr algn="l">
              <a:spcAft>
                <a:spcPts val="900"/>
              </a:spcAft>
            </a:pPr>
            <a:r>
              <a:rPr sz="1350" b="0" i="0">
                <a:solidFill>
                  <a:srgbClr val="1B1D21"/>
                </a:solidFill>
                <a:latin typeface="Calibri"/>
              </a:rPr>
              <a:t>Master arm, five operating modes, and the safety architecture</a:t>
            </a:r>
          </a:p>
          <a:p>
            <a:pPr algn="l">
              <a:spcAft>
                <a:spcPts val="200"/>
              </a:spcAft>
            </a:pPr>
            <a:r>
              <a:rPr sz="1500" b="1" i="0">
                <a:solidFill>
                  <a:srgbClr val="0E1116"/>
                </a:solidFill>
                <a:latin typeface="Calibri"/>
              </a:rPr>
              <a:t>3 · Perception and autonomy</a:t>
            </a:r>
          </a:p>
          <a:p>
            <a:pPr algn="l">
              <a:spcAft>
                <a:spcPts val="900"/>
              </a:spcAft>
            </a:pPr>
            <a:r>
              <a:rPr sz="1350" b="0" i="0">
                <a:solidFill>
                  <a:srgbClr val="1B1D21"/>
                </a:solidFill>
                <a:latin typeface="Calibri"/>
              </a:rPr>
              <a:t>Measure the environment, then plan against the measurement</a:t>
            </a:r>
          </a:p>
        </p:txBody>
      </p:sp>
      <p:sp>
        <p:nvSpPr>
          <p:cNvPr id="9" name="TextBox 8"/>
          <p:cNvSpPr txBox="1"/>
          <p:nvPr/>
        </p:nvSpPr>
        <p:spPr>
          <a:xfrm>
            <a:off x="6419088" y="1389888"/>
            <a:ext cx="5212080" cy="4352544"/>
          </a:xfrm>
          <a:prstGeom prst="rect">
            <a:avLst/>
          </a:prstGeom>
          <a:noFill/>
        </p:spPr>
        <p:txBody>
          <a:bodyPr wrap="square" lIns="0" rIns="0" tIns="0" bIns="0" anchor="t">
            <a:spAutoFit/>
          </a:bodyPr>
          <a:lstStyle/>
          <a:p>
            <a:pPr algn="l">
              <a:spcAft>
                <a:spcPts val="200"/>
              </a:spcAft>
            </a:pPr>
            <a:r>
              <a:rPr sz="1500" b="1" i="0">
                <a:solidFill>
                  <a:srgbClr val="0E1116"/>
                </a:solidFill>
                <a:latin typeface="Calibri"/>
              </a:rPr>
              <a:t>4 · Results</a:t>
            </a:r>
          </a:p>
          <a:p>
            <a:pPr algn="l">
              <a:spcAft>
                <a:spcPts val="900"/>
              </a:spcAft>
            </a:pPr>
            <a:r>
              <a:rPr sz="1350" b="0" i="0">
                <a:solidFill>
                  <a:srgbClr val="1B1D21"/>
                </a:solidFill>
                <a:latin typeface="Calibri"/>
              </a:rPr>
              <a:t>Grasping, motion generation, VR, and the simulation-to-hardware gap</a:t>
            </a:r>
          </a:p>
          <a:p>
            <a:pPr algn="l">
              <a:spcAft>
                <a:spcPts val="200"/>
              </a:spcAft>
            </a:pPr>
            <a:r>
              <a:rPr sz="1500" b="1" i="0">
                <a:solidFill>
                  <a:srgbClr val="0E1116"/>
                </a:solidFill>
                <a:latin typeface="Calibri"/>
              </a:rPr>
              <a:t>5 · Workspace characterisation</a:t>
            </a:r>
          </a:p>
          <a:p>
            <a:pPr algn="l">
              <a:spcAft>
                <a:spcPts val="900"/>
              </a:spcAft>
            </a:pPr>
            <a:r>
              <a:rPr sz="1350" b="0" i="0">
                <a:solidFill>
                  <a:srgbClr val="1B1D21"/>
                </a:solidFill>
                <a:latin typeface="Calibri"/>
              </a:rPr>
              <a:t>Why the arms barely move, sized rather than asserted</a:t>
            </a:r>
          </a:p>
          <a:p>
            <a:pPr algn="l">
              <a:spcAft>
                <a:spcPts val="200"/>
              </a:spcAft>
            </a:pPr>
            <a:r>
              <a:rPr sz="1500" b="1" i="0">
                <a:solidFill>
                  <a:srgbClr val="0E1116"/>
                </a:solidFill>
                <a:latin typeface="Calibri"/>
              </a:rPr>
              <a:t>6 · Method, limits and next steps</a:t>
            </a:r>
          </a:p>
          <a:p>
            <a:pPr algn="l">
              <a:spcAft>
                <a:spcPts val="900"/>
              </a:spcAft>
            </a:pPr>
            <a:r>
              <a:rPr sz="1350" b="0" i="0">
                <a:solidFill>
                  <a:srgbClr val="1B1D21"/>
                </a:solidFill>
                <a:latin typeface="Calibri"/>
              </a:rPr>
              <a:t>What is verified, what is demonstration, and what is blocked</a:t>
            </a:r>
          </a:p>
        </p:txBody>
      </p:sp>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deck is ordered as the thesis is: what was built, what was measured, and what the measurement does not support.</a:t>
            </a:r>
          </a:p>
          <a:p>
            <a:pPr algn="l">
              <a:spcAft>
                <a:spcPts val="0"/>
              </a:spcAft>
            </a:pPr>
            <a:r>
              <a:rPr sz="850" b="0" i="0">
                <a:solidFill>
                  <a:srgbClr val="6B7280"/>
                </a:solidFill>
                <a:latin typeface="Consolas"/>
              </a:rPr>
              <a:t>source: thesis_v2/main.tex — chapters 1-14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31720"/>
            <a:ext cx="141732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19"/>
            <a:ext cx="548640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PART 1</a:t>
            </a:r>
          </a:p>
        </p:txBody>
      </p:sp>
      <p:sp>
        <p:nvSpPr>
          <p:cNvPr id="5" name="TextBox 4"/>
          <p:cNvSpPr txBox="1"/>
          <p:nvPr/>
        </p:nvSpPr>
        <p:spPr>
          <a:xfrm>
            <a:off x="566928" y="2606040"/>
            <a:ext cx="8863279" cy="100584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The problem</a:t>
            </a:r>
          </a:p>
        </p:txBody>
      </p:sp>
      <p:sp>
        <p:nvSpPr>
          <p:cNvPr id="6" name="TextBox 5"/>
          <p:cNvSpPr txBox="1"/>
          <p:nvPr/>
        </p:nvSpPr>
        <p:spPr>
          <a:xfrm>
            <a:off x="566928" y="3794760"/>
            <a:ext cx="8131759" cy="1097280"/>
          </a:xfrm>
          <a:prstGeom prst="rect">
            <a:avLst/>
          </a:prstGeom>
          <a:noFill/>
        </p:spPr>
        <p:txBody>
          <a:bodyPr wrap="square" lIns="0" rIns="0" tIns="0" bIns="0" anchor="t">
            <a:spAutoFit/>
          </a:bodyPr>
          <a:lstStyle/>
          <a:p>
            <a:pPr algn="l">
              <a:spcAft>
                <a:spcPts val="0"/>
              </a:spcAft>
            </a:pPr>
            <a:r>
              <a:rPr sz="1350" b="0" i="0">
                <a:solidFill>
                  <a:srgbClr val="C3C9D2"/>
                </a:solidFill>
                <a:latin typeface="Calibri"/>
              </a:rPr>
              <a:t>A supernumerary limb is not a prosthesis and not an industrial arm. Two people share one body's worth of space, and only one of them is in control.</a:t>
            </a:r>
          </a:p>
        </p:txBody>
      </p:sp>
      <p:sp>
        <p:nvSpPr>
          <p:cNvPr id="7" name="TextBox 6"/>
          <p:cNvSpPr txBox="1"/>
          <p:nvPr/>
        </p:nvSpPr>
        <p:spPr>
          <a:xfrm>
            <a:off x="10527487" y="6455664"/>
            <a:ext cx="1097280" cy="237744"/>
          </a:xfrm>
          <a:prstGeom prst="rect">
            <a:avLst/>
          </a:prstGeom>
          <a:noFill/>
        </p:spPr>
        <p:txBody>
          <a:bodyPr wrap="square" lIns="0" rIns="0" tIns="0" bIns="0" anchor="t">
            <a:spAutoFit/>
          </a:bodyPr>
          <a:lstStyle/>
          <a:p>
            <a:pPr algn="r">
              <a:spcAft>
                <a:spcPts val="0"/>
              </a:spcAft>
            </a:pPr>
            <a:r>
              <a:rPr sz="850" b="0" i="0">
                <a:solidFill>
                  <a:srgbClr val="5B6270"/>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FRAMING</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Two people, one body, one set of arms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a:t>
            </a:r>
          </a:p>
        </p:txBody>
      </p:sp>
      <p:sp>
        <p:nvSpPr>
          <p:cNvPr id="8" name="Rectangle 7"/>
          <p:cNvSpPr/>
          <p:nvPr/>
        </p:nvSpPr>
        <p:spPr>
          <a:xfrm>
            <a:off x="2596066" y="1348740"/>
            <a:ext cx="6999562"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overview.png"/>
          <p:cNvPicPr>
            <a:picLocks noChangeAspect="1"/>
          </p:cNvPicPr>
          <p:nvPr/>
        </p:nvPicPr>
        <p:blipFill>
          <a:blip r:embed="rId2"/>
          <a:stretch>
            <a:fillRect/>
          </a:stretch>
        </p:blipFill>
        <p:spPr>
          <a:xfrm>
            <a:off x="2637214" y="1389888"/>
            <a:ext cx="6917266" cy="3931920"/>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driver is across the room. The wearer carries 17 kg on a backpack frame and does not control the arms. A third person holds the emergency stop and watches the wearer, not the screen. This split is what makes the safety case different from ordinary teleoperation.</a:t>
            </a:r>
          </a:p>
          <a:p>
            <a:pPr algn="l">
              <a:spcAft>
                <a:spcPts val="0"/>
              </a:spcAft>
            </a:pPr>
            <a:r>
              <a:rPr sz="850" b="0" i="0">
                <a:solidFill>
                  <a:srgbClr val="6B7280"/>
                </a:solidFill>
                <a:latin typeface="Consolas"/>
              </a:rPr>
              <a:t>source: thesis_v2/figures/tikz/overview.tex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OBJECTIVES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the project set out to build</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a:t>
            </a:r>
          </a:p>
        </p:txBody>
      </p:sp>
      <p:sp>
        <p:nvSpPr>
          <p:cNvPr id="8" name="TextBox 7"/>
          <p:cNvSpPr txBox="1"/>
          <p:nvPr/>
        </p:nvSpPr>
        <p:spPr>
          <a:xfrm>
            <a:off x="566928" y="1389888"/>
            <a:ext cx="11057839" cy="4352544"/>
          </a:xfrm>
          <a:prstGeom prst="rect">
            <a:avLst/>
          </a:prstGeom>
          <a:noFill/>
        </p:spPr>
        <p:txBody>
          <a:bodyPr wrap="square" lIns="0" rIns="0" tIns="0" bIns="0" anchor="t">
            <a:spAutoFit/>
          </a:bodyPr>
          <a:lstStyle/>
          <a:p>
            <a:pPr algn="l">
              <a:spcAft>
                <a:spcPts val="200"/>
              </a:spcAft>
            </a:pPr>
            <a:r>
              <a:rPr sz="1400" b="1" i="0">
                <a:solidFill>
                  <a:srgbClr val="0E1116"/>
                </a:solidFill>
                <a:latin typeface="Calibri"/>
              </a:rPr>
              <a:t>A master interface a person can actually drive</a:t>
            </a:r>
          </a:p>
          <a:p>
            <a:pPr algn="l">
              <a:spcAft>
                <a:spcPts val="900"/>
              </a:spcAft>
            </a:pPr>
            <a:r>
              <a:rPr sz="1250" b="0" i="0">
                <a:solidFill>
                  <a:srgbClr val="1B1D21"/>
                </a:solidFill>
                <a:latin typeface="Calibri"/>
              </a:rPr>
              <a:t>An instrumented mannequin arm over a Teensy 4.1, plus a VR route and a typed or spoken sentence — four ways into the same arms.</a:t>
            </a:r>
          </a:p>
          <a:p>
            <a:pPr algn="l">
              <a:spcAft>
                <a:spcPts val="200"/>
              </a:spcAft>
            </a:pPr>
            <a:r>
              <a:rPr sz="1400" b="1" i="0">
                <a:solidFill>
                  <a:srgbClr val="0E1116"/>
                </a:solidFill>
                <a:latin typeface="Calibri"/>
              </a:rPr>
              <a:t>A safety case that survives the arms being worn</a:t>
            </a:r>
          </a:p>
          <a:p>
            <a:pPr algn="l">
              <a:spcAft>
                <a:spcPts val="900"/>
              </a:spcAft>
            </a:pPr>
            <a:r>
              <a:rPr sz="1250" b="0" i="0">
                <a:solidFill>
                  <a:srgbClr val="1B1D21"/>
                </a:solidFill>
                <a:latin typeface="Calibri"/>
              </a:rPr>
              <a:t>The wearer is in the collision model, the clearance floor is measured geometrically, and every refusal names what blocked it.</a:t>
            </a:r>
          </a:p>
          <a:p>
            <a:pPr algn="l">
              <a:spcAft>
                <a:spcPts val="200"/>
              </a:spcAft>
            </a:pPr>
            <a:r>
              <a:rPr sz="1400" b="1" i="0">
                <a:solidFill>
                  <a:srgbClr val="0E1116"/>
                </a:solidFill>
                <a:latin typeface="Calibri"/>
              </a:rPr>
              <a:t>A workspace characterisation, sized rather than asserted</a:t>
            </a:r>
          </a:p>
          <a:p>
            <a:pPr algn="l">
              <a:spcAft>
                <a:spcPts val="900"/>
              </a:spcAft>
            </a:pPr>
            <a:r>
              <a:rPr sz="1250" b="0" i="0">
                <a:solidFill>
                  <a:srgbClr val="1B1D21"/>
                </a:solidFill>
                <a:latin typeface="Calibri"/>
              </a:rPr>
              <a:t>What limits the reach, by how much, and what each design choice costs in millimetres.</a:t>
            </a:r>
          </a:p>
          <a:p>
            <a:pPr algn="l">
              <a:spcAft>
                <a:spcPts val="200"/>
              </a:spcAft>
            </a:pPr>
            <a:r>
              <a:rPr sz="1400" b="1" i="0">
                <a:solidFill>
                  <a:srgbClr val="0E1116"/>
                </a:solidFill>
                <a:latin typeface="Calibri"/>
              </a:rPr>
              <a:t>Autonomy that can be checked</a:t>
            </a:r>
          </a:p>
          <a:p>
            <a:pPr algn="l">
              <a:spcAft>
                <a:spcPts val="900"/>
              </a:spcAft>
            </a:pPr>
            <a:r>
              <a:rPr sz="1250" b="0" i="0">
                <a:solidFill>
                  <a:srgbClr val="1B1D21"/>
                </a:solidFill>
                <a:latin typeface="Calibri"/>
              </a:rPr>
              <a:t>From a typed sentence to four cubes placed by colour, with the camera's detections shown before anything moves.</a:t>
            </a:r>
          </a:p>
          <a:p>
            <a:pPr algn="l">
              <a:spcAft>
                <a:spcPts val="200"/>
              </a:spcAft>
            </a:pPr>
            <a:r>
              <a:rPr sz="1400" b="1" i="0">
                <a:solidFill>
                  <a:srgbClr val="0E1116"/>
                </a:solidFill>
                <a:latin typeface="Calibri"/>
              </a:rPr>
              <a:t>An instrument discipline</a:t>
            </a:r>
          </a:p>
          <a:p>
            <a:pPr algn="l">
              <a:spcAft>
                <a:spcPts val="900"/>
              </a:spcAft>
            </a:pPr>
            <a:r>
              <a:rPr sz="1250" b="0" i="0">
                <a:solidFill>
                  <a:srgbClr val="1B1D21"/>
                </a:solidFill>
                <a:latin typeface="Calibri"/>
              </a:rPr>
              <a:t>Every analysis script carries a known-answer test, because the measuring tool has been the fault seventeen times.</a:t>
            </a:r>
          </a:p>
        </p:txBody>
      </p:sp>
      <p:sp>
        <p:nvSpPr>
          <p:cNvPr id="9" name="TextBox 8"/>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five objectives, and the order the rest of this deck follows.</a:t>
            </a:r>
          </a:p>
          <a:p>
            <a:pPr algn="l">
              <a:spcAft>
                <a:spcPts val="0"/>
              </a:spcAft>
            </a:pPr>
            <a:r>
              <a:rPr sz="850" b="0" i="0">
                <a:solidFill>
                  <a:srgbClr val="6B7280"/>
                </a:solidFill>
                <a:latin typeface="Consolas"/>
              </a:rPr>
              <a:t>source: docs/WORK_BRIEF.md, docs/TASK_SPEC.md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31720"/>
            <a:ext cx="141732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19"/>
            <a:ext cx="548640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PART 2</a:t>
            </a:r>
          </a:p>
        </p:txBody>
      </p:sp>
      <p:sp>
        <p:nvSpPr>
          <p:cNvPr id="5" name="TextBox 4"/>
          <p:cNvSpPr txBox="1"/>
          <p:nvPr/>
        </p:nvSpPr>
        <p:spPr>
          <a:xfrm>
            <a:off x="566928" y="2606040"/>
            <a:ext cx="8863279" cy="100584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The system as built</a:t>
            </a:r>
          </a:p>
        </p:txBody>
      </p:sp>
      <p:sp>
        <p:nvSpPr>
          <p:cNvPr id="6" name="TextBox 5"/>
          <p:cNvSpPr txBox="1"/>
          <p:nvPr/>
        </p:nvSpPr>
        <p:spPr>
          <a:xfrm>
            <a:off x="566928" y="3794760"/>
            <a:ext cx="8131759" cy="1097280"/>
          </a:xfrm>
          <a:prstGeom prst="rect">
            <a:avLst/>
          </a:prstGeom>
          <a:noFill/>
        </p:spPr>
        <p:txBody>
          <a:bodyPr wrap="square" lIns="0" rIns="0" tIns="0" bIns="0" anchor="t">
            <a:spAutoFit/>
          </a:bodyPr>
          <a:lstStyle/>
          <a:p>
            <a:pPr algn="l">
              <a:spcAft>
                <a:spcPts val="0"/>
              </a:spcAft>
            </a:pPr>
            <a:r>
              <a:rPr sz="1350" b="0" i="0">
                <a:solidFill>
                  <a:srgbClr val="C3C9D2"/>
                </a:solidFill>
                <a:latin typeface="Calibri"/>
              </a:rPr>
              <a:t>Hardware, the master arm, the software architecture, the five operating modes, and the safety chain that gates all of them.</a:t>
            </a:r>
          </a:p>
        </p:txBody>
      </p:sp>
      <p:sp>
        <p:nvSpPr>
          <p:cNvPr id="7" name="TextBox 6"/>
          <p:cNvSpPr txBox="1"/>
          <p:nvPr/>
        </p:nvSpPr>
        <p:spPr>
          <a:xfrm>
            <a:off x="10527487" y="6455664"/>
            <a:ext cx="1097280" cy="237744"/>
          </a:xfrm>
          <a:prstGeom prst="rect">
            <a:avLst/>
          </a:prstGeom>
          <a:noFill/>
        </p:spPr>
        <p:txBody>
          <a:bodyPr wrap="square" lIns="0" rIns="0" tIns="0" bIns="0" anchor="t">
            <a:spAutoFit/>
          </a:bodyPr>
          <a:lstStyle/>
          <a:p>
            <a:pPr algn="r">
              <a:spcAft>
                <a:spcPts val="0"/>
              </a:spcAft>
            </a:pPr>
            <a:r>
              <a:rPr sz="850" b="0" i="0">
                <a:solidFill>
                  <a:srgbClr val="5B6270"/>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AS BUILT</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hardware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a:t>
            </a:r>
          </a:p>
        </p:txBody>
      </p:sp>
      <p:sp>
        <p:nvSpPr>
          <p:cNvPr id="8" name="Rectangle 7"/>
          <p:cNvSpPr/>
          <p:nvPr/>
        </p:nvSpPr>
        <p:spPr>
          <a:xfrm>
            <a:off x="1501140" y="1348740"/>
            <a:ext cx="2703575"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w_kinova_vendor.jpg"/>
          <p:cNvPicPr>
            <a:picLocks noChangeAspect="1"/>
          </p:cNvPicPr>
          <p:nvPr/>
        </p:nvPicPr>
        <p:blipFill>
          <a:blip r:embed="rId2"/>
          <a:stretch>
            <a:fillRect/>
          </a:stretch>
        </p:blipFill>
        <p:spPr>
          <a:xfrm>
            <a:off x="1542288" y="1389888"/>
            <a:ext cx="2621279" cy="3931920"/>
          </a:xfrm>
          <a:prstGeom prst="rect">
            <a:avLst/>
          </a:prstGeom>
        </p:spPr>
      </p:pic>
      <p:sp>
        <p:nvSpPr>
          <p:cNvPr id="10" name="TextBox 9"/>
          <p:cNvSpPr txBox="1"/>
          <p:nvPr/>
        </p:nvSpPr>
        <p:spPr>
          <a:xfrm>
            <a:off x="5596128" y="1389888"/>
            <a:ext cx="6028639" cy="4352544"/>
          </a:xfrm>
          <a:prstGeom prst="rect">
            <a:avLst/>
          </a:prstGeom>
          <a:noFill/>
        </p:spPr>
        <p:txBody>
          <a:bodyPr wrap="square" lIns="0" rIns="0" tIns="0" bIns="0" anchor="t">
            <a:spAutoFit/>
          </a:bodyPr>
          <a:lstStyle/>
          <a:p>
            <a:pPr algn="l">
              <a:spcAft>
                <a:spcPts val="200"/>
              </a:spcAft>
            </a:pPr>
            <a:r>
              <a:rPr sz="1250" b="1" i="0">
                <a:solidFill>
                  <a:srgbClr val="0E1116"/>
                </a:solidFill>
                <a:latin typeface="Calibri"/>
              </a:rPr>
              <a:t>Two Kinova Gen3, 7-DOF, Robotiq 2F-85</a:t>
            </a:r>
          </a:p>
          <a:p>
            <a:pPr algn="l">
              <a:spcAft>
                <a:spcPts val="900"/>
              </a:spcAft>
            </a:pPr>
            <a:r>
              <a:rPr sz="1100" b="0" i="0">
                <a:solidFill>
                  <a:srgbClr val="1B1D21"/>
                </a:solidFill>
                <a:latin typeface="Calibri"/>
              </a:rPr>
              <a:t>Mounted behind the wearer's shoulders on a backpack frame, 150 mm outboard and 15° of yaw from the shoulder line.</a:t>
            </a:r>
          </a:p>
          <a:p>
            <a:pPr algn="l">
              <a:spcAft>
                <a:spcPts val="200"/>
              </a:spcAft>
            </a:pPr>
            <a:r>
              <a:rPr sz="1250" b="1" i="0">
                <a:solidFill>
                  <a:srgbClr val="0E1116"/>
                </a:solidFill>
                <a:latin typeface="Calibri"/>
              </a:rPr>
              <a:t>Master: an instrumented mannequin arm</a:t>
            </a:r>
          </a:p>
          <a:p>
            <a:pPr algn="l">
              <a:spcAft>
                <a:spcPts val="900"/>
              </a:spcAft>
            </a:pPr>
            <a:r>
              <a:rPr sz="1100" b="0" i="0">
                <a:solidFill>
                  <a:srgbClr val="1B1D21"/>
                </a:solidFill>
                <a:latin typeface="Calibri"/>
              </a:rPr>
              <a:t>14 channels over a Teensy 4.1 — roll and bend alternating along the chain.</a:t>
            </a:r>
          </a:p>
          <a:p>
            <a:pPr algn="l">
              <a:spcAft>
                <a:spcPts val="200"/>
              </a:spcAft>
            </a:pPr>
            <a:r>
              <a:rPr sz="1250" b="1" i="0">
                <a:solidFill>
                  <a:srgbClr val="0E1116"/>
                </a:solidFill>
                <a:latin typeface="Calibri"/>
              </a:rPr>
              <a:t>ROS 2 Jazzy, 16 packages</a:t>
            </a:r>
          </a:p>
          <a:p>
            <a:pPr algn="l">
              <a:spcAft>
                <a:spcPts val="900"/>
              </a:spcAft>
            </a:pPr>
            <a:r>
              <a:rPr sz="1100" b="0" i="0">
                <a:solidFill>
                  <a:srgbClr val="1B1D21"/>
                </a:solidFill>
                <a:latin typeface="Calibri"/>
              </a:rPr>
              <a:t>Teleoperation imports nothing in-repo, so it stays the baseline condition of every comparison.</a:t>
            </a:r>
          </a:p>
          <a:p>
            <a:pPr algn="l">
              <a:spcAft>
                <a:spcPts val="200"/>
              </a:spcAft>
            </a:pPr>
            <a:r>
              <a:rPr sz="1250" b="1" i="0">
                <a:solidFill>
                  <a:srgbClr val="0E1116"/>
                </a:solidFill>
                <a:latin typeface="Calibri"/>
              </a:rPr>
              <a:t>Host is WSL2</a:t>
            </a:r>
          </a:p>
          <a:p>
            <a:pPr algn="l">
              <a:spcAft>
                <a:spcPts val="900"/>
              </a:spcAft>
            </a:pPr>
            <a:r>
              <a:rPr sz="1100" b="0" i="0">
                <a:solidFill>
                  <a:srgbClr val="1B1D21"/>
                </a:solidFill>
                <a:latin typeface="Calibri"/>
              </a:rPr>
              <a:t>Which forces the high-level Kortex API: every cyclic write is a network round trip.</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The arm shown is the vendor's product image. NO PHOTOGRAPH OF THE ASSEMBLED LAB RIG IS COMMITTED TO THIS REPOSITORY — every visual in this deck is a render, a screenshot or a diagram, and is labelled as such.</a:t>
            </a:r>
          </a:p>
          <a:p>
            <a:pPr algn="l">
              <a:spcAft>
                <a:spcPts val="0"/>
              </a:spcAft>
            </a:pPr>
            <a:r>
              <a:rPr sz="850" b="0" i="0">
                <a:solidFill>
                  <a:srgbClr val="6B7280"/>
                </a:solidFill>
                <a:latin typeface="Consolas"/>
              </a:rPr>
              <a:t>source: src/ros2_kortex/doc/resources/ — vendor image, not a lab photograph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MASTER INTERFACE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master arm, from CAD to kinematic chain</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7</a:t>
            </a:r>
          </a:p>
        </p:txBody>
      </p:sp>
      <p:sp>
        <p:nvSpPr>
          <p:cNvPr id="8" name="Rectangle 7"/>
          <p:cNvSpPr/>
          <p:nvPr/>
        </p:nvSpPr>
        <p:spPr>
          <a:xfrm>
            <a:off x="525780" y="2239122"/>
            <a:ext cx="5474055" cy="2416331"/>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ster_arm_cad_views.png"/>
          <p:cNvPicPr>
            <a:picLocks noChangeAspect="1"/>
          </p:cNvPicPr>
          <p:nvPr/>
        </p:nvPicPr>
        <p:blipFill>
          <a:blip r:embed="rId2"/>
          <a:stretch>
            <a:fillRect/>
          </a:stretch>
        </p:blipFill>
        <p:spPr>
          <a:xfrm>
            <a:off x="566928" y="2280270"/>
            <a:ext cx="5391759" cy="2334035"/>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CAD, zero configuration</a:t>
            </a:r>
          </a:p>
        </p:txBody>
      </p:sp>
      <p:sp>
        <p:nvSpPr>
          <p:cNvPr id="11" name="Rectangle 10"/>
          <p:cNvSpPr/>
          <p:nvPr/>
        </p:nvSpPr>
        <p:spPr>
          <a:xfrm>
            <a:off x="7321679" y="1348740"/>
            <a:ext cx="3214416" cy="419709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aster_arm_chain.png"/>
          <p:cNvPicPr>
            <a:picLocks noChangeAspect="1"/>
          </p:cNvPicPr>
          <p:nvPr/>
        </p:nvPicPr>
        <p:blipFill>
          <a:blip r:embed="rId3"/>
          <a:stretch>
            <a:fillRect/>
          </a:stretch>
        </p:blipFill>
        <p:spPr>
          <a:xfrm>
            <a:off x="7362827" y="1389888"/>
            <a:ext cx="3132120" cy="4114800"/>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Chain: CAD against measured, mm</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Roll and bend alternate along the chain. Link lengths are CAD-inferred and then checked against the measured arm — the two disagree by a few millimetres per link, and the measured value is the one the software uses.</a:t>
            </a:r>
          </a:p>
          <a:p>
            <a:pPr algn="l">
              <a:spcAft>
                <a:spcPts val="0"/>
              </a:spcAft>
            </a:pPr>
            <a:r>
              <a:rPr sz="850" b="0" i="0">
                <a:solidFill>
                  <a:srgbClr val="6B7280"/>
                </a:solidFill>
                <a:latin typeface="Consolas"/>
              </a:rPr>
              <a:t>source: thesis_v2/figures/master_arm_cad_views.png, master_arm_chain.png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MASTER INTERFACE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Electronics and pin assignment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8</a:t>
            </a:r>
          </a:p>
        </p:txBody>
      </p:sp>
      <p:sp>
        <p:nvSpPr>
          <p:cNvPr id="8" name="Rectangle 7"/>
          <p:cNvSpPr/>
          <p:nvPr/>
        </p:nvSpPr>
        <p:spPr>
          <a:xfrm>
            <a:off x="2996155" y="1348740"/>
            <a:ext cx="6199384"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electronics.png"/>
          <p:cNvPicPr>
            <a:picLocks noChangeAspect="1"/>
          </p:cNvPicPr>
          <p:nvPr/>
        </p:nvPicPr>
        <p:blipFill>
          <a:blip r:embed="rId2"/>
          <a:stretch>
            <a:fillRect/>
          </a:stretch>
        </p:blipFill>
        <p:spPr>
          <a:xfrm>
            <a:off x="3037303" y="1389888"/>
            <a:ext cx="6117088"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Fourteen channels over one Teensy 4.1. The call-out records why two analog-capable pins could not be used — a wiring constraint that later shows up in the channel health results.</a:t>
            </a:r>
          </a:p>
          <a:p>
            <a:pPr algn="l">
              <a:spcAft>
                <a:spcPts val="0"/>
              </a:spcAft>
            </a:pPr>
            <a:r>
              <a:rPr sz="850" b="0" i="0">
                <a:solidFill>
                  <a:srgbClr val="6B7280"/>
                </a:solidFill>
                <a:latin typeface="Consolas"/>
              </a:rPr>
              <a:t>source: thesis_v2/figures/diagrams/electronics.tex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MEASURED</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Master channel health — the honest picture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9</a:t>
            </a:r>
          </a:p>
        </p:txBody>
      </p:sp>
      <p:sp>
        <p:nvSpPr>
          <p:cNvPr id="8" name="Rectangle 7"/>
          <p:cNvSpPr/>
          <p:nvPr/>
        </p:nvSpPr>
        <p:spPr>
          <a:xfrm>
            <a:off x="525780" y="1411187"/>
            <a:ext cx="5660136" cy="388932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nnel_health.png"/>
          <p:cNvPicPr>
            <a:picLocks noChangeAspect="1"/>
          </p:cNvPicPr>
          <p:nvPr/>
        </p:nvPicPr>
        <p:blipFill>
          <a:blip r:embed="rId2"/>
          <a:stretch>
            <a:fillRect/>
          </a:stretch>
        </p:blipFill>
        <p:spPr>
          <a:xfrm>
            <a:off x="566928" y="1452335"/>
            <a:ext cx="5577840" cy="3807024"/>
          </a:xfrm>
          <a:prstGeom prst="rect">
            <a:avLst/>
          </a:prstGeom>
        </p:spPr>
      </p:pic>
      <p:sp>
        <p:nvSpPr>
          <p:cNvPr id="10" name="Rectangle 9"/>
          <p:cNvSpPr/>
          <p:nvPr/>
        </p:nvSpPr>
        <p:spPr>
          <a:xfrm>
            <a:off x="6469379" y="2158101"/>
            <a:ext cx="5196535" cy="2395493"/>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nnel_degradation.png"/>
          <p:cNvPicPr>
            <a:picLocks noChangeAspect="1"/>
          </p:cNvPicPr>
          <p:nvPr/>
        </p:nvPicPr>
        <p:blipFill>
          <a:blip r:embed="rId3"/>
          <a:stretch>
            <a:fillRect/>
          </a:stretch>
        </p:blipFill>
        <p:spPr>
          <a:xfrm>
            <a:off x="6510527" y="2199249"/>
            <a:ext cx="5114239" cy="2313197"/>
          </a:xfrm>
          <a:prstGeom prst="rect">
            <a:avLst/>
          </a:prstGeom>
        </p:spPr>
      </p:pic>
      <p:sp>
        <p:nvSpPr>
          <p:cNvPr id="12" name="TextBox 11"/>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Seven of fourteen channels are incoherent — a soldering problem, with l_j2 and l_j4 named by regression. The system degrades rather than stopping: which channels are FROZEN is decided from the newest baseline, and a stale baseline freezes channels that now work.</a:t>
            </a:r>
          </a:p>
          <a:p>
            <a:pPr algn="l">
              <a:spcAft>
                <a:spcPts val="0"/>
              </a:spcAft>
            </a:pPr>
            <a:r>
              <a:rPr sz="850" b="0" i="0">
                <a:solidFill>
                  <a:srgbClr val="6B7280"/>
                </a:solidFill>
                <a:latin typeface="Consolas"/>
              </a:rPr>
              <a:t>source: recordings/baselines/channels_20260806.json (2026-08-06)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ARCHITECTURE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Software architecture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10</a:t>
            </a:r>
          </a:p>
        </p:txBody>
      </p:sp>
      <p:sp>
        <p:nvSpPr>
          <p:cNvPr id="8" name="Rectangle 7"/>
          <p:cNvSpPr/>
          <p:nvPr/>
        </p:nvSpPr>
        <p:spPr>
          <a:xfrm>
            <a:off x="3338653" y="1348740"/>
            <a:ext cx="55143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architecture.png"/>
          <p:cNvPicPr>
            <a:picLocks noChangeAspect="1"/>
          </p:cNvPicPr>
          <p:nvPr/>
        </p:nvPicPr>
        <p:blipFill>
          <a:blip r:embed="rId2"/>
          <a:stretch>
            <a:fillRect/>
          </a:stretch>
        </p:blipFill>
        <p:spPr>
          <a:xfrm>
            <a:off x="3379801" y="1389888"/>
            <a:ext cx="54320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Six srl_* packages. The dependency arrow runs one way: srl_teleop imports nothing in-repo, so the baseline condition of every experiment cannot be contaminated by the autonomy layer it is compared against.</a:t>
            </a:r>
          </a:p>
          <a:p>
            <a:pPr algn="l">
              <a:spcAft>
                <a:spcPts val="0"/>
              </a:spcAft>
            </a:pPr>
            <a:r>
              <a:rPr sz="850" b="0" i="0">
                <a:solidFill>
                  <a:srgbClr val="6B7280"/>
                </a:solidFill>
                <a:latin typeface="Consolas"/>
              </a:rPr>
              <a:t>source: thesis_v2/figures/diagrams/architecture.tex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ARCHITECTURE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data path, end to end</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11</a:t>
            </a:r>
          </a:p>
        </p:txBody>
      </p:sp>
      <p:sp>
        <p:nvSpPr>
          <p:cNvPr id="8" name="Rectangle 7"/>
          <p:cNvSpPr/>
          <p:nvPr/>
        </p:nvSpPr>
        <p:spPr>
          <a:xfrm>
            <a:off x="3003092" y="1348740"/>
            <a:ext cx="6185510"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datapath.png"/>
          <p:cNvPicPr>
            <a:picLocks noChangeAspect="1"/>
          </p:cNvPicPr>
          <p:nvPr/>
        </p:nvPicPr>
        <p:blipFill>
          <a:blip r:embed="rId2"/>
          <a:stretch>
            <a:fillRect/>
          </a:stretch>
        </p:blipFill>
        <p:spPr>
          <a:xfrm>
            <a:off x="3044240" y="1389888"/>
            <a:ext cx="6103214"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From a sensed master joint to a commanded arm joint, with every rate and every gate on the way.</a:t>
            </a:r>
          </a:p>
          <a:p>
            <a:pPr algn="l">
              <a:spcAft>
                <a:spcPts val="0"/>
              </a:spcAft>
            </a:pPr>
            <a:r>
              <a:rPr sz="850" b="0" i="0">
                <a:solidFill>
                  <a:srgbClr val="6B7280"/>
                </a:solidFill>
                <a:latin typeface="Consolas"/>
              </a:rPr>
              <a:t>source: thesis_v2/figures/tikz/datapath.tex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THE MATHEMATICS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control law: two input paths, one arm command</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12</a:t>
            </a:r>
          </a:p>
        </p:txBody>
      </p:sp>
      <p:sp>
        <p:nvSpPr>
          <p:cNvPr id="8" name="Rectangle 7"/>
          <p:cNvSpPr/>
          <p:nvPr/>
        </p:nvSpPr>
        <p:spPr>
          <a:xfrm>
            <a:off x="566928" y="1389888"/>
            <a:ext cx="41148" cy="1065682"/>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map_mannequin.png"/>
          <p:cNvPicPr>
            <a:picLocks noChangeAspect="1"/>
          </p:cNvPicPr>
          <p:nvPr/>
        </p:nvPicPr>
        <p:blipFill>
          <a:blip r:embed="rId2"/>
          <a:stretch>
            <a:fillRect/>
          </a:stretch>
        </p:blipFill>
        <p:spPr>
          <a:xfrm>
            <a:off x="2987878" y="1485112"/>
            <a:ext cx="6490258" cy="445465"/>
          </a:xfrm>
          <a:prstGeom prst="rect">
            <a:avLst/>
          </a:prstGeom>
        </p:spPr>
      </p:pic>
      <p:sp>
        <p:nvSpPr>
          <p:cNvPr id="10" name="TextBox 9"/>
          <p:cNvSpPr txBox="1"/>
          <p:nvPr/>
        </p:nvSpPr>
        <p:spPr>
          <a:xfrm>
            <a:off x="841247" y="2044090"/>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MODE 01 — the mannequin gives position; gravity gives roll and pitch but never yaw, and on this rig j7 is railed and j5/j6 are dead, so orientation is pinned to the anchor constant.</a:t>
            </a:r>
          </a:p>
        </p:txBody>
      </p:sp>
      <p:sp>
        <p:nvSpPr>
          <p:cNvPr id="11" name="Rectangle 10"/>
          <p:cNvSpPr/>
          <p:nvPr/>
        </p:nvSpPr>
        <p:spPr>
          <a:xfrm>
            <a:off x="566928" y="2565298"/>
            <a:ext cx="41148" cy="2075027"/>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q_map_vr.png"/>
          <p:cNvPicPr>
            <a:picLocks noChangeAspect="1"/>
          </p:cNvPicPr>
          <p:nvPr/>
        </p:nvPicPr>
        <p:blipFill>
          <a:blip r:embed="rId3"/>
          <a:stretch>
            <a:fillRect/>
          </a:stretch>
        </p:blipFill>
        <p:spPr>
          <a:xfrm>
            <a:off x="3844975" y="2660522"/>
            <a:ext cx="4776063" cy="1454810"/>
          </a:xfrm>
          <a:prstGeom prst="rect">
            <a:avLst/>
          </a:prstGeom>
        </p:spPr>
      </p:pic>
      <p:sp>
        <p:nvSpPr>
          <p:cNvPr id="13" name="TextBox 12"/>
          <p:cNvSpPr txBox="1"/>
          <p:nvPr/>
        </p:nvSpPr>
        <p:spPr>
          <a:xfrm>
            <a:off x="841247" y="4228845"/>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MODE 02 — the Quest gives full 6-DOF, so orientation is commanded too. Both are RELATIVE: the anchor pair is latched at each clutch engage, so only motion SINCE engage matters and the re-engage jump is zero by construction.</a:t>
            </a:r>
          </a:p>
        </p:txBody>
      </p:sp>
      <p:sp>
        <p:nvSpPr>
          <p:cNvPr id="14" name="Rectangle 13"/>
          <p:cNvSpPr/>
          <p:nvPr/>
        </p:nvSpPr>
        <p:spPr>
          <a:xfrm>
            <a:off x="566928" y="4750053"/>
            <a:ext cx="41148" cy="992377"/>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q_redundancy.png"/>
          <p:cNvPicPr>
            <a:picLocks noChangeAspect="1"/>
          </p:cNvPicPr>
          <p:nvPr/>
        </p:nvPicPr>
        <p:blipFill>
          <a:blip r:embed="rId4"/>
          <a:stretch>
            <a:fillRect/>
          </a:stretch>
        </p:blipFill>
        <p:spPr>
          <a:xfrm>
            <a:off x="2268931" y="4845278"/>
            <a:ext cx="7928152" cy="372160"/>
          </a:xfrm>
          <a:prstGeom prst="rect">
            <a:avLst/>
          </a:prstGeom>
        </p:spPr>
      </p:pic>
      <p:sp>
        <p:nvSpPr>
          <p:cNvPr id="16" name="TextBox 15"/>
          <p:cNvSpPr txBox="1"/>
          <p:nvPr/>
        </p:nvSpPr>
        <p:spPr>
          <a:xfrm>
            <a:off x="841247" y="5330951"/>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and this is the whole workspace story in one line: a fixed 6-DOF pose on a 7-DOF arm leaves a null space of dimension one, and that one is the joint that moves the elbow out of the wearer.</a:t>
            </a:r>
          </a:p>
        </p:txBody>
      </p:sp>
      <p:sp>
        <p:nvSpPr>
          <p:cNvPr id="17" name="TextBox 16"/>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R_align is a YAW and can never be a reflection. Facing someone and copying them is a reflection, det = −1, which would mirror every ORIENTATION while the positions still looked right — the hardest class of bug to see. That is why the parameter is an angle and not a set of per-axis sign flips. It is calibrated from a recorded motion, not guessed.</a:t>
            </a:r>
          </a:p>
          <a:p>
            <a:pPr algn="l">
              <a:spcAft>
                <a:spcPts val="0"/>
              </a:spcAft>
            </a:pPr>
            <a:r>
              <a:rPr sz="850" b="0" i="0">
                <a:solidFill>
                  <a:srgbClr val="6B7280"/>
                </a:solidFill>
                <a:latin typeface="Consolas"/>
              </a:rPr>
              <a:t>source: srl_teleop/master_pose_node.py:1502; srl_vr_teleop/vr_pose_mapper.py:16-17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OPERATING MODES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Driving the arms by hand: the mannequin, and VR</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13</a:t>
            </a:r>
          </a:p>
        </p:txBody>
      </p:sp>
      <p:sp>
        <p:nvSpPr>
          <p:cNvPr id="8" name="Rectangle 7"/>
          <p:cNvSpPr/>
          <p:nvPr/>
        </p:nvSpPr>
        <p:spPr>
          <a:xfrm>
            <a:off x="2184248" y="1348740"/>
            <a:ext cx="7823198" cy="2020824"/>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mode1_mannequin.png"/>
          <p:cNvPicPr>
            <a:picLocks noChangeAspect="1"/>
          </p:cNvPicPr>
          <p:nvPr/>
        </p:nvPicPr>
        <p:blipFill>
          <a:blip r:embed="rId2"/>
          <a:stretch>
            <a:fillRect/>
          </a:stretch>
        </p:blipFill>
        <p:spPr>
          <a:xfrm>
            <a:off x="2225396" y="1389888"/>
            <a:ext cx="7740902" cy="1938528"/>
          </a:xfrm>
          <a:prstGeom prst="rect">
            <a:avLst/>
          </a:prstGeom>
        </p:spPr>
      </p:pic>
      <p:sp>
        <p:nvSpPr>
          <p:cNvPr id="10" name="TextBox 9"/>
          <p:cNvSpPr txBox="1"/>
          <p:nvPr/>
        </p:nvSpPr>
        <p:spPr>
          <a:xfrm>
            <a:off x="566928" y="3383280"/>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 01 — instrumented mannequin arm over a Teensy 4.1</a:t>
            </a:r>
          </a:p>
        </p:txBody>
      </p:sp>
      <p:sp>
        <p:nvSpPr>
          <p:cNvPr id="11" name="Rectangle 10"/>
          <p:cNvSpPr/>
          <p:nvPr/>
        </p:nvSpPr>
        <p:spPr>
          <a:xfrm>
            <a:off x="2096590" y="3634739"/>
            <a:ext cx="7998514" cy="2020824"/>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iag_mode2_vr.png"/>
          <p:cNvPicPr>
            <a:picLocks noChangeAspect="1"/>
          </p:cNvPicPr>
          <p:nvPr/>
        </p:nvPicPr>
        <p:blipFill>
          <a:blip r:embed="rId3"/>
          <a:stretch>
            <a:fillRect/>
          </a:stretch>
        </p:blipFill>
        <p:spPr>
          <a:xfrm>
            <a:off x="2137738" y="3675887"/>
            <a:ext cx="7916218" cy="1938528"/>
          </a:xfrm>
          <a:prstGeom prst="rect">
            <a:avLst/>
          </a:prstGeom>
        </p:spPr>
      </p:pic>
      <p:sp>
        <p:nvSpPr>
          <p:cNvPr id="13" name="TextBox 12"/>
          <p:cNvSpPr txBox="1"/>
          <p:nvPr/>
        </p:nvSpPr>
        <p:spPr>
          <a:xfrm>
            <a:off x="566928" y="5650992"/>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 02 — two hand controllers as 6-DOF motion capture</a:t>
            </a:r>
          </a:p>
        </p:txBody>
      </p:sp>
      <p:sp>
        <p:nvSpPr>
          <p:cNvPr id="14" name="TextBox 13"/>
          <p:cNvSpPr txBox="1"/>
          <p:nvPr/>
        </p:nvSpPr>
        <p:spPr>
          <a:xfrm>
            <a:off x="566928" y="6035040"/>
            <a:ext cx="11057839" cy="777239"/>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Blue is sensing, grey is processing, red can stop the arm, green commands motion — the same colour law in every mode diagram.</a:t>
            </a:r>
          </a:p>
          <a:p>
            <a:pPr algn="l">
              <a:spcAft>
                <a:spcPts val="0"/>
              </a:spcAft>
            </a:pPr>
            <a:r>
              <a:rPr sz="850" b="0" i="0">
                <a:solidFill>
                  <a:srgbClr val="6B7280"/>
                </a:solidFill>
                <a:latin typeface="Consolas"/>
              </a:rPr>
              <a:t>source: thesis_v2/figures/diagrams/mode1_mannequin.tex, mode2_vr.tex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OPERATING MODES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Sharing control, and giving up control entirely</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14</a:t>
            </a:r>
          </a:p>
        </p:txBody>
      </p:sp>
      <p:sp>
        <p:nvSpPr>
          <p:cNvPr id="8" name="Rectangle 7"/>
          <p:cNvSpPr/>
          <p:nvPr/>
        </p:nvSpPr>
        <p:spPr>
          <a:xfrm>
            <a:off x="3311131" y="1348740"/>
            <a:ext cx="5569432" cy="2020824"/>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mode3_shared.png"/>
          <p:cNvPicPr>
            <a:picLocks noChangeAspect="1"/>
          </p:cNvPicPr>
          <p:nvPr/>
        </p:nvPicPr>
        <p:blipFill>
          <a:blip r:embed="rId2"/>
          <a:stretch>
            <a:fillRect/>
          </a:stretch>
        </p:blipFill>
        <p:spPr>
          <a:xfrm>
            <a:off x="3352279" y="1389888"/>
            <a:ext cx="5487136" cy="1938528"/>
          </a:xfrm>
          <a:prstGeom prst="rect">
            <a:avLst/>
          </a:prstGeom>
        </p:spPr>
      </p:pic>
      <p:sp>
        <p:nvSpPr>
          <p:cNvPr id="10" name="TextBox 9"/>
          <p:cNvSpPr txBox="1"/>
          <p:nvPr/>
        </p:nvSpPr>
        <p:spPr>
          <a:xfrm>
            <a:off x="566928" y="3383280"/>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MODES 03 / 04 — shared autonomy over either input path</a:t>
            </a:r>
          </a:p>
        </p:txBody>
      </p:sp>
      <p:sp>
        <p:nvSpPr>
          <p:cNvPr id="11" name="Rectangle 10"/>
          <p:cNvSpPr/>
          <p:nvPr/>
        </p:nvSpPr>
        <p:spPr>
          <a:xfrm>
            <a:off x="3706595" y="3634739"/>
            <a:ext cx="4778504" cy="2020824"/>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iag_mode4_voice.png"/>
          <p:cNvPicPr>
            <a:picLocks noChangeAspect="1"/>
          </p:cNvPicPr>
          <p:nvPr/>
        </p:nvPicPr>
        <p:blipFill>
          <a:blip r:embed="rId3"/>
          <a:stretch>
            <a:fillRect/>
          </a:stretch>
        </p:blipFill>
        <p:spPr>
          <a:xfrm>
            <a:off x="3747743" y="3675887"/>
            <a:ext cx="4696208" cy="1938528"/>
          </a:xfrm>
          <a:prstGeom prst="rect">
            <a:avLst/>
          </a:prstGeom>
        </p:spPr>
      </p:pic>
      <p:sp>
        <p:nvSpPr>
          <p:cNvPr id="13" name="TextBox 12"/>
          <p:cNvSpPr txBox="1"/>
          <p:nvPr/>
        </p:nvSpPr>
        <p:spPr>
          <a:xfrm>
            <a:off x="566928" y="5650992"/>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 06 — full autonomy from a typed or spoken sentence</a:t>
            </a:r>
          </a:p>
        </p:txBody>
      </p:sp>
      <p:sp>
        <p:nvSpPr>
          <p:cNvPr id="14" name="TextBox 13"/>
          <p:cNvSpPr txBox="1"/>
          <p:nvPr/>
        </p:nvSpPr>
        <p:spPr>
          <a:xfrm>
            <a:off x="566928" y="6035040"/>
            <a:ext cx="11057839" cy="777239"/>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task layer commands the SAME waypoints under every mode — run_abc builds them with no mode argument — so any difference in what the robot does is a property of the mode, not of the task.</a:t>
            </a:r>
          </a:p>
          <a:p>
            <a:pPr algn="l">
              <a:spcAft>
                <a:spcPts val="0"/>
              </a:spcAft>
            </a:pPr>
            <a:r>
              <a:rPr sz="850" b="0" i="0">
                <a:solidFill>
                  <a:srgbClr val="6B7280"/>
                </a:solidFill>
                <a:latin typeface="Consolas"/>
              </a:rPr>
              <a:t>source: thesis_v2/figures/diagrams/mode3_shared.tex, mode4_voice.tex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SAFETY</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safety chain</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15</a:t>
            </a:r>
          </a:p>
        </p:txBody>
      </p:sp>
      <p:sp>
        <p:nvSpPr>
          <p:cNvPr id="8" name="Rectangle 7"/>
          <p:cNvSpPr/>
          <p:nvPr/>
        </p:nvSpPr>
        <p:spPr>
          <a:xfrm>
            <a:off x="2023155" y="1348740"/>
            <a:ext cx="8145383"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safety.png"/>
          <p:cNvPicPr>
            <a:picLocks noChangeAspect="1"/>
          </p:cNvPicPr>
          <p:nvPr/>
        </p:nvPicPr>
        <p:blipFill>
          <a:blip r:embed="rId2"/>
          <a:stretch>
            <a:fillRect/>
          </a:stretch>
        </p:blipFill>
        <p:spPr>
          <a:xfrm>
            <a:off x="2064303" y="1389888"/>
            <a:ext cx="8063087"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Three stages before any command leaves. Stage 3 measures the distance to the wearer from the shapes directly — it does not use the simulator's collision settings, because the SRDF deliberately excludes the 44 proximal pairs a shoulder mount actually threatens, and would report a clear pose with the tube inside the person.</a:t>
            </a:r>
          </a:p>
          <a:p>
            <a:pPr algn="l">
              <a:spcAft>
                <a:spcPts val="0"/>
              </a:spcAft>
            </a:pPr>
            <a:r>
              <a:rPr sz="850" b="0" i="0">
                <a:solidFill>
                  <a:srgbClr val="6B7280"/>
                </a:solidFill>
                <a:latin typeface="Consolas"/>
              </a:rPr>
              <a:t>source: thesis_v2/figures/tikz/safety.tex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THE MATHEMATICS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safety case, as two expressions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16</a:t>
            </a:r>
          </a:p>
        </p:txBody>
      </p:sp>
      <p:sp>
        <p:nvSpPr>
          <p:cNvPr id="8" name="Rectangle 7"/>
          <p:cNvSpPr/>
          <p:nvPr/>
        </p:nvSpPr>
        <p:spPr>
          <a:xfrm>
            <a:off x="566928" y="1389888"/>
            <a:ext cx="41148" cy="1996061"/>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fuse.png"/>
          <p:cNvPicPr>
            <a:picLocks noChangeAspect="1"/>
          </p:cNvPicPr>
          <p:nvPr/>
        </p:nvPicPr>
        <p:blipFill>
          <a:blip r:embed="rId2"/>
          <a:stretch>
            <a:fillRect/>
          </a:stretch>
        </p:blipFill>
        <p:spPr>
          <a:xfrm>
            <a:off x="3228523" y="1389888"/>
            <a:ext cx="6008969" cy="1374269"/>
          </a:xfrm>
          <a:prstGeom prst="rect">
            <a:avLst/>
          </a:prstGeom>
        </p:spPr>
      </p:pic>
      <p:sp>
        <p:nvSpPr>
          <p:cNvPr id="10" name="TextBox 9"/>
          <p:cNvSpPr txBox="1"/>
          <p:nvPr/>
        </p:nvSpPr>
        <p:spPr>
          <a:xfrm>
            <a:off x="841247" y="2782445"/>
            <a:ext cx="10783519" cy="621792"/>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The camera may only make the wearer BIGGER. Per part, keep whichever primitive is CLOSER to where the robot works — there is no mode switch, so there is no mode to be in the wrong one of. A part the camera says is further away is kept at the assumed position, because a monocular depth error looks exactly the same from one camera.</a:t>
            </a:r>
          </a:p>
        </p:txBody>
      </p:sp>
      <p:sp>
        <p:nvSpPr>
          <p:cNvPr id="11" name="Rectangle 10"/>
          <p:cNvSpPr/>
          <p:nvPr/>
        </p:nvSpPr>
        <p:spPr>
          <a:xfrm>
            <a:off x="566928" y="3495677"/>
            <a:ext cx="41148" cy="2246754"/>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q_null_space.png"/>
          <p:cNvPicPr>
            <a:picLocks noChangeAspect="1"/>
          </p:cNvPicPr>
          <p:nvPr/>
        </p:nvPicPr>
        <p:blipFill>
          <a:blip r:embed="rId3"/>
          <a:stretch>
            <a:fillRect/>
          </a:stretch>
        </p:blipFill>
        <p:spPr>
          <a:xfrm>
            <a:off x="2396121" y="3495677"/>
            <a:ext cx="7673771" cy="1816986"/>
          </a:xfrm>
          <a:prstGeom prst="rect">
            <a:avLst/>
          </a:prstGeom>
        </p:spPr>
      </p:pic>
      <p:sp>
        <p:nvSpPr>
          <p:cNvPr id="13" name="TextBox 12"/>
          <p:cNvSpPr txBox="1"/>
          <p:nvPr/>
        </p:nvSpPr>
        <p:spPr>
          <a:xfrm>
            <a:off x="841247" y="5330951"/>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And the predictive avoider, whose own algebra explains why it is worth so little: the null space holds the hand fixed by definition, and it is the hand that is inside the person.</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distance is measured geometrically against the primitives. It is NOT the planner's collision check: the SRDF deliberately excludes the 44 proximal pairs a shoulder mount actually threatens, so a pose it calls valid can have the tube inside the person.</a:t>
            </a:r>
          </a:p>
          <a:p>
            <a:pPr algn="l">
              <a:spcAft>
                <a:spcPts val="0"/>
              </a:spcAft>
            </a:pPr>
            <a:r>
              <a:rPr sz="850" b="0" i="0">
                <a:solidFill>
                  <a:srgbClr val="6B7280"/>
                </a:solidFill>
                <a:latin typeface="Consolas"/>
              </a:rPr>
              <a:t>source: srl_perception/wearer_tracking.py:273 (fuse); srl_teleop/predictive_avoidance.py:226-268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SAFETY</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wearer is in the collision model</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17</a:t>
            </a:r>
          </a:p>
        </p:txBody>
      </p:sp>
      <p:sp>
        <p:nvSpPr>
          <p:cNvPr id="8" name="Rectangle 7"/>
          <p:cNvSpPr/>
          <p:nvPr/>
        </p:nvSpPr>
        <p:spPr>
          <a:xfrm>
            <a:off x="1201086" y="1348740"/>
            <a:ext cx="4400962"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viz_home_pose_labelled.png"/>
          <p:cNvPicPr>
            <a:picLocks noChangeAspect="1"/>
          </p:cNvPicPr>
          <p:nvPr/>
        </p:nvPicPr>
        <p:blipFill>
          <a:blip r:embed="rId2"/>
          <a:stretch>
            <a:fillRect/>
          </a:stretch>
        </p:blipFill>
        <p:spPr>
          <a:xfrm>
            <a:off x="1242234" y="1389888"/>
            <a:ext cx="4318666" cy="3931920"/>
          </a:xfrm>
          <a:prstGeom prst="rect">
            <a:avLst/>
          </a:prstGeom>
        </p:spPr>
      </p:pic>
      <p:sp>
        <p:nvSpPr>
          <p:cNvPr id="10" name="Rectangle 9"/>
          <p:cNvSpPr/>
          <p:nvPr/>
        </p:nvSpPr>
        <p:spPr>
          <a:xfrm>
            <a:off x="6515100" y="1730787"/>
            <a:ext cx="5150815" cy="325012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_presentation_iso.png"/>
          <p:cNvPicPr>
            <a:picLocks noChangeAspect="1"/>
          </p:cNvPicPr>
          <p:nvPr/>
        </p:nvPicPr>
        <p:blipFill>
          <a:blip r:embed="rId3"/>
          <a:stretch>
            <a:fillRect/>
          </a:stretch>
        </p:blipFill>
        <p:spPr>
          <a:xfrm>
            <a:off x="6556248" y="1771935"/>
            <a:ext cx="5068519" cy="3167824"/>
          </a:xfrm>
          <a:prstGeom prst="rect">
            <a:avLst/>
          </a:prstGeom>
        </p:spPr>
      </p:pic>
      <p:sp>
        <p:nvSpPr>
          <p:cNvPr id="12" name="TextBox 11"/>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RViz, home pose, both arms parked. The wearer's torso, head, hips and arms are all in the model, and the wearer's posture is a variable with one source — a posture that reaches the planner but not the clearance guard measures the old body under a new name.</a:t>
            </a:r>
          </a:p>
          <a:p>
            <a:pPr algn="l">
              <a:spcAft>
                <a:spcPts val="0"/>
              </a:spcAft>
            </a:pPr>
            <a:r>
              <a:rPr sz="850" b="0" i="0">
                <a:solidFill>
                  <a:srgbClr val="6B7280"/>
                </a:solidFill>
                <a:latin typeface="Consolas"/>
              </a:rPr>
              <a:t>source: thesis_v2/figures/rviz/home_pose_labelled.png; docs/img/presentation_pose_iso.png (2026-08-15)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SAFETY · MEASURED</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Predictive avoidance: what it actually buys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18</a:t>
            </a:r>
          </a:p>
        </p:txBody>
      </p:sp>
      <p:sp>
        <p:nvSpPr>
          <p:cNvPr id="8" name="Rectangle 7"/>
          <p:cNvSpPr/>
          <p:nvPr/>
        </p:nvSpPr>
        <p:spPr>
          <a:xfrm>
            <a:off x="3246606" y="1348740"/>
            <a:ext cx="5698481"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predictive_avoidance.png"/>
          <p:cNvPicPr>
            <a:picLocks noChangeAspect="1"/>
          </p:cNvPicPr>
          <p:nvPr/>
        </p:nvPicPr>
        <p:blipFill>
          <a:blip r:embed="rId2"/>
          <a:stretch>
            <a:fillRect/>
          </a:stretch>
        </p:blipFill>
        <p:spPr>
          <a:xfrm>
            <a:off x="3287754" y="1389888"/>
            <a:ext cx="5616185"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With avoidance OFF the solver cheerfully commands poses 155 mm INSIDE the wearer. With it on, every pose it will command clears the 150 mm floor and the rest are refused by name. So what the null space buys is REFUSAL, not clearance — the clearance gain itself is single-figure millimetres, because the null space holds the hand fixed by definition and it is the hand that is inside the person.</a:t>
            </a:r>
          </a:p>
          <a:p>
            <a:pPr algn="l">
              <a:spcAft>
                <a:spcPts val="0"/>
              </a:spcAft>
            </a:pPr>
            <a:r>
              <a:rPr sz="850" b="0" i="0">
                <a:solidFill>
                  <a:srgbClr val="6B7280"/>
                </a:solidFill>
                <a:latin typeface="Consolas"/>
              </a:rPr>
              <a:t>source: recordings/baselines/predictive_avoidance.json (2026-08-15)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SAFETY · MEASURED</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Clearance to the wearer, per task</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19</a:t>
            </a:r>
          </a:p>
        </p:txBody>
      </p:sp>
      <p:sp>
        <p:nvSpPr>
          <p:cNvPr id="8" name="Rectangle 7"/>
          <p:cNvSpPr/>
          <p:nvPr/>
        </p:nvSpPr>
        <p:spPr>
          <a:xfrm>
            <a:off x="525780" y="1542244"/>
            <a:ext cx="6848856" cy="362720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earance_tasks.png"/>
          <p:cNvPicPr>
            <a:picLocks noChangeAspect="1"/>
          </p:cNvPicPr>
          <p:nvPr/>
        </p:nvPicPr>
        <p:blipFill>
          <a:blip r:embed="rId2"/>
          <a:stretch>
            <a:fillRect/>
          </a:stretch>
        </p:blipFill>
        <p:spPr>
          <a:xfrm>
            <a:off x="566928" y="1583392"/>
            <a:ext cx="6766560" cy="3544910"/>
          </a:xfrm>
          <a:prstGeom prst="rect">
            <a:avLst/>
          </a:prstGeom>
        </p:spPr>
      </p:pic>
      <p:sp>
        <p:nvSpPr>
          <p:cNvPr id="10" name="TextBox 9"/>
          <p:cNvSpPr txBox="1"/>
          <p:nvPr/>
        </p:nvSpPr>
        <p:spPr>
          <a:xfrm>
            <a:off x="7699248" y="1389888"/>
            <a:ext cx="3925519" cy="4352544"/>
          </a:xfrm>
          <a:prstGeom prst="rect">
            <a:avLst/>
          </a:prstGeom>
          <a:noFill/>
        </p:spPr>
        <p:txBody>
          <a:bodyPr wrap="square" lIns="0" rIns="0" tIns="0" bIns="0" anchor="t">
            <a:spAutoFit/>
          </a:bodyPr>
          <a:lstStyle/>
          <a:p>
            <a:pPr algn="l">
              <a:spcAft>
                <a:spcPts val="200"/>
              </a:spcAft>
            </a:pPr>
            <a:r>
              <a:rPr sz="1150" b="1" i="0">
                <a:solidFill>
                  <a:srgbClr val="0E1116"/>
                </a:solidFill>
                <a:latin typeface="Calibri"/>
              </a:rPr>
              <a:t>The floor is 150 mm</a:t>
            </a:r>
          </a:p>
          <a:p>
            <a:pPr algn="l">
              <a:spcAft>
                <a:spcPts val="900"/>
              </a:spcAft>
            </a:pPr>
            <a:r>
              <a:rPr sz="1000" b="0" i="0">
                <a:solidFill>
                  <a:srgbClr val="1B1D21"/>
                </a:solidFill>
                <a:latin typeface="Calibri"/>
              </a:rPr>
              <a:t>and the mount alone sits 161 mm from the torso — so there are 11 mm of headroom before the arm does anything at all.</a:t>
            </a:r>
          </a:p>
          <a:p>
            <a:pPr algn="l">
              <a:spcAft>
                <a:spcPts val="200"/>
              </a:spcAft>
            </a:pPr>
            <a:r>
              <a:rPr sz="1150" b="1" i="0">
                <a:solidFill>
                  <a:srgbClr val="0E1116"/>
                </a:solidFill>
                <a:latin typeface="Calibri"/>
              </a:rPr>
              <a:t>Only T1 stage 1 is clean</a:t>
            </a:r>
          </a:p>
          <a:p>
            <a:pPr algn="l">
              <a:spcAft>
                <a:spcPts val="900"/>
              </a:spcAft>
            </a:pPr>
            <a:r>
              <a:rPr sz="1000" b="0" i="0">
                <a:solidFill>
                  <a:srgbClr val="1B1D21"/>
                </a:solidFill>
                <a:latin typeface="Calibri"/>
              </a:rPr>
              <a:t>T0 breaches by ~142/137 mm, T2 by 150/147, T3's left arm by 88.</a:t>
            </a:r>
          </a:p>
          <a:p>
            <a:pPr algn="l">
              <a:spcAft>
                <a:spcPts val="200"/>
              </a:spcAft>
            </a:pPr>
            <a:r>
              <a:rPr sz="1150" b="1" i="0">
                <a:solidFill>
                  <a:srgbClr val="0E1116"/>
                </a:solidFill>
                <a:latin typeface="Calibri"/>
              </a:rPr>
              <a:t>Predictive avoidance is worth 0.0–5.6 mm</a:t>
            </a:r>
          </a:p>
          <a:p>
            <a:pPr algn="l">
              <a:spcAft>
                <a:spcPts val="900"/>
              </a:spcAft>
            </a:pPr>
            <a:r>
              <a:rPr sz="1000" b="0" i="0">
                <a:solidFill>
                  <a:srgbClr val="1B1D21"/>
                </a:solidFill>
                <a:latin typeface="Calibri"/>
              </a:rPr>
              <a:t>All 28 refusals name end_effector_link: the hand is inside the person, and the null space holds the hand fixed by definition.</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A breach is reported, not silenced. An SRDF exclusion silences an alarm; it does not move the metal.</a:t>
            </a:r>
          </a:p>
          <a:p>
            <a:pPr algn="l">
              <a:spcAft>
                <a:spcPts val="0"/>
              </a:spcAft>
            </a:pPr>
            <a:r>
              <a:rPr sz="850" b="0" i="0">
                <a:solidFill>
                  <a:srgbClr val="6B7280"/>
                </a:solidFill>
                <a:latin typeface="Consolas"/>
              </a:rPr>
              <a:t>source: recordings/baselines/home_change_applied.json, predictive_avoidance.json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31720"/>
            <a:ext cx="141732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19"/>
            <a:ext cx="548640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PART 3</a:t>
            </a:r>
          </a:p>
        </p:txBody>
      </p:sp>
      <p:sp>
        <p:nvSpPr>
          <p:cNvPr id="5" name="TextBox 4"/>
          <p:cNvSpPr txBox="1"/>
          <p:nvPr/>
        </p:nvSpPr>
        <p:spPr>
          <a:xfrm>
            <a:off x="566928" y="2606040"/>
            <a:ext cx="8863279" cy="100584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Perception and autonomy</a:t>
            </a:r>
          </a:p>
        </p:txBody>
      </p:sp>
      <p:sp>
        <p:nvSpPr>
          <p:cNvPr id="6" name="TextBox 5"/>
          <p:cNvSpPr txBox="1"/>
          <p:nvPr/>
        </p:nvSpPr>
        <p:spPr>
          <a:xfrm>
            <a:off x="566928" y="3794760"/>
            <a:ext cx="8131759" cy="1097280"/>
          </a:xfrm>
          <a:prstGeom prst="rect">
            <a:avLst/>
          </a:prstGeom>
          <a:noFill/>
        </p:spPr>
        <p:txBody>
          <a:bodyPr wrap="square" lIns="0" rIns="0" tIns="0" bIns="0" anchor="t">
            <a:spAutoFit/>
          </a:bodyPr>
          <a:lstStyle/>
          <a:p>
            <a:pPr algn="l">
              <a:spcAft>
                <a:spcPts val="0"/>
              </a:spcAft>
            </a:pPr>
            <a:r>
              <a:rPr sz="1350" b="0" i="0">
                <a:solidFill>
                  <a:srgbClr val="C3C9D2"/>
                </a:solidFill>
                <a:latin typeface="Calibri"/>
              </a:rPr>
              <a:t>Measure the environment, then plan against the measurement — rather than against a scene someone typed in.</a:t>
            </a:r>
          </a:p>
        </p:txBody>
      </p:sp>
      <p:sp>
        <p:nvSpPr>
          <p:cNvPr id="7" name="TextBox 6"/>
          <p:cNvSpPr txBox="1"/>
          <p:nvPr/>
        </p:nvSpPr>
        <p:spPr>
          <a:xfrm>
            <a:off x="10527487" y="6455664"/>
            <a:ext cx="1097280" cy="237744"/>
          </a:xfrm>
          <a:prstGeom prst="rect">
            <a:avLst/>
          </a:prstGeom>
          <a:noFill/>
        </p:spPr>
        <p:txBody>
          <a:bodyPr wrap="square" lIns="0" rIns="0" tIns="0" bIns="0" anchor="t">
            <a:spAutoFit/>
          </a:bodyPr>
          <a:lstStyle/>
          <a:p>
            <a:pPr algn="r">
              <a:spcAft>
                <a:spcPts val="0"/>
              </a:spcAft>
            </a:pPr>
            <a:r>
              <a:rPr sz="850" b="0" i="0">
                <a:solidFill>
                  <a:srgbClr val="5B6270"/>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PERCEPTION</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perception pipeline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21</a:t>
            </a:r>
          </a:p>
        </p:txBody>
      </p:sp>
      <p:sp>
        <p:nvSpPr>
          <p:cNvPr id="8" name="Rectangle 7"/>
          <p:cNvSpPr/>
          <p:nvPr/>
        </p:nvSpPr>
        <p:spPr>
          <a:xfrm>
            <a:off x="2745134" y="1348740"/>
            <a:ext cx="6701425"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perception.png"/>
          <p:cNvPicPr>
            <a:picLocks noChangeAspect="1"/>
          </p:cNvPicPr>
          <p:nvPr/>
        </p:nvPicPr>
        <p:blipFill>
          <a:blip r:embed="rId2"/>
          <a:stretch>
            <a:fillRect/>
          </a:stretch>
        </p:blipFill>
        <p:spPr>
          <a:xfrm>
            <a:off x="2786282" y="1389888"/>
            <a:ext cx="6619129"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Four cameras — both wrist RGB-D, a RealSense and a USB scene camera — reduced to a plane and a set of objects per camera per cycle, with per-camera health and named refusals.</a:t>
            </a:r>
          </a:p>
          <a:p>
            <a:pPr algn="l">
              <a:spcAft>
                <a:spcPts val="0"/>
              </a:spcAft>
            </a:pPr>
            <a:r>
              <a:rPr sz="850" b="0" i="0">
                <a:solidFill>
                  <a:srgbClr val="6B7280"/>
                </a:solidFill>
                <a:latin typeface="Consolas"/>
              </a:rPr>
              <a:t>source: thesis_v2/figures/tikz/perception.tex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SAFETY CASE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camera may only make the wearer BIGGER</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22</a:t>
            </a:r>
          </a:p>
        </p:txBody>
      </p:sp>
      <p:sp>
        <p:nvSpPr>
          <p:cNvPr id="8" name="TextBox 7"/>
          <p:cNvSpPr txBox="1"/>
          <p:nvPr/>
        </p:nvSpPr>
        <p:spPr>
          <a:xfrm>
            <a:off x="566928" y="1389888"/>
            <a:ext cx="11057839" cy="4352544"/>
          </a:xfrm>
          <a:prstGeom prst="rect">
            <a:avLst/>
          </a:prstGeom>
          <a:noFill/>
        </p:spPr>
        <p:txBody>
          <a:bodyPr wrap="square" lIns="0" rIns="0" tIns="0" bIns="0" anchor="t">
            <a:spAutoFit/>
          </a:bodyPr>
          <a:lstStyle/>
          <a:p>
            <a:pPr algn="l">
              <a:spcAft>
                <a:spcPts val="200"/>
              </a:spcAft>
            </a:pPr>
            <a:r>
              <a:rPr sz="1300" b="1" i="0">
                <a:solidFill>
                  <a:srgbClr val="0E1116"/>
                </a:solidFill>
                <a:latin typeface="Calibri"/>
              </a:rPr>
              <a:t>fuse() keeps whichever body is CLOSER to the robot, per part, with no mode switch.</a:t>
            </a:r>
          </a:p>
          <a:p>
            <a:pPr algn="l">
              <a:spcAft>
                <a:spcPts val="900"/>
              </a:spcAft>
            </a:pPr>
            <a:r>
              <a:rPr sz="1150" b="0" i="0">
                <a:solidFill>
                  <a:srgbClr val="1B1D21"/>
                </a:solidFill>
                <a:latin typeface="Calibri"/>
              </a:rPr>
              <a:t>A tracked torso can sit beside a mannequin upper arm in one scene. A body injected 0.10 / 0.30 / 1.00 / 5.00 m FURTHER away changes nothing at all — which is the property that makes the camera safe to add.</a:t>
            </a:r>
          </a:p>
        </p:txBody>
      </p:sp>
      <p:sp>
        <p:nvSpPr>
          <p:cNvPr id="9" name="Rectangle 8"/>
          <p:cNvSpPr/>
          <p:nvPr/>
        </p:nvSpPr>
        <p:spPr>
          <a:xfrm>
            <a:off x="566928" y="2350008"/>
            <a:ext cx="11073384" cy="329184"/>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414016"/>
            <a:ext cx="4389120"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fault injected through the live node</a:t>
            </a:r>
          </a:p>
        </p:txBody>
      </p:sp>
      <p:sp>
        <p:nvSpPr>
          <p:cNvPr id="11" name="TextBox 10"/>
          <p:cNvSpPr txBox="1"/>
          <p:nvPr/>
        </p:nvSpPr>
        <p:spPr>
          <a:xfrm>
            <a:off x="5248656" y="2414016"/>
            <a:ext cx="4023359"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what must happen</a:t>
            </a:r>
          </a:p>
        </p:txBody>
      </p:sp>
      <p:sp>
        <p:nvSpPr>
          <p:cNvPr id="12" name="TextBox 11"/>
          <p:cNvSpPr txBox="1"/>
          <p:nvPr/>
        </p:nvSpPr>
        <p:spPr>
          <a:xfrm>
            <a:off x="9454895" y="2414016"/>
            <a:ext cx="2112263"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result</a:t>
            </a:r>
          </a:p>
        </p:txBody>
      </p:sp>
      <p:sp>
        <p:nvSpPr>
          <p:cNvPr id="13" name="Rectangle 12"/>
          <p:cNvSpPr/>
          <p:nvPr/>
        </p:nvSpPr>
        <p:spPr>
          <a:xfrm>
            <a:off x="566928" y="2679192"/>
            <a:ext cx="11073384" cy="38404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2729484"/>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the frame is dark</a:t>
            </a:r>
          </a:p>
        </p:txBody>
      </p:sp>
      <p:sp>
        <p:nvSpPr>
          <p:cNvPr id="15" name="TextBox 14"/>
          <p:cNvSpPr txBox="1"/>
          <p:nvPr/>
        </p:nvSpPr>
        <p:spPr>
          <a:xfrm>
            <a:off x="5248656" y="2729484"/>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refuse, naming darkness</a:t>
            </a:r>
          </a:p>
        </p:txBody>
      </p:sp>
      <p:sp>
        <p:nvSpPr>
          <p:cNvPr id="16" name="TextBox 15"/>
          <p:cNvSpPr txBox="1"/>
          <p:nvPr/>
        </p:nvSpPr>
        <p:spPr>
          <a:xfrm>
            <a:off x="9454895" y="2729484"/>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17" name="TextBox 16"/>
          <p:cNvSpPr txBox="1"/>
          <p:nvPr/>
        </p:nvSpPr>
        <p:spPr>
          <a:xfrm>
            <a:off x="676656" y="3113532"/>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the frame is blank</a:t>
            </a:r>
          </a:p>
        </p:txBody>
      </p:sp>
      <p:sp>
        <p:nvSpPr>
          <p:cNvPr id="18" name="TextBox 17"/>
          <p:cNvSpPr txBox="1"/>
          <p:nvPr/>
        </p:nvSpPr>
        <p:spPr>
          <a:xfrm>
            <a:off x="5248656" y="3113532"/>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refuse, naming a blank frame</a:t>
            </a:r>
          </a:p>
        </p:txBody>
      </p:sp>
      <p:sp>
        <p:nvSpPr>
          <p:cNvPr id="19" name="TextBox 18"/>
          <p:cNvSpPr txBox="1"/>
          <p:nvPr/>
        </p:nvSpPr>
        <p:spPr>
          <a:xfrm>
            <a:off x="9454895" y="3113532"/>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20" name="Rectangle 19"/>
          <p:cNvSpPr/>
          <p:nvPr/>
        </p:nvSpPr>
        <p:spPr>
          <a:xfrm>
            <a:off x="566928" y="3447288"/>
            <a:ext cx="11073384" cy="38404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497580"/>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two people in frame</a:t>
            </a:r>
          </a:p>
        </p:txBody>
      </p:sp>
      <p:sp>
        <p:nvSpPr>
          <p:cNvPr id="22" name="TextBox 21"/>
          <p:cNvSpPr txBox="1"/>
          <p:nvPr/>
        </p:nvSpPr>
        <p:spPr>
          <a:xfrm>
            <a:off x="5248656" y="3497580"/>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refuse, naming the second person</a:t>
            </a:r>
          </a:p>
        </p:txBody>
      </p:sp>
      <p:sp>
        <p:nvSpPr>
          <p:cNvPr id="23" name="TextBox 22"/>
          <p:cNvSpPr txBox="1"/>
          <p:nvPr/>
        </p:nvSpPr>
        <p:spPr>
          <a:xfrm>
            <a:off x="9454895" y="3497580"/>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24" name="TextBox 23"/>
          <p:cNvSpPr txBox="1"/>
          <p:nvPr/>
        </p:nvSpPr>
        <p:spPr>
          <a:xfrm>
            <a:off x="676656" y="3881628"/>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nobody in frame</a:t>
            </a:r>
          </a:p>
        </p:txBody>
      </p:sp>
      <p:sp>
        <p:nvSpPr>
          <p:cNvPr id="25" name="TextBox 24"/>
          <p:cNvSpPr txBox="1"/>
          <p:nvPr/>
        </p:nvSpPr>
        <p:spPr>
          <a:xfrm>
            <a:off x="5248656" y="3881628"/>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refuse, naming the empty frame</a:t>
            </a:r>
          </a:p>
        </p:txBody>
      </p:sp>
      <p:sp>
        <p:nvSpPr>
          <p:cNvPr id="26" name="TextBox 25"/>
          <p:cNvSpPr txBox="1"/>
          <p:nvPr/>
        </p:nvSpPr>
        <p:spPr>
          <a:xfrm>
            <a:off x="9454895" y="3881628"/>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27" name="Rectangle 26"/>
          <p:cNvSpPr/>
          <p:nvPr/>
        </p:nvSpPr>
        <p:spPr>
          <a:xfrm>
            <a:off x="566928" y="4215384"/>
            <a:ext cx="11073384" cy="38404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 y="4265676"/>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the arms are occluded</a:t>
            </a:r>
          </a:p>
        </p:txBody>
      </p:sp>
      <p:sp>
        <p:nvSpPr>
          <p:cNvPr id="29" name="TextBox 28"/>
          <p:cNvSpPr txBox="1"/>
          <p:nvPr/>
        </p:nvSpPr>
        <p:spPr>
          <a:xfrm>
            <a:off x="5248656" y="4265676"/>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fall back per part, naming the occlusion</a:t>
            </a:r>
          </a:p>
        </p:txBody>
      </p:sp>
      <p:sp>
        <p:nvSpPr>
          <p:cNvPr id="30" name="TextBox 29"/>
          <p:cNvSpPr txBox="1"/>
          <p:nvPr/>
        </p:nvSpPr>
        <p:spPr>
          <a:xfrm>
            <a:off x="9454895" y="4265676"/>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31" name="TextBox 30"/>
          <p:cNvSpPr txBox="1"/>
          <p:nvPr/>
        </p:nvSpPr>
        <p:spPr>
          <a:xfrm>
            <a:off x="676656" y="4649724"/>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the body is pushed further away</a:t>
            </a:r>
          </a:p>
        </p:txBody>
      </p:sp>
      <p:sp>
        <p:nvSpPr>
          <p:cNvPr id="32" name="TextBox 31"/>
          <p:cNvSpPr txBox="1"/>
          <p:nvPr/>
        </p:nvSpPr>
        <p:spPr>
          <a:xfrm>
            <a:off x="5248656" y="4649724"/>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ignore it — keep the mannequin</a:t>
            </a:r>
          </a:p>
        </p:txBody>
      </p:sp>
      <p:sp>
        <p:nvSpPr>
          <p:cNvPr id="33" name="TextBox 32"/>
          <p:cNvSpPr txBox="1"/>
          <p:nvPr/>
        </p:nvSpPr>
        <p:spPr>
          <a:xfrm>
            <a:off x="9454895" y="4649724"/>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34" name="Rectangle 33"/>
          <p:cNvSpPr/>
          <p:nvPr/>
        </p:nvSpPr>
        <p:spPr>
          <a:xfrm>
            <a:off x="566928" y="4983480"/>
            <a:ext cx="11073384" cy="38404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033772"/>
            <a:ext cx="4389120" cy="384048"/>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control: one person, clear frame</a:t>
            </a:r>
          </a:p>
        </p:txBody>
      </p:sp>
      <p:sp>
        <p:nvSpPr>
          <p:cNvPr id="36" name="TextBox 35"/>
          <p:cNvSpPr txBox="1"/>
          <p:nvPr/>
        </p:nvSpPr>
        <p:spPr>
          <a:xfrm>
            <a:off x="5248656" y="5033772"/>
            <a:ext cx="4023359" cy="384048"/>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track, and say it is tracking</a:t>
            </a:r>
          </a:p>
        </p:txBody>
      </p:sp>
      <p:sp>
        <p:nvSpPr>
          <p:cNvPr id="37" name="TextBox 36"/>
          <p:cNvSpPr txBox="1"/>
          <p:nvPr/>
        </p:nvSpPr>
        <p:spPr>
          <a:xfrm>
            <a:off x="9454895" y="5033772"/>
            <a:ext cx="2112263" cy="384048"/>
          </a:xfrm>
          <a:prstGeom prst="rect">
            <a:avLst/>
          </a:prstGeom>
          <a:noFill/>
        </p:spPr>
        <p:txBody>
          <a:bodyPr wrap="square" lIns="0" rIns="0" tIns="0" bIns="0" anchor="t">
            <a:spAutoFit/>
          </a:bodyPr>
          <a:lstStyle/>
          <a:p>
            <a:pPr algn="l">
              <a:spcAft>
                <a:spcPts val="0"/>
              </a:spcAft>
            </a:pPr>
            <a:r>
              <a:rPr sz="1100" b="0" i="0">
                <a:solidFill>
                  <a:srgbClr val="2F7D4F"/>
                </a:solidFill>
                <a:latin typeface="Calibri"/>
              </a:rPr>
              <a:t>PASS</a:t>
            </a:r>
          </a:p>
        </p:txBody>
      </p:sp>
      <p:sp>
        <p:nvSpPr>
          <p:cNvPr id="38" name="TextBox 37"/>
          <p:cNvSpPr txBox="1"/>
          <p:nvPr/>
        </p:nvSpPr>
        <p:spPr>
          <a:xfrm>
            <a:off x="566928" y="6016752"/>
            <a:ext cx="11057839" cy="795527"/>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7 of 7 — and the requirement that a refusal NAME its own fault caught a false pass where the two-person gate had never run. The injected frames are stock test images, not lab photographs.</a:t>
            </a:r>
          </a:p>
          <a:p>
            <a:pPr algn="l">
              <a:spcAft>
                <a:spcPts val="0"/>
              </a:spcAft>
            </a:pPr>
            <a:r>
              <a:rPr sz="850" b="0" i="0">
                <a:solidFill>
                  <a:srgbClr val="6B7280"/>
                </a:solidFill>
                <a:latin typeface="Consolas"/>
              </a:rPr>
              <a:t>source: scripts/verify_wearer_fallbacks.py, src/srl_perception/test/test_wearer_tracking.py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PERCEPTION</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Depth accuracy, and detection on real camera data</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23</a:t>
            </a:r>
          </a:p>
        </p:txBody>
      </p:sp>
      <p:sp>
        <p:nvSpPr>
          <p:cNvPr id="8" name="Rectangle 7"/>
          <p:cNvSpPr/>
          <p:nvPr/>
        </p:nvSpPr>
        <p:spPr>
          <a:xfrm>
            <a:off x="525780" y="1384230"/>
            <a:ext cx="5474055" cy="41261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depth_pose_accuracy.png"/>
          <p:cNvPicPr>
            <a:picLocks noChangeAspect="1"/>
          </p:cNvPicPr>
          <p:nvPr/>
        </p:nvPicPr>
        <p:blipFill>
          <a:blip r:embed="rId2"/>
          <a:stretch>
            <a:fillRect/>
          </a:stretch>
        </p:blipFill>
        <p:spPr>
          <a:xfrm>
            <a:off x="566928" y="1425378"/>
            <a:ext cx="5391759" cy="4043819"/>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pose error against range</a:t>
            </a:r>
          </a:p>
        </p:txBody>
      </p:sp>
      <p:sp>
        <p:nvSpPr>
          <p:cNvPr id="11" name="Rectangle 10"/>
          <p:cNvSpPr/>
          <p:nvPr/>
        </p:nvSpPr>
        <p:spPr>
          <a:xfrm>
            <a:off x="6315989" y="1348740"/>
            <a:ext cx="5225796" cy="419709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s_detector_real_rgbd.png"/>
          <p:cNvPicPr>
            <a:picLocks noChangeAspect="1"/>
          </p:cNvPicPr>
          <p:nvPr/>
        </p:nvPicPr>
        <p:blipFill>
          <a:blip r:embed="rId3"/>
          <a:stretch>
            <a:fillRect/>
          </a:stretch>
        </p:blipFill>
        <p:spPr>
          <a:xfrm>
            <a:off x="6357137" y="1389888"/>
            <a:ext cx="5143500" cy="4114800"/>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prompted detection on real RGB-D</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Fitting the object beats taking the centroid of what the camera can see, by an order of magnitude — that is the 2.0 mm term in the control budget. On the right is the only detection number in this project measured on REAL RGB-D: 9% overall on the dataset's cluttered figurines. The boxes it does return fit well, so the failure is RECALL, not localisation — and it is why the 100% colour-vision score is labelled RENDERED.</a:t>
            </a:r>
          </a:p>
          <a:p>
            <a:pPr algn="l">
              <a:spcAft>
                <a:spcPts val="0"/>
              </a:spcAft>
            </a:pPr>
            <a:r>
              <a:rPr sz="850" b="0" i="0">
                <a:solidFill>
                  <a:srgbClr val="6B7280"/>
                </a:solidFill>
                <a:latin typeface="Consolas"/>
              </a:rPr>
              <a:t>source: recordings/baselines/depth_pose_accuracy.json, detector_real_rgbd.json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PERCEPTION</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it costs to look before grasping</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24</a:t>
            </a:r>
          </a:p>
        </p:txBody>
      </p:sp>
      <p:sp>
        <p:nvSpPr>
          <p:cNvPr id="8" name="Rectangle 7"/>
          <p:cNvSpPr/>
          <p:nvPr/>
        </p:nvSpPr>
        <p:spPr>
          <a:xfrm>
            <a:off x="2945739" y="1348740"/>
            <a:ext cx="6300216"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look_then_grasp_cost.png"/>
          <p:cNvPicPr>
            <a:picLocks noChangeAspect="1"/>
          </p:cNvPicPr>
          <p:nvPr/>
        </p:nvPicPr>
        <p:blipFill>
          <a:blip r:embed="rId2"/>
          <a:stretch>
            <a:fillRect/>
          </a:stretch>
        </p:blipFill>
        <p:spPr>
          <a:xfrm>
            <a:off x="2986887" y="1389888"/>
            <a:ext cx="6217920"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One look costs 48.6 s — and 48.3 s of that is the arm TRAVELLING to and from the observe pose. Detection and classification take 0.31 s. The whole optimisation available here is a shorter journey, not a faster detector, and amortised over the four picks one look plans it adds 12.1 s per pick.</a:t>
            </a:r>
          </a:p>
          <a:p>
            <a:pPr algn="l">
              <a:spcAft>
                <a:spcPts val="0"/>
              </a:spcAft>
            </a:pPr>
            <a:r>
              <a:rPr sz="850" b="0" i="0">
                <a:solidFill>
                  <a:srgbClr val="6B7280"/>
                </a:solidFill>
                <a:latin typeface="Consolas"/>
              </a:rPr>
              <a:t>source: recordings/baselines/look_then_grasp.json (2026-08-16)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ENVIRONMENT MAPPING</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robot maps the workspace, then plans against the map</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25</a:t>
            </a:r>
          </a:p>
        </p:txBody>
      </p:sp>
      <p:sp>
        <p:nvSpPr>
          <p:cNvPr id="8" name="Rectangle 7"/>
          <p:cNvSpPr/>
          <p:nvPr/>
        </p:nvSpPr>
        <p:spPr>
          <a:xfrm>
            <a:off x="525780" y="1571625"/>
            <a:ext cx="5660136" cy="356844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ssion_scan.png"/>
          <p:cNvPicPr>
            <a:picLocks noChangeAspect="1"/>
          </p:cNvPicPr>
          <p:nvPr/>
        </p:nvPicPr>
        <p:blipFill>
          <a:blip r:embed="rId2"/>
          <a:stretch>
            <a:fillRect/>
          </a:stretch>
        </p:blipFill>
        <p:spPr>
          <a:xfrm>
            <a:off x="566928" y="1612773"/>
            <a:ext cx="5577840" cy="3486150"/>
          </a:xfrm>
          <a:prstGeom prst="rect">
            <a:avLst/>
          </a:prstGeom>
        </p:spPr>
      </p:pic>
      <p:sp>
        <p:nvSpPr>
          <p:cNvPr id="10" name="Rectangle 9"/>
          <p:cNvSpPr/>
          <p:nvPr/>
        </p:nvSpPr>
        <p:spPr>
          <a:xfrm>
            <a:off x="6510528" y="1389888"/>
            <a:ext cx="2456535" cy="12344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10528" y="1389888"/>
            <a:ext cx="50292" cy="1234440"/>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9984" y="1536192"/>
            <a:ext cx="2090775"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6 / 6</a:t>
            </a:r>
          </a:p>
        </p:txBody>
      </p:sp>
      <p:sp>
        <p:nvSpPr>
          <p:cNvPr id="13" name="TextBox 12"/>
          <p:cNvSpPr txBox="1"/>
          <p:nvPr/>
        </p:nvSpPr>
        <p:spPr>
          <a:xfrm>
            <a:off x="6729984" y="1993392"/>
            <a:ext cx="2090775"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objects recovered</a:t>
            </a:r>
          </a:p>
        </p:txBody>
      </p:sp>
      <p:sp>
        <p:nvSpPr>
          <p:cNvPr id="14" name="TextBox 13"/>
          <p:cNvSpPr txBox="1"/>
          <p:nvPr/>
        </p:nvSpPr>
        <p:spPr>
          <a:xfrm>
            <a:off x="6729984" y="2240280"/>
            <a:ext cx="2090775"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every one exact in x,y to a millimetre; every dimension within 3 mm</a:t>
            </a:r>
          </a:p>
        </p:txBody>
      </p:sp>
      <p:sp>
        <p:nvSpPr>
          <p:cNvPr id="15" name="Rectangle 14"/>
          <p:cNvSpPr/>
          <p:nvPr/>
        </p:nvSpPr>
        <p:spPr>
          <a:xfrm>
            <a:off x="9168231" y="1389888"/>
            <a:ext cx="2456535" cy="12344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68231" y="1389888"/>
            <a:ext cx="50292" cy="1234440"/>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87687" y="1536192"/>
            <a:ext cx="2090775"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+0.2 mm</a:t>
            </a:r>
          </a:p>
        </p:txBody>
      </p:sp>
      <p:sp>
        <p:nvSpPr>
          <p:cNvPr id="18" name="TextBox 17"/>
          <p:cNvSpPr txBox="1"/>
          <p:nvPr/>
        </p:nvSpPr>
        <p:spPr>
          <a:xfrm>
            <a:off x="9387687" y="1993392"/>
            <a:ext cx="2090775"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surface height error</a:t>
            </a:r>
          </a:p>
        </p:txBody>
      </p:sp>
      <p:sp>
        <p:nvSpPr>
          <p:cNvPr id="19" name="TextBox 18"/>
          <p:cNvSpPr txBox="1"/>
          <p:nvPr/>
        </p:nvSpPr>
        <p:spPr>
          <a:xfrm>
            <a:off x="9387687" y="2240280"/>
            <a:ext cx="2090775"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against the renderer's own geometry</a:t>
            </a:r>
          </a:p>
        </p:txBody>
      </p:sp>
      <p:sp>
        <p:nvSpPr>
          <p:cNvPr id="20" name="TextBox 19"/>
          <p:cNvSpPr txBox="1"/>
          <p:nvPr/>
        </p:nvSpPr>
        <p:spPr>
          <a:xfrm>
            <a:off x="6510528" y="2807208"/>
            <a:ext cx="5114239" cy="2935224"/>
          </a:xfrm>
          <a:prstGeom prst="rect">
            <a:avLst/>
          </a:prstGeom>
          <a:noFill/>
        </p:spPr>
        <p:txBody>
          <a:bodyPr wrap="square" lIns="0" rIns="0" tIns="0" bIns="0" anchor="t">
            <a:spAutoFit/>
          </a:bodyPr>
          <a:lstStyle/>
          <a:p>
            <a:pPr algn="l">
              <a:spcAft>
                <a:spcPts val="200"/>
              </a:spcAft>
            </a:pPr>
            <a:r>
              <a:rPr sz="1150" b="1" i="0">
                <a:solidFill>
                  <a:srgbClr val="0E1116"/>
                </a:solidFill>
                <a:latin typeface="Calibri"/>
              </a:rPr>
              <a:t>Objects are cut from the picture</a:t>
            </a:r>
          </a:p>
          <a:p>
            <a:pPr algn="l">
              <a:spcAft>
                <a:spcPts val="900"/>
              </a:spcAft>
            </a:pPr>
            <a:r>
              <a:rPr sz="1000" b="0" i="0">
                <a:solidFill>
                  <a:srgbClr val="1B1D21"/>
                </a:solidFill>
                <a:latin typeface="Calibri"/>
              </a:rPr>
              <a:t>segment_lift, not clustered from the point pile.</a:t>
            </a:r>
          </a:p>
          <a:p>
            <a:pPr algn="l">
              <a:spcAft>
                <a:spcPts val="200"/>
              </a:spcAft>
            </a:pPr>
            <a:r>
              <a:rPr sz="1150" b="1" i="0">
                <a:solidFill>
                  <a:srgbClr val="0E1116"/>
                </a:solidFill>
                <a:latin typeface="Calibri"/>
              </a:rPr>
              <a:t>One wrist attitude per pass, pure translation</a:t>
            </a:r>
          </a:p>
          <a:p>
            <a:pPr algn="l">
              <a:spcAft>
                <a:spcPts val="900"/>
              </a:spcAft>
            </a:pPr>
            <a:r>
              <a:rPr sz="1000" b="0" i="0">
                <a:solidFill>
                  <a:srgbClr val="1B1D21"/>
                </a:solidFill>
                <a:latin typeface="Calibri"/>
              </a:rPr>
              <a:t>printer-probe style: 2 layers × 3 yaws × 2 arms.</a:t>
            </a:r>
          </a:p>
          <a:p>
            <a:pPr algn="l">
              <a:spcAft>
                <a:spcPts val="200"/>
              </a:spcAft>
            </a:pPr>
            <a:r>
              <a:rPr sz="1150" b="1" i="0">
                <a:solidFill>
                  <a:srgbClr val="0E1116"/>
                </a:solidFill>
                <a:latin typeface="Calibri"/>
              </a:rPr>
              <a:t>74 of 74 reachable cells, 0 stillness refusals</a:t>
            </a:r>
          </a:p>
          <a:p>
            <a:pPr algn="l">
              <a:spcAft>
                <a:spcPts val="900"/>
              </a:spcAft>
            </a:pPr>
            <a:r>
              <a:rPr sz="1000" b="0" i="0">
                <a:solidFill>
                  <a:srgbClr val="1B1D21"/>
                </a:solidFill>
                <a:latin typeface="Calibri"/>
              </a:rPr>
              <a:t>and the sweep records what it can reach, then replans from it.</a:t>
            </a:r>
          </a:p>
        </p:txBody>
      </p:sp>
      <p:sp>
        <p:nvSpPr>
          <p:cNvPr id="21" name="TextBox 2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earlier '−5.2 mm' surface error was surface_z reporting the plane's intercept AT THE ORIGIN, which is inside the wearer — an instrument fault, not a measurement.</a:t>
            </a:r>
          </a:p>
          <a:p>
            <a:pPr algn="l">
              <a:spcAft>
                <a:spcPts val="0"/>
              </a:spcAft>
            </a:pPr>
            <a:r>
              <a:rPr sz="850" b="0" i="0">
                <a:solidFill>
                  <a:srgbClr val="6B7280"/>
                </a:solidFill>
                <a:latin typeface="Consolas"/>
              </a:rPr>
              <a:t>source: recordings/session/20260824_190937/ ; docs/system/25_calibrate_then_plan.md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ENVIRONMENT MAPPING</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From the map to a pick</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26</a:t>
            </a:r>
          </a:p>
        </p:txBody>
      </p:sp>
      <p:sp>
        <p:nvSpPr>
          <p:cNvPr id="8" name="Rectangle 7"/>
          <p:cNvSpPr/>
          <p:nvPr/>
        </p:nvSpPr>
        <p:spPr>
          <a:xfrm>
            <a:off x="809244" y="1348740"/>
            <a:ext cx="6373367"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ssion_pick.png"/>
          <p:cNvPicPr>
            <a:picLocks noChangeAspect="1"/>
          </p:cNvPicPr>
          <p:nvPr/>
        </p:nvPicPr>
        <p:blipFill>
          <a:blip r:embed="rId2"/>
          <a:stretch>
            <a:fillRect/>
          </a:stretch>
        </p:blipFill>
        <p:spPr>
          <a:xfrm>
            <a:off x="850392" y="1389888"/>
            <a:ext cx="6291071" cy="3931920"/>
          </a:xfrm>
          <a:prstGeom prst="rect">
            <a:avLst/>
          </a:prstGeom>
        </p:spPr>
      </p:pic>
      <p:sp>
        <p:nvSpPr>
          <p:cNvPr id="10" name="TextBox 9"/>
          <p:cNvSpPr txBox="1"/>
          <p:nvPr/>
        </p:nvSpPr>
        <p:spPr>
          <a:xfrm>
            <a:off x="7790688" y="1389888"/>
            <a:ext cx="3834079" cy="4352544"/>
          </a:xfrm>
          <a:prstGeom prst="rect">
            <a:avLst/>
          </a:prstGeom>
          <a:noFill/>
        </p:spPr>
        <p:txBody>
          <a:bodyPr wrap="square" lIns="0" rIns="0" tIns="0" bIns="0" anchor="t">
            <a:spAutoFit/>
          </a:bodyPr>
          <a:lstStyle/>
          <a:p>
            <a:pPr algn="l">
              <a:spcAft>
                <a:spcPts val="200"/>
              </a:spcAft>
            </a:pPr>
            <a:r>
              <a:rPr sz="1100" b="1" i="0">
                <a:solidFill>
                  <a:srgbClr val="0E1116"/>
                </a:solidFill>
                <a:latin typeface="Calibri"/>
              </a:rPr>
              <a:t>Table found at z = 1.2485 m, tilt 0.54°</a:t>
            </a:r>
          </a:p>
          <a:p>
            <a:pPr algn="l">
              <a:spcAft>
                <a:spcPts val="900"/>
              </a:spcAft>
            </a:pPr>
            <a:r>
              <a:rPr sz="950" b="0" i="0">
                <a:solidFill>
                  <a:srgbClr val="1B1D21"/>
                </a:solidFill>
                <a:latin typeface="Calibri"/>
              </a:rPr>
              <a:t>bounds found by a coarse probe before the sweep, not typed in.</a:t>
            </a:r>
          </a:p>
          <a:p>
            <a:pPr algn="l">
              <a:spcAft>
                <a:spcPts val="200"/>
              </a:spcAft>
            </a:pPr>
            <a:r>
              <a:rPr sz="1100" b="1" i="0">
                <a:solidFill>
                  <a:srgbClr val="0E1116"/>
                </a:solidFill>
                <a:latin typeface="Calibri"/>
              </a:rPr>
              <a:t>6 objects; 4 graspable at 41 mm, 2 refused at 140 mm</a:t>
            </a:r>
          </a:p>
          <a:p>
            <a:pPr algn="l">
              <a:spcAft>
                <a:spcPts val="900"/>
              </a:spcAft>
            </a:pPr>
            <a:r>
              <a:rPr sz="950" b="0" i="0">
                <a:solidFill>
                  <a:srgbClr val="1B1D21"/>
                </a:solidFill>
                <a:latin typeface="Calibri"/>
              </a:rPr>
              <a:t>'too wide' is a named refusal — the gripper opens 85 mm.</a:t>
            </a:r>
          </a:p>
          <a:p>
            <a:pPr algn="l">
              <a:spcAft>
                <a:spcPts val="200"/>
              </a:spcAft>
            </a:pPr>
            <a:r>
              <a:rPr sz="1100" b="1" i="0">
                <a:solidFill>
                  <a:srgbClr val="0E1116"/>
                </a:solidFill>
                <a:latin typeface="Calibri"/>
              </a:rPr>
              <a:t>Approached from ABOVE</a:t>
            </a:r>
          </a:p>
          <a:p>
            <a:pPr algn="l">
              <a:spcAft>
                <a:spcPts val="900"/>
              </a:spcAft>
            </a:pPr>
            <a:r>
              <a:rPr sz="950" b="0" i="0">
                <a:solidFill>
                  <a:srgbClr val="1B1D21"/>
                </a:solidFill>
                <a:latin typeface="Calibri"/>
              </a:rPr>
              <a:t>pregrasp z 1.490 → grasp z 1.381 onto an object at z 1.282.</a:t>
            </a:r>
          </a:p>
          <a:p>
            <a:pPr algn="l">
              <a:spcAft>
                <a:spcPts val="200"/>
              </a:spcAft>
            </a:pPr>
            <a:r>
              <a:rPr sz="1100" b="1" i="0">
                <a:solidFill>
                  <a:srgbClr val="0E1116"/>
                </a:solidFill>
                <a:latin typeface="Calibri"/>
              </a:rPr>
              <a:t>765 s end to end, 55 narration sentences</a:t>
            </a:r>
          </a:p>
          <a:p>
            <a:pPr algn="l">
              <a:spcAft>
                <a:spcPts val="900"/>
              </a:spcAft>
            </a:pPr>
            <a:r>
              <a:rPr sz="950" b="0" i="0">
                <a:solidFill>
                  <a:srgbClr val="1B1D21"/>
                </a:solidFill>
                <a:latin typeface="Calibri"/>
              </a:rPr>
              <a:t>full scan, reference, pick and quick check, all exit 0.</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DEMONSTRATION, not evidence: the arm is simulated and the depth is rendered. What is real is the sweep order, the deprojection, the segmentation, the fusion, the plane fit, the IK, the approach-angle search and every refusal.</a:t>
            </a:r>
          </a:p>
          <a:p>
            <a:pPr algn="l">
              <a:spcAft>
                <a:spcPts val="0"/>
              </a:spcAft>
            </a:pPr>
            <a:r>
              <a:rPr sz="850" b="0" i="0">
                <a:solidFill>
                  <a:srgbClr val="6B7280"/>
                </a:solidFill>
                <a:latin typeface="Consolas"/>
              </a:rPr>
              <a:t>source: recordings/session/20260824_190937/summary.txt (2026-08-24)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 06</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Full autonomy: four cubes placed by colour, from a typed sentence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27</a:t>
            </a:r>
          </a:p>
        </p:txBody>
      </p:sp>
      <p:sp>
        <p:nvSpPr>
          <p:cNvPr id="8" name="Rectangle 7"/>
          <p:cNvSpPr/>
          <p:nvPr/>
        </p:nvSpPr>
        <p:spPr>
          <a:xfrm>
            <a:off x="1312164" y="1348740"/>
            <a:ext cx="6373368"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p_t1_quad.png"/>
          <p:cNvPicPr>
            <a:picLocks noChangeAspect="1"/>
          </p:cNvPicPr>
          <p:nvPr/>
        </p:nvPicPr>
        <p:blipFill>
          <a:blip r:embed="rId2"/>
          <a:stretch>
            <a:fillRect/>
          </a:stretch>
        </p:blipFill>
        <p:spPr>
          <a:xfrm>
            <a:off x="1353312" y="1389888"/>
            <a:ext cx="6291072" cy="3931920"/>
          </a:xfrm>
          <a:prstGeom prst="rect">
            <a:avLst/>
          </a:prstGeom>
        </p:spPr>
      </p:pic>
      <p:sp>
        <p:nvSpPr>
          <p:cNvPr id="10" name="TextBox 9"/>
          <p:cNvSpPr txBox="1"/>
          <p:nvPr/>
        </p:nvSpPr>
        <p:spPr>
          <a:xfrm>
            <a:off x="8796528" y="1389888"/>
            <a:ext cx="2828239" cy="4352544"/>
          </a:xfrm>
          <a:prstGeom prst="rect">
            <a:avLst/>
          </a:prstGeom>
          <a:noFill/>
        </p:spPr>
        <p:txBody>
          <a:bodyPr wrap="square" lIns="0" rIns="0" tIns="0" bIns="0" anchor="t">
            <a:spAutoFit/>
          </a:bodyPr>
          <a:lstStyle/>
          <a:p>
            <a:pPr algn="l">
              <a:spcAft>
                <a:spcPts val="200"/>
              </a:spcAft>
            </a:pPr>
            <a:r>
              <a:rPr sz="1100" b="1" i="0">
                <a:solidFill>
                  <a:srgbClr val="0E1116"/>
                </a:solidFill>
                <a:latin typeface="Calibri"/>
              </a:rPr>
              <a:t>4 grasps, 4 releases</a:t>
            </a:r>
          </a:p>
          <a:p>
            <a:pPr algn="l">
              <a:spcAft>
                <a:spcPts val="900"/>
              </a:spcAft>
            </a:pPr>
            <a:r>
              <a:rPr sz="950" b="0" i="0">
                <a:solidFill>
                  <a:srgbClr val="1B1D21"/>
                </a:solidFill>
                <a:latin typeface="Calibri"/>
              </a:rPr>
              <a:t>every cube on the pad of its own colour, started at home 0.0000 rad.</a:t>
            </a:r>
          </a:p>
          <a:p>
            <a:pPr algn="l">
              <a:spcAft>
                <a:spcPts val="200"/>
              </a:spcAft>
            </a:pPr>
            <a:r>
              <a:rPr sz="1100" b="1" i="0">
                <a:solidFill>
                  <a:srgbClr val="0E1116"/>
                </a:solidFill>
                <a:latin typeface="Calibri"/>
              </a:rPr>
              <a:t>Both arms, pads at ±0.290 m</a:t>
            </a:r>
          </a:p>
          <a:p>
            <a:pPr algn="l">
              <a:spcAft>
                <a:spcPts val="900"/>
              </a:spcAft>
            </a:pPr>
            <a:r>
              <a:rPr sz="950" b="0" i="0">
                <a:solidFill>
                  <a:srgbClr val="1B1D21"/>
                </a:solidFill>
                <a:latin typeface="Calibri"/>
              </a:rPr>
              <a:t>straddling the centreline — and neither arm can cross it, so a cube is only ever delivered to the pad on its own side.</a:t>
            </a:r>
          </a:p>
          <a:p>
            <a:pPr algn="l">
              <a:spcAft>
                <a:spcPts val="200"/>
              </a:spcAft>
            </a:pPr>
            <a:r>
              <a:rPr sz="1100" b="1" i="0">
                <a:solidFill>
                  <a:srgbClr val="0E1116"/>
                </a:solidFill>
                <a:latin typeface="Calibri"/>
              </a:rPr>
              <a:t>Each clip runs card → look → task</a:t>
            </a:r>
          </a:p>
          <a:p>
            <a:pPr algn="l">
              <a:spcAft>
                <a:spcPts val="900"/>
              </a:spcAft>
            </a:pPr>
            <a:r>
              <a:rPr sz="950" b="0" i="0">
                <a:solidFill>
                  <a:srgbClr val="1B1D21"/>
                </a:solidFill>
                <a:latin typeface="Calibri"/>
              </a:rPr>
              <a:t>the observe move is in the footage, and the card carries the sentence verbatim.</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Four synchronised RViz views of one run. The wearer, the table, the two coloured pads and the four cubes are all in the scene the planner is checked against.</a:t>
            </a:r>
          </a:p>
          <a:p>
            <a:pPr algn="l">
              <a:spcAft>
                <a:spcPts val="0"/>
              </a:spcAft>
            </a:pPr>
            <a:r>
              <a:rPr sz="850" b="0" i="0">
                <a:solidFill>
                  <a:srgbClr val="6B7280"/>
                </a:solidFill>
                <a:latin typeface="Consolas"/>
              </a:rPr>
              <a:t>source: recordings/verification/06_full_autonomy/T1/S1_both_arms_centre/rviz_quad.mp4 (2026-08-23)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 06</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Stage 2 is eight layouts, not one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28</a:t>
            </a:r>
          </a:p>
        </p:txBody>
      </p:sp>
      <p:sp>
        <p:nvSpPr>
          <p:cNvPr id="8" name="Rectangle 7"/>
          <p:cNvSpPr/>
          <p:nvPr/>
        </p:nvSpPr>
        <p:spPr>
          <a:xfrm>
            <a:off x="3052945" y="1348740"/>
            <a:ext cx="6085804"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t1_stage2_seeds.png"/>
          <p:cNvPicPr>
            <a:picLocks noChangeAspect="1"/>
          </p:cNvPicPr>
          <p:nvPr/>
        </p:nvPicPr>
        <p:blipFill>
          <a:blip r:embed="rId2"/>
          <a:stretch>
            <a:fillRect/>
          </a:stretch>
        </p:blipFill>
        <p:spPr>
          <a:xfrm>
            <a:off x="3094093" y="1389888"/>
            <a:ext cx="6003508"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Every stage-2 seed walked at N=10 over the composed path. Splits of 1/3, 2/2 and 3/1 all occur and both arms always work. The chart is flat because the result is — worst pad miss 0.01 mm across all eight — not because nothing was measured: it cost 3 464 IK calls. Seed 0 draws 2/2 and is indistinguishable from stage 1, which is why the recorded clip uses seed 3: a task that only ever demonstrates its easy case has demonstrated nothing.</a:t>
            </a:r>
          </a:p>
          <a:p>
            <a:pPr algn="l">
              <a:spcAft>
                <a:spcPts val="0"/>
              </a:spcAft>
            </a:pPr>
            <a:r>
              <a:rPr sz="850" b="0" i="0">
                <a:solidFill>
                  <a:srgbClr val="6B7280"/>
                </a:solidFill>
                <a:latin typeface="Consolas"/>
              </a:rPr>
              <a:t>source: recordings/baselines/t1_stage2_paths.json (2026-08-18)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MODE 06</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A seeded layout, and the view where a grasp is judged</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29</a:t>
            </a:r>
          </a:p>
        </p:txBody>
      </p:sp>
      <p:sp>
        <p:nvSpPr>
          <p:cNvPr id="8" name="Rectangle 7"/>
          <p:cNvSpPr/>
          <p:nvPr/>
        </p:nvSpPr>
        <p:spPr>
          <a:xfrm>
            <a:off x="525780" y="1721215"/>
            <a:ext cx="5474055" cy="345214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p_t1s2_quad.png"/>
          <p:cNvPicPr>
            <a:picLocks noChangeAspect="1"/>
          </p:cNvPicPr>
          <p:nvPr/>
        </p:nvPicPr>
        <p:blipFill>
          <a:blip r:embed="rId2"/>
          <a:stretch>
            <a:fillRect/>
          </a:stretch>
        </p:blipFill>
        <p:spPr>
          <a:xfrm>
            <a:off x="566928" y="1762363"/>
            <a:ext cx="5391759" cy="3369849"/>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T1 stage 2 — seeded layout</a:t>
            </a:r>
          </a:p>
        </p:txBody>
      </p:sp>
      <p:sp>
        <p:nvSpPr>
          <p:cNvPr id="11" name="Rectangle 10"/>
          <p:cNvSpPr/>
          <p:nvPr/>
        </p:nvSpPr>
        <p:spPr>
          <a:xfrm>
            <a:off x="6191859" y="1721215"/>
            <a:ext cx="5474055" cy="345214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ip_t1_gripper.png"/>
          <p:cNvPicPr>
            <a:picLocks noChangeAspect="1"/>
          </p:cNvPicPr>
          <p:nvPr/>
        </p:nvPicPr>
        <p:blipFill>
          <a:blip r:embed="rId3"/>
          <a:stretch>
            <a:fillRect/>
          </a:stretch>
        </p:blipFill>
        <p:spPr>
          <a:xfrm>
            <a:off x="6233007" y="1762363"/>
            <a:ext cx="5391759" cy="3369849"/>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T1 — the pads on the cube</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Stage 2 is stage 1's geometry with the side drawn at random — eight seeds walked, all clean. The gripper view exists because a grasp asserted from a joint angle is not a grasp: it has to be seen closing on the object.</a:t>
            </a:r>
          </a:p>
          <a:p>
            <a:pPr algn="l">
              <a:spcAft>
                <a:spcPts val="0"/>
              </a:spcAft>
            </a:pPr>
            <a:r>
              <a:rPr sz="850" b="0" i="0">
                <a:solidFill>
                  <a:srgbClr val="6B7280"/>
                </a:solidFill>
                <a:latin typeface="Consolas"/>
              </a:rPr>
              <a:t>source: recordings/verification/06_full_autonomy/T1S2/... and .../T1/S1_both_arms_centre/rviz_gripper.mp4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LANGUAGE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full instruction sweep, against the grammar it replaced</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30</a:t>
            </a:r>
          </a:p>
        </p:txBody>
      </p:sp>
      <p:sp>
        <p:nvSpPr>
          <p:cNvPr id="8" name="Rectangle 7"/>
          <p:cNvSpPr/>
          <p:nvPr/>
        </p:nvSpPr>
        <p:spPr>
          <a:xfrm>
            <a:off x="2994317" y="1348740"/>
            <a:ext cx="6203061"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language_sweep_75.png"/>
          <p:cNvPicPr>
            <a:picLocks noChangeAspect="1"/>
          </p:cNvPicPr>
          <p:nvPr/>
        </p:nvPicPr>
        <p:blipFill>
          <a:blip r:embed="rId2"/>
          <a:stretch>
            <a:fillRect/>
          </a:stretch>
        </p:blipFill>
        <p:spPr>
          <a:xfrm>
            <a:off x="3035465" y="1389888"/>
            <a:ext cx="6120765"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75 phrasings across 22 categories: 34 correct, 14 asked, 27 refused, 0 MISUNDERSTOOD — against 21 / 14 / 37 / 3 for the grammar it replaced, run on the same cases in its own interpreter. An utterance that moves the arm to the wrong place is the only unsafe outcome, and there are none. ASKED and REFUSED are both safe: the arm moved in neither.</a:t>
            </a:r>
          </a:p>
          <a:p>
            <a:pPr algn="l">
              <a:spcAft>
                <a:spcPts val="0"/>
              </a:spcAft>
            </a:pPr>
            <a:r>
              <a:rPr sz="850" b="0" i="0">
                <a:solidFill>
                  <a:srgbClr val="6B7280"/>
                </a:solidFill>
                <a:latin typeface="Consolas"/>
              </a:rPr>
              <a:t>source: recordings/baselines/t1_instruction_sweep.json (2026-08-18)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THE MATHEMATICS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How voice is scored — and what the score is not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31</a:t>
            </a:r>
          </a:p>
        </p:txBody>
      </p:sp>
      <p:sp>
        <p:nvSpPr>
          <p:cNvPr id="8" name="Rectangle 7"/>
          <p:cNvSpPr/>
          <p:nvPr/>
        </p:nvSpPr>
        <p:spPr>
          <a:xfrm>
            <a:off x="566928" y="1389888"/>
            <a:ext cx="41148" cy="4352544"/>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wer.png"/>
          <p:cNvPicPr>
            <a:picLocks noChangeAspect="1"/>
          </p:cNvPicPr>
          <p:nvPr/>
        </p:nvPicPr>
        <p:blipFill>
          <a:blip r:embed="rId2"/>
          <a:stretch>
            <a:fillRect/>
          </a:stretch>
        </p:blipFill>
        <p:spPr>
          <a:xfrm>
            <a:off x="1707870" y="3015767"/>
            <a:ext cx="9050274" cy="671017"/>
          </a:xfrm>
          <a:prstGeom prst="rect">
            <a:avLst/>
          </a:prstGeom>
        </p:spPr>
      </p:pic>
      <p:sp>
        <p:nvSpPr>
          <p:cNvPr id="10" name="TextBox 9"/>
          <p:cNvSpPr txBox="1"/>
          <p:nvPr/>
        </p:nvSpPr>
        <p:spPr>
          <a:xfrm>
            <a:off x="841247" y="5330952"/>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Word error rate over the 40 spoken cases, and the wake gate as an edit distance on the transcribed prefix. The threshold sweep says the shipped value of 4 is looser than the data supports; 1 is what the measurement recommends.</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A 25.2% word error rate with ZERO exact transcripts still yields a parser that misunderstands nothing, because the grounding step re-resolves against what the camera can actually see and asks when it cannot. That is the argument for scoring the PARSER separately from the transcription — and it is why no claim here is a transcription claim.</a:t>
            </a:r>
          </a:p>
          <a:p>
            <a:pPr algn="l">
              <a:spcAft>
                <a:spcPts val="0"/>
              </a:spcAft>
            </a:pPr>
            <a:r>
              <a:rPr sz="850" b="0" i="0">
                <a:solidFill>
                  <a:srgbClr val="6B7280"/>
                </a:solidFill>
                <a:latin typeface="Consolas"/>
              </a:rPr>
              <a:t>source: recordings/baselines/voice_instruction.json, wake_word.json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LANGUAGE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Voice, end to end — and why it is a parser score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32</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voice_pipeline.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Word error rate per utterance, and the wake-word threshold sweep showing the shipped threshold is looser than the data supports. The parser still returns 14 correct / 5 asked / 21 refused / 0 misunderstood THROUGH this transcription. Every number here came from SYNTHESISED audio: /dev/snd on this host has only 'timer', so no microphone can be opened, and accuracy against a real speaker is unmeasured.</a:t>
            </a:r>
          </a:p>
          <a:p>
            <a:pPr algn="l">
              <a:spcAft>
                <a:spcPts val="0"/>
              </a:spcAft>
            </a:pPr>
            <a:r>
              <a:rPr sz="850" b="0" i="0">
                <a:solidFill>
                  <a:srgbClr val="6B7280"/>
                </a:solidFill>
                <a:latin typeface="Consolas"/>
              </a:rPr>
              <a:t>source: recordings/baselines/voice_instruction.json, wake_word.json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LANGUAGE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Understanding a free-form sentence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33</a:t>
            </a:r>
          </a:p>
        </p:txBody>
      </p:sp>
      <p:sp>
        <p:nvSpPr>
          <p:cNvPr id="8" name="Rectangle 7"/>
          <p:cNvSpPr/>
          <p:nvPr/>
        </p:nvSpPr>
        <p:spPr>
          <a:xfrm>
            <a:off x="525780" y="1432544"/>
            <a:ext cx="6117336" cy="384660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nguage_outcomes.png"/>
          <p:cNvPicPr>
            <a:picLocks noChangeAspect="1"/>
          </p:cNvPicPr>
          <p:nvPr/>
        </p:nvPicPr>
        <p:blipFill>
          <a:blip r:embed="rId2"/>
          <a:stretch>
            <a:fillRect/>
          </a:stretch>
        </p:blipFill>
        <p:spPr>
          <a:xfrm>
            <a:off x="566928" y="1473692"/>
            <a:ext cx="6035040" cy="3764310"/>
          </a:xfrm>
          <a:prstGeom prst="rect">
            <a:avLst/>
          </a:prstGeom>
        </p:spPr>
      </p:pic>
      <p:sp>
        <p:nvSpPr>
          <p:cNvPr id="10" name="TextBox 9"/>
          <p:cNvSpPr txBox="1"/>
          <p:nvPr/>
        </p:nvSpPr>
        <p:spPr>
          <a:xfrm>
            <a:off x="6967728" y="1389888"/>
            <a:ext cx="4657039" cy="4352544"/>
          </a:xfrm>
          <a:prstGeom prst="rect">
            <a:avLst/>
          </a:prstGeom>
          <a:noFill/>
        </p:spPr>
        <p:txBody>
          <a:bodyPr wrap="square" lIns="0" rIns="0" tIns="0" bIns="0" anchor="t">
            <a:spAutoFit/>
          </a:bodyPr>
          <a:lstStyle/>
          <a:p>
            <a:pPr algn="l">
              <a:spcAft>
                <a:spcPts val="200"/>
              </a:spcAft>
            </a:pPr>
            <a:r>
              <a:rPr sz="1100" b="1" i="0">
                <a:solidFill>
                  <a:srgbClr val="0E1116"/>
                </a:solidFill>
                <a:latin typeface="Calibri"/>
              </a:rPr>
              <a:t>Zero MISUNDERSTOOD is the whole result</a:t>
            </a:r>
          </a:p>
          <a:p>
            <a:pPr algn="l">
              <a:spcAft>
                <a:spcPts val="900"/>
              </a:spcAft>
            </a:pPr>
            <a:r>
              <a:rPr sz="950" b="0" i="0">
                <a:solidFill>
                  <a:srgbClr val="1B1D21"/>
                </a:solidFill>
                <a:latin typeface="Calibri"/>
              </a:rPr>
              <a:t>ASKED and REFUSED are both SAFE — the arm moved in neither. The bar is drawn at zero rather than omitted, so it reads as a measured zero and not an absence.</a:t>
            </a:r>
          </a:p>
          <a:p>
            <a:pPr algn="l">
              <a:spcAft>
                <a:spcPts val="200"/>
              </a:spcAft>
            </a:pPr>
            <a:r>
              <a:rPr sz="1100" b="1" i="0">
                <a:solidFill>
                  <a:srgbClr val="0E1116"/>
                </a:solidFill>
                <a:latin typeface="Calibri"/>
              </a:rPr>
              <a:t>A wider parser sweep, 75 phrasings</a:t>
            </a:r>
          </a:p>
          <a:p>
            <a:pPr algn="l">
              <a:spcAft>
                <a:spcPts val="900"/>
              </a:spcAft>
            </a:pPr>
            <a:r>
              <a:rPr sz="950" b="0" i="0">
                <a:solidFill>
                  <a:srgbClr val="1B1D21"/>
                </a:solidFill>
                <a:latin typeface="Calibri"/>
              </a:rPr>
              <a:t>34 correct / 14 asked / 27 refused / 0 misunderstood, against 21 / 14 / 37 / 3 for the grammar it replaced, run on the same cases in its own interpreter.</a:t>
            </a:r>
          </a:p>
          <a:p>
            <a:pPr algn="l">
              <a:spcAft>
                <a:spcPts val="200"/>
              </a:spcAft>
            </a:pPr>
            <a:r>
              <a:rPr sz="1100" b="1" i="0">
                <a:solidFill>
                  <a:srgbClr val="0E1116"/>
                </a:solidFill>
                <a:latin typeface="Calibri"/>
              </a:rPr>
              <a:t>Ambiguity asks, and the ask is answerable</a:t>
            </a:r>
          </a:p>
          <a:p>
            <a:pPr algn="l">
              <a:spcAft>
                <a:spcPts val="900"/>
              </a:spcAft>
            </a:pPr>
            <a:r>
              <a:rPr sz="950" b="0" i="0">
                <a:solidFill>
                  <a:srgbClr val="1B1D21"/>
                </a:solidFill>
                <a:latin typeface="Calibri"/>
              </a:rPr>
              <a:t>10 of the 14 asks carry a scored reply; all 10 resolve correctly, and a reply is never counted as CORRECT.</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Voice is a PARSER score, never a transcription score. /dev/snd on this host has only 'timer', so no microphone can be opened and every voice figure came from synthesised audio.</a:t>
            </a:r>
          </a:p>
          <a:p>
            <a:pPr algn="l">
              <a:spcAft>
                <a:spcPts val="0"/>
              </a:spcAft>
            </a:pPr>
            <a:r>
              <a:rPr sz="850" b="0" i="0">
                <a:solidFill>
                  <a:srgbClr val="6B7280"/>
                </a:solidFill>
                <a:latin typeface="Consolas"/>
              </a:rPr>
              <a:t>source: recordings/baselines/language_vision_sweep.json (40 phrasings); scripts/sweep_t1_instructions.py (75)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31720"/>
            <a:ext cx="141732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19"/>
            <a:ext cx="548640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PART 4</a:t>
            </a:r>
          </a:p>
        </p:txBody>
      </p:sp>
      <p:sp>
        <p:nvSpPr>
          <p:cNvPr id="5" name="TextBox 4"/>
          <p:cNvSpPr txBox="1"/>
          <p:nvPr/>
        </p:nvSpPr>
        <p:spPr>
          <a:xfrm>
            <a:off x="566928" y="2606040"/>
            <a:ext cx="8863279" cy="100584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Results</a:t>
            </a:r>
          </a:p>
        </p:txBody>
      </p:sp>
      <p:sp>
        <p:nvSpPr>
          <p:cNvPr id="6" name="TextBox 5"/>
          <p:cNvSpPr txBox="1"/>
          <p:nvPr/>
        </p:nvSpPr>
        <p:spPr>
          <a:xfrm>
            <a:off x="566928" y="3794760"/>
            <a:ext cx="8131759" cy="1097280"/>
          </a:xfrm>
          <a:prstGeom prst="rect">
            <a:avLst/>
          </a:prstGeom>
          <a:noFill/>
        </p:spPr>
        <p:txBody>
          <a:bodyPr wrap="square" lIns="0" rIns="0" tIns="0" bIns="0" anchor="t">
            <a:spAutoFit/>
          </a:bodyPr>
          <a:lstStyle/>
          <a:p>
            <a:pPr algn="l">
              <a:spcAft>
                <a:spcPts val="0"/>
              </a:spcAft>
            </a:pPr>
            <a:r>
              <a:rPr sz="1350" b="0" i="0">
                <a:solidFill>
                  <a:srgbClr val="C3C9D2"/>
                </a:solidFill>
                <a:latin typeface="Calibri"/>
              </a:rPr>
              <a:t>Grasping and placement, motion generation, the VR path, and the one measurement taken on real hardware.</a:t>
            </a:r>
          </a:p>
        </p:txBody>
      </p:sp>
      <p:sp>
        <p:nvSpPr>
          <p:cNvPr id="7" name="TextBox 6"/>
          <p:cNvSpPr txBox="1"/>
          <p:nvPr/>
        </p:nvSpPr>
        <p:spPr>
          <a:xfrm>
            <a:off x="10527487" y="6455664"/>
            <a:ext cx="1097280" cy="237744"/>
          </a:xfrm>
          <a:prstGeom prst="rect">
            <a:avLst/>
          </a:prstGeom>
          <a:noFill/>
        </p:spPr>
        <p:txBody>
          <a:bodyPr wrap="square" lIns="0" rIns="0" tIns="0" bIns="0" anchor="t">
            <a:spAutoFit/>
          </a:bodyPr>
          <a:lstStyle/>
          <a:p>
            <a:pPr algn="r">
              <a:spcAft>
                <a:spcPts val="0"/>
              </a:spcAft>
            </a:pPr>
            <a:r>
              <a:rPr sz="850" b="0" i="0">
                <a:solidFill>
                  <a:srgbClr val="5B6270"/>
                </a:solidFill>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Headline results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35</a:t>
            </a:r>
          </a:p>
        </p:txBody>
      </p:sp>
      <p:sp>
        <p:nvSpPr>
          <p:cNvPr id="8" name="Rectangle 7"/>
          <p:cNvSpPr/>
          <p:nvPr/>
        </p:nvSpPr>
        <p:spPr>
          <a:xfrm>
            <a:off x="566928"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389888"/>
            <a:ext cx="50292" cy="1207008"/>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536192"/>
            <a:ext cx="2247823"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100%</a:t>
            </a:r>
          </a:p>
        </p:txBody>
      </p:sp>
      <p:sp>
        <p:nvSpPr>
          <p:cNvPr id="11" name="TextBox 10"/>
          <p:cNvSpPr txBox="1"/>
          <p:nvPr/>
        </p:nvSpPr>
        <p:spPr>
          <a:xfrm>
            <a:off x="786384"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grasp success</a:t>
            </a:r>
          </a:p>
        </p:txBody>
      </p:sp>
      <p:sp>
        <p:nvSpPr>
          <p:cNvPr id="12" name="TextBox 11"/>
          <p:cNvSpPr txBox="1"/>
          <p:nvPr/>
        </p:nvSpPr>
        <p:spPr>
          <a:xfrm>
            <a:off x="786384"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17 cells × 8 angles, all five modes (2026-08-23 clip set)</a:t>
            </a:r>
          </a:p>
        </p:txBody>
      </p:sp>
      <p:sp>
        <p:nvSpPr>
          <p:cNvPr id="13" name="Rectangle 12"/>
          <p:cNvSpPr/>
          <p:nvPr/>
        </p:nvSpPr>
        <p:spPr>
          <a:xfrm>
            <a:off x="3381679"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1679" y="1389888"/>
            <a:ext cx="50292" cy="1207008"/>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1135" y="1536192"/>
            <a:ext cx="2247823"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0.000 mm</a:t>
            </a:r>
          </a:p>
        </p:txBody>
      </p:sp>
      <p:sp>
        <p:nvSpPr>
          <p:cNvPr id="16" name="TextBox 15"/>
          <p:cNvSpPr txBox="1"/>
          <p:nvPr/>
        </p:nvSpPr>
        <p:spPr>
          <a:xfrm>
            <a:off x="3601135"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grasp positioning error</a:t>
            </a:r>
          </a:p>
        </p:txBody>
      </p:sp>
      <p:sp>
        <p:nvSpPr>
          <p:cNvPr id="17" name="TextBox 16"/>
          <p:cNvSpPr txBox="1"/>
          <p:nvPr/>
        </p:nvSpPr>
        <p:spPr>
          <a:xfrm>
            <a:off x="3601135"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against a 30 mm capture gate</a:t>
            </a:r>
          </a:p>
        </p:txBody>
      </p:sp>
      <p:sp>
        <p:nvSpPr>
          <p:cNvPr id="18" name="Rectangle 17"/>
          <p:cNvSpPr/>
          <p:nvPr/>
        </p:nvSpPr>
        <p:spPr>
          <a:xfrm>
            <a:off x="6196431"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9888"/>
            <a:ext cx="50292" cy="1207008"/>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5887" y="1536192"/>
            <a:ext cx="2247823"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56.3 mm</a:t>
            </a:r>
          </a:p>
        </p:txBody>
      </p:sp>
      <p:sp>
        <p:nvSpPr>
          <p:cNvPr id="21" name="TextBox 20"/>
          <p:cNvSpPr txBox="1"/>
          <p:nvPr/>
        </p:nvSpPr>
        <p:spPr>
          <a:xfrm>
            <a:off x="6415887"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T1 placement error</a:t>
            </a:r>
          </a:p>
        </p:txBody>
      </p:sp>
      <p:sp>
        <p:nvSpPr>
          <p:cNvPr id="22" name="TextBox 21"/>
          <p:cNvSpPr txBox="1"/>
          <p:nvPr/>
        </p:nvSpPr>
        <p:spPr>
          <a:xfrm>
            <a:off x="6415887"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down from 319.7 mm before the re-record</a:t>
            </a:r>
          </a:p>
        </p:txBody>
      </p:sp>
      <p:sp>
        <p:nvSpPr>
          <p:cNvPr id="23" name="Rectangle 22"/>
          <p:cNvSpPr/>
          <p:nvPr/>
        </p:nvSpPr>
        <p:spPr>
          <a:xfrm>
            <a:off x="9011183"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1183" y="1389888"/>
            <a:ext cx="50292" cy="1207008"/>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0639" y="1536192"/>
            <a:ext cx="2247823" cy="457200"/>
          </a:xfrm>
          <a:prstGeom prst="rect">
            <a:avLst/>
          </a:prstGeom>
          <a:noFill/>
        </p:spPr>
        <p:txBody>
          <a:bodyPr wrap="square" lIns="0" rIns="0" tIns="0" bIns="0" anchor="t">
            <a:spAutoFit/>
          </a:bodyPr>
          <a:lstStyle/>
          <a:p>
            <a:pPr algn="l">
              <a:spcAft>
                <a:spcPts val="0"/>
              </a:spcAft>
            </a:pPr>
            <a:r>
              <a:rPr sz="2500" b="1" i="0">
                <a:solidFill>
                  <a:srgbClr val="1F5FA8"/>
                </a:solidFill>
                <a:latin typeface="Calibri"/>
              </a:rPr>
              <a:t>12.91 mm</a:t>
            </a:r>
          </a:p>
        </p:txBody>
      </p:sp>
      <p:sp>
        <p:nvSpPr>
          <p:cNvPr id="26" name="TextBox 25"/>
          <p:cNvSpPr txBox="1"/>
          <p:nvPr/>
        </p:nvSpPr>
        <p:spPr>
          <a:xfrm>
            <a:off x="9230639"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control budget, RSS</a:t>
            </a:r>
          </a:p>
        </p:txBody>
      </p:sp>
      <p:sp>
        <p:nvSpPr>
          <p:cNvPr id="27" name="TextBox 26"/>
          <p:cNvSpPr txBox="1"/>
          <p:nvPr/>
        </p:nvSpPr>
        <p:spPr>
          <a:xfrm>
            <a:off x="9230639"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worst case 19.99 mm — inside the 30 mm gate for the first time</a:t>
            </a:r>
          </a:p>
        </p:txBody>
      </p:sp>
      <p:sp>
        <p:nvSpPr>
          <p:cNvPr id="28" name="Rectangle 27"/>
          <p:cNvSpPr/>
          <p:nvPr/>
        </p:nvSpPr>
        <p:spPr>
          <a:xfrm>
            <a:off x="566928" y="2779776"/>
            <a:ext cx="11073384" cy="329184"/>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2843784"/>
            <a:ext cx="2103120"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mode</a:t>
            </a:r>
          </a:p>
        </p:txBody>
      </p:sp>
      <p:sp>
        <p:nvSpPr>
          <p:cNvPr id="30" name="TextBox 29"/>
          <p:cNvSpPr txBox="1"/>
          <p:nvPr/>
        </p:nvSpPr>
        <p:spPr>
          <a:xfrm>
            <a:off x="2962656" y="2843784"/>
            <a:ext cx="1188720"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task</a:t>
            </a:r>
          </a:p>
        </p:txBody>
      </p:sp>
      <p:sp>
        <p:nvSpPr>
          <p:cNvPr id="31" name="TextBox 30"/>
          <p:cNvSpPr txBox="1"/>
          <p:nvPr/>
        </p:nvSpPr>
        <p:spPr>
          <a:xfrm>
            <a:off x="4334256" y="2843784"/>
            <a:ext cx="640080"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n</a:t>
            </a:r>
          </a:p>
        </p:txBody>
      </p:sp>
      <p:sp>
        <p:nvSpPr>
          <p:cNvPr id="32" name="TextBox 31"/>
          <p:cNvSpPr txBox="1"/>
          <p:nvPr/>
        </p:nvSpPr>
        <p:spPr>
          <a:xfrm>
            <a:off x="5157216" y="2843784"/>
            <a:ext cx="1188720"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grasped</a:t>
            </a:r>
          </a:p>
        </p:txBody>
      </p:sp>
      <p:sp>
        <p:nvSpPr>
          <p:cNvPr id="33" name="TextBox 32"/>
          <p:cNvSpPr txBox="1"/>
          <p:nvPr/>
        </p:nvSpPr>
        <p:spPr>
          <a:xfrm>
            <a:off x="6528816" y="2843784"/>
            <a:ext cx="2011679"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positioning</a:t>
            </a:r>
          </a:p>
        </p:txBody>
      </p:sp>
      <p:sp>
        <p:nvSpPr>
          <p:cNvPr id="34" name="TextBox 33"/>
          <p:cNvSpPr txBox="1"/>
          <p:nvPr/>
        </p:nvSpPr>
        <p:spPr>
          <a:xfrm>
            <a:off x="8723376" y="2843784"/>
            <a:ext cx="2843784" cy="237744"/>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placement</a:t>
            </a:r>
          </a:p>
        </p:txBody>
      </p:sp>
      <p:sp>
        <p:nvSpPr>
          <p:cNvPr id="35" name="Rectangle 34"/>
          <p:cNvSpPr/>
          <p:nvPr/>
        </p:nvSpPr>
        <p:spPr>
          <a:xfrm>
            <a:off x="566928" y="3108960"/>
            <a:ext cx="11073384" cy="3291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3159252"/>
            <a:ext cx="2103120" cy="329184"/>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01 master</a:t>
            </a:r>
          </a:p>
        </p:txBody>
      </p:sp>
      <p:sp>
        <p:nvSpPr>
          <p:cNvPr id="37" name="TextBox 36"/>
          <p:cNvSpPr txBox="1"/>
          <p:nvPr/>
        </p:nvSpPr>
        <p:spPr>
          <a:xfrm>
            <a:off x="2962656" y="3159252"/>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T3</a:t>
            </a:r>
          </a:p>
        </p:txBody>
      </p:sp>
      <p:sp>
        <p:nvSpPr>
          <p:cNvPr id="38" name="TextBox 37"/>
          <p:cNvSpPr txBox="1"/>
          <p:nvPr/>
        </p:nvSpPr>
        <p:spPr>
          <a:xfrm>
            <a:off x="4334256" y="3159252"/>
            <a:ext cx="64008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a:t>
            </a:r>
          </a:p>
        </p:txBody>
      </p:sp>
      <p:sp>
        <p:nvSpPr>
          <p:cNvPr id="39" name="TextBox 38"/>
          <p:cNvSpPr txBox="1"/>
          <p:nvPr/>
        </p:nvSpPr>
        <p:spPr>
          <a:xfrm>
            <a:off x="5157216" y="3159252"/>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 / 2</a:t>
            </a:r>
          </a:p>
        </p:txBody>
      </p:sp>
      <p:sp>
        <p:nvSpPr>
          <p:cNvPr id="40" name="TextBox 39"/>
          <p:cNvSpPr txBox="1"/>
          <p:nvPr/>
        </p:nvSpPr>
        <p:spPr>
          <a:xfrm>
            <a:off x="6528816" y="3159252"/>
            <a:ext cx="2011679"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0.00 mm</a:t>
            </a:r>
          </a:p>
        </p:txBody>
      </p:sp>
      <p:sp>
        <p:nvSpPr>
          <p:cNvPr id="41" name="TextBox 40"/>
          <p:cNvSpPr txBox="1"/>
          <p:nvPr/>
        </p:nvSpPr>
        <p:spPr>
          <a:xfrm>
            <a:off x="8723376" y="3159252"/>
            <a:ext cx="2843784"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a:t>
            </a:r>
          </a:p>
        </p:txBody>
      </p:sp>
      <p:sp>
        <p:nvSpPr>
          <p:cNvPr id="42" name="TextBox 41"/>
          <p:cNvSpPr txBox="1"/>
          <p:nvPr/>
        </p:nvSpPr>
        <p:spPr>
          <a:xfrm>
            <a:off x="676656" y="3488436"/>
            <a:ext cx="2103120" cy="329184"/>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02 VR</a:t>
            </a:r>
          </a:p>
        </p:txBody>
      </p:sp>
      <p:sp>
        <p:nvSpPr>
          <p:cNvPr id="43" name="TextBox 42"/>
          <p:cNvSpPr txBox="1"/>
          <p:nvPr/>
        </p:nvSpPr>
        <p:spPr>
          <a:xfrm>
            <a:off x="2962656" y="3488436"/>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T3</a:t>
            </a:r>
          </a:p>
        </p:txBody>
      </p:sp>
      <p:sp>
        <p:nvSpPr>
          <p:cNvPr id="44" name="TextBox 43"/>
          <p:cNvSpPr txBox="1"/>
          <p:nvPr/>
        </p:nvSpPr>
        <p:spPr>
          <a:xfrm>
            <a:off x="4334256" y="3488436"/>
            <a:ext cx="64008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a:t>
            </a:r>
          </a:p>
        </p:txBody>
      </p:sp>
      <p:sp>
        <p:nvSpPr>
          <p:cNvPr id="45" name="TextBox 44"/>
          <p:cNvSpPr txBox="1"/>
          <p:nvPr/>
        </p:nvSpPr>
        <p:spPr>
          <a:xfrm>
            <a:off x="5157216" y="3488436"/>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 / 2</a:t>
            </a:r>
          </a:p>
        </p:txBody>
      </p:sp>
      <p:sp>
        <p:nvSpPr>
          <p:cNvPr id="46" name="TextBox 45"/>
          <p:cNvSpPr txBox="1"/>
          <p:nvPr/>
        </p:nvSpPr>
        <p:spPr>
          <a:xfrm>
            <a:off x="6528816" y="3488436"/>
            <a:ext cx="2011679"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0.00 mm</a:t>
            </a:r>
          </a:p>
        </p:txBody>
      </p:sp>
      <p:sp>
        <p:nvSpPr>
          <p:cNvPr id="47" name="TextBox 46"/>
          <p:cNvSpPr txBox="1"/>
          <p:nvPr/>
        </p:nvSpPr>
        <p:spPr>
          <a:xfrm>
            <a:off x="8723376" y="3488436"/>
            <a:ext cx="2843784"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a:t>
            </a:r>
          </a:p>
        </p:txBody>
      </p:sp>
      <p:sp>
        <p:nvSpPr>
          <p:cNvPr id="48" name="Rectangle 47"/>
          <p:cNvSpPr/>
          <p:nvPr/>
        </p:nvSpPr>
        <p:spPr>
          <a:xfrm>
            <a:off x="566928" y="3767328"/>
            <a:ext cx="11073384" cy="3291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6656" y="3817620"/>
            <a:ext cx="2103120" cy="329184"/>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03 shared</a:t>
            </a:r>
          </a:p>
        </p:txBody>
      </p:sp>
      <p:sp>
        <p:nvSpPr>
          <p:cNvPr id="50" name="TextBox 49"/>
          <p:cNvSpPr txBox="1"/>
          <p:nvPr/>
        </p:nvSpPr>
        <p:spPr>
          <a:xfrm>
            <a:off x="2962656" y="3817620"/>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T3</a:t>
            </a:r>
          </a:p>
        </p:txBody>
      </p:sp>
      <p:sp>
        <p:nvSpPr>
          <p:cNvPr id="51" name="TextBox 50"/>
          <p:cNvSpPr txBox="1"/>
          <p:nvPr/>
        </p:nvSpPr>
        <p:spPr>
          <a:xfrm>
            <a:off x="4334256" y="3817620"/>
            <a:ext cx="64008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a:t>
            </a:r>
          </a:p>
        </p:txBody>
      </p:sp>
      <p:sp>
        <p:nvSpPr>
          <p:cNvPr id="52" name="TextBox 51"/>
          <p:cNvSpPr txBox="1"/>
          <p:nvPr/>
        </p:nvSpPr>
        <p:spPr>
          <a:xfrm>
            <a:off x="5157216" y="3817620"/>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 / 2</a:t>
            </a:r>
          </a:p>
        </p:txBody>
      </p:sp>
      <p:sp>
        <p:nvSpPr>
          <p:cNvPr id="53" name="TextBox 52"/>
          <p:cNvSpPr txBox="1"/>
          <p:nvPr/>
        </p:nvSpPr>
        <p:spPr>
          <a:xfrm>
            <a:off x="6528816" y="3817620"/>
            <a:ext cx="2011679"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0.00 mm</a:t>
            </a:r>
          </a:p>
        </p:txBody>
      </p:sp>
      <p:sp>
        <p:nvSpPr>
          <p:cNvPr id="54" name="TextBox 53"/>
          <p:cNvSpPr txBox="1"/>
          <p:nvPr/>
        </p:nvSpPr>
        <p:spPr>
          <a:xfrm>
            <a:off x="8723376" y="3817620"/>
            <a:ext cx="2843784"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a:t>
            </a:r>
          </a:p>
        </p:txBody>
      </p:sp>
      <p:sp>
        <p:nvSpPr>
          <p:cNvPr id="55" name="TextBox 54"/>
          <p:cNvSpPr txBox="1"/>
          <p:nvPr/>
        </p:nvSpPr>
        <p:spPr>
          <a:xfrm>
            <a:off x="676656" y="4146804"/>
            <a:ext cx="2103120" cy="329184"/>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04 VR + shared</a:t>
            </a:r>
          </a:p>
        </p:txBody>
      </p:sp>
      <p:sp>
        <p:nvSpPr>
          <p:cNvPr id="56" name="TextBox 55"/>
          <p:cNvSpPr txBox="1"/>
          <p:nvPr/>
        </p:nvSpPr>
        <p:spPr>
          <a:xfrm>
            <a:off x="2962656" y="4146804"/>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T3</a:t>
            </a:r>
          </a:p>
        </p:txBody>
      </p:sp>
      <p:sp>
        <p:nvSpPr>
          <p:cNvPr id="57" name="TextBox 56"/>
          <p:cNvSpPr txBox="1"/>
          <p:nvPr/>
        </p:nvSpPr>
        <p:spPr>
          <a:xfrm>
            <a:off x="4334256" y="4146804"/>
            <a:ext cx="64008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a:t>
            </a:r>
          </a:p>
        </p:txBody>
      </p:sp>
      <p:sp>
        <p:nvSpPr>
          <p:cNvPr id="58" name="TextBox 57"/>
          <p:cNvSpPr txBox="1"/>
          <p:nvPr/>
        </p:nvSpPr>
        <p:spPr>
          <a:xfrm>
            <a:off x="5157216" y="4146804"/>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2 / 2</a:t>
            </a:r>
          </a:p>
        </p:txBody>
      </p:sp>
      <p:sp>
        <p:nvSpPr>
          <p:cNvPr id="59" name="TextBox 58"/>
          <p:cNvSpPr txBox="1"/>
          <p:nvPr/>
        </p:nvSpPr>
        <p:spPr>
          <a:xfrm>
            <a:off x="6528816" y="4146804"/>
            <a:ext cx="2011679"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0.00 mm</a:t>
            </a:r>
          </a:p>
        </p:txBody>
      </p:sp>
      <p:sp>
        <p:nvSpPr>
          <p:cNvPr id="60" name="TextBox 59"/>
          <p:cNvSpPr txBox="1"/>
          <p:nvPr/>
        </p:nvSpPr>
        <p:spPr>
          <a:xfrm>
            <a:off x="8723376" y="4146804"/>
            <a:ext cx="2843784"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a:t>
            </a:r>
          </a:p>
        </p:txBody>
      </p:sp>
      <p:sp>
        <p:nvSpPr>
          <p:cNvPr id="61" name="Rectangle 60"/>
          <p:cNvSpPr/>
          <p:nvPr/>
        </p:nvSpPr>
        <p:spPr>
          <a:xfrm>
            <a:off x="566928" y="4425696"/>
            <a:ext cx="11073384" cy="32918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6656" y="4475988"/>
            <a:ext cx="2103120" cy="329184"/>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06 autonomy</a:t>
            </a:r>
          </a:p>
        </p:txBody>
      </p:sp>
      <p:sp>
        <p:nvSpPr>
          <p:cNvPr id="63" name="TextBox 62"/>
          <p:cNvSpPr txBox="1"/>
          <p:nvPr/>
        </p:nvSpPr>
        <p:spPr>
          <a:xfrm>
            <a:off x="2962656" y="4475988"/>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T1</a:t>
            </a:r>
          </a:p>
        </p:txBody>
      </p:sp>
      <p:sp>
        <p:nvSpPr>
          <p:cNvPr id="64" name="TextBox 63"/>
          <p:cNvSpPr txBox="1"/>
          <p:nvPr/>
        </p:nvSpPr>
        <p:spPr>
          <a:xfrm>
            <a:off x="4334256" y="4475988"/>
            <a:ext cx="64008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4</a:t>
            </a:r>
          </a:p>
        </p:txBody>
      </p:sp>
      <p:sp>
        <p:nvSpPr>
          <p:cNvPr id="65" name="TextBox 64"/>
          <p:cNvSpPr txBox="1"/>
          <p:nvPr/>
        </p:nvSpPr>
        <p:spPr>
          <a:xfrm>
            <a:off x="5157216" y="4475988"/>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4 / 4</a:t>
            </a:r>
          </a:p>
        </p:txBody>
      </p:sp>
      <p:sp>
        <p:nvSpPr>
          <p:cNvPr id="66" name="TextBox 65"/>
          <p:cNvSpPr txBox="1"/>
          <p:nvPr/>
        </p:nvSpPr>
        <p:spPr>
          <a:xfrm>
            <a:off x="6528816" y="4475988"/>
            <a:ext cx="2011679"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0.00 mm</a:t>
            </a:r>
          </a:p>
        </p:txBody>
      </p:sp>
      <p:sp>
        <p:nvSpPr>
          <p:cNvPr id="67" name="TextBox 66"/>
          <p:cNvSpPr txBox="1"/>
          <p:nvPr/>
        </p:nvSpPr>
        <p:spPr>
          <a:xfrm>
            <a:off x="8723376" y="4475988"/>
            <a:ext cx="2843784"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55.5 – 56.9 mm</a:t>
            </a:r>
          </a:p>
        </p:txBody>
      </p:sp>
      <p:sp>
        <p:nvSpPr>
          <p:cNvPr id="68" name="TextBox 67"/>
          <p:cNvSpPr txBox="1"/>
          <p:nvPr/>
        </p:nvSpPr>
        <p:spPr>
          <a:xfrm>
            <a:off x="676656" y="4805172"/>
            <a:ext cx="2103120" cy="329184"/>
          </a:xfrm>
          <a:prstGeom prst="rect">
            <a:avLst/>
          </a:prstGeom>
          <a:noFill/>
        </p:spPr>
        <p:txBody>
          <a:bodyPr wrap="square" lIns="0" rIns="0" tIns="0" bIns="0" anchor="t">
            <a:spAutoFit/>
          </a:bodyPr>
          <a:lstStyle/>
          <a:p>
            <a:pPr algn="l">
              <a:spcAft>
                <a:spcPts val="0"/>
              </a:spcAft>
            </a:pPr>
            <a:r>
              <a:rPr sz="1100" b="1" i="0">
                <a:solidFill>
                  <a:srgbClr val="1B1D21"/>
                </a:solidFill>
                <a:latin typeface="Calibri"/>
              </a:rPr>
              <a:t>06 autonomy</a:t>
            </a:r>
          </a:p>
        </p:txBody>
      </p:sp>
      <p:sp>
        <p:nvSpPr>
          <p:cNvPr id="69" name="TextBox 68"/>
          <p:cNvSpPr txBox="1"/>
          <p:nvPr/>
        </p:nvSpPr>
        <p:spPr>
          <a:xfrm>
            <a:off x="2962656" y="4805172"/>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T1S2</a:t>
            </a:r>
          </a:p>
        </p:txBody>
      </p:sp>
      <p:sp>
        <p:nvSpPr>
          <p:cNvPr id="70" name="TextBox 69"/>
          <p:cNvSpPr txBox="1"/>
          <p:nvPr/>
        </p:nvSpPr>
        <p:spPr>
          <a:xfrm>
            <a:off x="4334256" y="4805172"/>
            <a:ext cx="64008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4</a:t>
            </a:r>
          </a:p>
        </p:txBody>
      </p:sp>
      <p:sp>
        <p:nvSpPr>
          <p:cNvPr id="71" name="TextBox 70"/>
          <p:cNvSpPr txBox="1"/>
          <p:nvPr/>
        </p:nvSpPr>
        <p:spPr>
          <a:xfrm>
            <a:off x="5157216" y="4805172"/>
            <a:ext cx="1188720"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4 / 4</a:t>
            </a:r>
          </a:p>
        </p:txBody>
      </p:sp>
      <p:sp>
        <p:nvSpPr>
          <p:cNvPr id="72" name="TextBox 71"/>
          <p:cNvSpPr txBox="1"/>
          <p:nvPr/>
        </p:nvSpPr>
        <p:spPr>
          <a:xfrm>
            <a:off x="6528816" y="4805172"/>
            <a:ext cx="2011679"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onsolas"/>
              </a:rPr>
              <a:t>0.00 mm</a:t>
            </a:r>
          </a:p>
        </p:txBody>
      </p:sp>
      <p:sp>
        <p:nvSpPr>
          <p:cNvPr id="73" name="TextBox 72"/>
          <p:cNvSpPr txBox="1"/>
          <p:nvPr/>
        </p:nvSpPr>
        <p:spPr>
          <a:xfrm>
            <a:off x="8723376" y="4805172"/>
            <a:ext cx="2843784" cy="329184"/>
          </a:xfrm>
          <a:prstGeom prst="rect">
            <a:avLst/>
          </a:prstGeom>
          <a:noFill/>
        </p:spPr>
        <p:txBody>
          <a:bodyPr wrap="square" lIns="0" rIns="0" tIns="0" bIns="0" anchor="t">
            <a:spAutoFit/>
          </a:bodyPr>
          <a:lstStyle/>
          <a:p>
            <a:pPr algn="l">
              <a:spcAft>
                <a:spcPts val="0"/>
              </a:spcAft>
            </a:pPr>
            <a:r>
              <a:rPr sz="1100" b="0" i="0">
                <a:solidFill>
                  <a:srgbClr val="1B1D21"/>
                </a:solidFill>
                <a:latin typeface="Calibri"/>
              </a:rPr>
              <a:t>—</a:t>
            </a:r>
          </a:p>
        </p:txBody>
      </p:sp>
      <p:sp>
        <p:nvSpPr>
          <p:cNvPr id="74" name="TextBox 73"/>
          <p:cNvSpPr txBox="1"/>
          <p:nvPr/>
        </p:nvSpPr>
        <p:spPr>
          <a:xfrm>
            <a:off x="566928" y="6016752"/>
            <a:ext cx="11057839" cy="795527"/>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T1 and T1S2 run under mode 06 only; T0 and the dance routines grasp nothing by design. Reading a by-design absence as a gap has been an instrument fault here three times.</a:t>
            </a:r>
          </a:p>
          <a:p>
            <a:pPr algn="l">
              <a:spcAft>
                <a:spcPts val="0"/>
              </a:spcAft>
            </a:pPr>
            <a:r>
              <a:rPr sz="850" b="0" i="0">
                <a:solidFill>
                  <a:srgbClr val="6B7280"/>
                </a:solidFill>
                <a:latin typeface="Consolas"/>
              </a:rPr>
              <a:t>source: recordings/verification/accuracy_table.json (2026-08-24)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GRASPING</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pad midpoint is a curve, not a constant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36</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pad_offset_curve.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Robotiq's fingers swing on a four-bar, so wrist-to-pad changes with the opening: 98.33 mm wide open, 110.98 mm on a 40 mm cube. BOTH numbers this project argued about are points on this curve — the '13.47 mm too long' and T1's '11.43 mm short' were comparing two different gripper states, which is why the evidence flipped depending on what opening the simulator had been left at.</a:t>
            </a:r>
          </a:p>
          <a:p>
            <a:pPr algn="l">
              <a:spcAft>
                <a:spcPts val="0"/>
              </a:spcAft>
            </a:pPr>
            <a:r>
              <a:rPr sz="850" b="0" i="0">
                <a:solidFill>
                  <a:srgbClr val="6B7280"/>
                </a:solidFill>
                <a:latin typeface="Consolas"/>
              </a:rPr>
              <a:t>source: recordings/baselines/pad_mid_ee_by_width.json (2026-08-23)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GRASPING</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Picking from the measured map: whose error is it?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37</a:t>
            </a:r>
          </a:p>
        </p:txBody>
      </p:sp>
      <p:sp>
        <p:nvSpPr>
          <p:cNvPr id="8" name="Rectangle 7"/>
          <p:cNvSpPr/>
          <p:nvPr/>
        </p:nvSpPr>
        <p:spPr>
          <a:xfrm>
            <a:off x="1473074" y="1348740"/>
            <a:ext cx="9245546"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pick_accuracy.png"/>
          <p:cNvPicPr>
            <a:picLocks noChangeAspect="1"/>
          </p:cNvPicPr>
          <p:nvPr/>
        </p:nvPicPr>
        <p:blipFill>
          <a:blip r:embed="rId2"/>
          <a:stretch>
            <a:fillRect/>
          </a:stretch>
        </p:blipFill>
        <p:spPr>
          <a:xfrm>
            <a:off x="1514222" y="1389888"/>
            <a:ext cx="9163250"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Pad miss against belief error for every pick planned from the measured world map. The points sit on the diagonal: wherever the pipeline believes the object is, the arm puts the pads there. That localises the remaining error in PERCEPTION rather than in the kinematics — and is why the unmeasured camera extrinsic is the most expensive thing outstanding.</a:t>
            </a:r>
          </a:p>
          <a:p>
            <a:pPr algn="l">
              <a:spcAft>
                <a:spcPts val="0"/>
              </a:spcAft>
            </a:pPr>
            <a:r>
              <a:rPr sz="850" b="0" i="0">
                <a:solidFill>
                  <a:srgbClr val="6B7280"/>
                </a:solidFill>
                <a:latin typeface="Consolas"/>
              </a:rPr>
              <a:t>source: recordings/baselines/pick_accuracy.json (2026-08-24)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Grasp success and positioning error, per mode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38</a:t>
            </a:r>
          </a:p>
        </p:txBody>
      </p:sp>
      <p:sp>
        <p:nvSpPr>
          <p:cNvPr id="8" name="Rectangle 7"/>
          <p:cNvSpPr/>
          <p:nvPr/>
        </p:nvSpPr>
        <p:spPr>
          <a:xfrm>
            <a:off x="525780" y="2173737"/>
            <a:ext cx="5474055" cy="254710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grasp_matrix.png"/>
          <p:cNvPicPr>
            <a:picLocks noChangeAspect="1"/>
          </p:cNvPicPr>
          <p:nvPr/>
        </p:nvPicPr>
        <p:blipFill>
          <a:blip r:embed="rId2"/>
          <a:stretch>
            <a:fillRect/>
          </a:stretch>
        </p:blipFill>
        <p:spPr>
          <a:xfrm>
            <a:off x="566928" y="2214885"/>
            <a:ext cx="5391759" cy="2464804"/>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grasp success, mode × task</a:t>
            </a:r>
          </a:p>
        </p:txBody>
      </p:sp>
      <p:sp>
        <p:nvSpPr>
          <p:cNvPr id="11" name="Rectangle 10"/>
          <p:cNvSpPr/>
          <p:nvPr/>
        </p:nvSpPr>
        <p:spPr>
          <a:xfrm>
            <a:off x="6191859" y="1369253"/>
            <a:ext cx="5474055" cy="4156069"/>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s_accuracy_per_mode.png"/>
          <p:cNvPicPr>
            <a:picLocks noChangeAspect="1"/>
          </p:cNvPicPr>
          <p:nvPr/>
        </p:nvPicPr>
        <p:blipFill>
          <a:blip r:embed="rId3"/>
          <a:stretch>
            <a:fillRect/>
          </a:stretch>
        </p:blipFill>
        <p:spPr>
          <a:xfrm>
            <a:off x="6233007" y="1410401"/>
            <a:ext cx="5391759" cy="4073773"/>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positioning and placement error</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Accuracy is TIED across all five modes on this clip set. That is the honest answer to 'is VR the most accurate mode': it is not distinguishable here, and this set PREDATES the 2026-08-26 VR smoothing.</a:t>
            </a:r>
          </a:p>
          <a:p>
            <a:pPr algn="l">
              <a:spcAft>
                <a:spcPts val="0"/>
              </a:spcAft>
            </a:pPr>
            <a:r>
              <a:rPr sz="850" b="0" i="0">
                <a:solidFill>
                  <a:srgbClr val="6B7280"/>
                </a:solidFill>
                <a:latin typeface="Consolas"/>
              </a:rPr>
              <a:t>source: recordings/verification/accuracy_table.json → recordings/analysis/ (2026-08-24)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same waypoints, different travel</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39</a:t>
            </a:r>
          </a:p>
        </p:txBody>
      </p:sp>
      <p:sp>
        <p:nvSpPr>
          <p:cNvPr id="8" name="Rectangle 7"/>
          <p:cNvSpPr/>
          <p:nvPr/>
        </p:nvSpPr>
        <p:spPr>
          <a:xfrm>
            <a:off x="4715455" y="1348740"/>
            <a:ext cx="2760784"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mode_path_lengths.png"/>
          <p:cNvPicPr>
            <a:picLocks noChangeAspect="1"/>
          </p:cNvPicPr>
          <p:nvPr/>
        </p:nvPicPr>
        <p:blipFill>
          <a:blip r:embed="rId2"/>
          <a:stretch>
            <a:fillRect/>
          </a:stretch>
        </p:blipFill>
        <p:spPr>
          <a:xfrm>
            <a:off x="4756603" y="1389888"/>
            <a:ext cx="2678488"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task layer commands identical waypoints under every mode — run_abc builds them with no mode argument. The robot does not perform identically: T0's left path is 1.407 m under mode 01 against 2.034 m under mode 03, measured with no operator present.</a:t>
            </a:r>
          </a:p>
          <a:p>
            <a:pPr algn="l">
              <a:spcAft>
                <a:spcPts val="0"/>
              </a:spcAft>
            </a:pPr>
            <a:r>
              <a:rPr sz="850" b="0" i="0">
                <a:solidFill>
                  <a:srgbClr val="6B7280"/>
                </a:solidFill>
                <a:latin typeface="Consolas"/>
              </a:rPr>
              <a:t>source: recordings/baselines/mode_difference.json (2026-08-15)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BUDGET</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positioning budget, term by term</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40</a:t>
            </a:r>
          </a:p>
        </p:txBody>
      </p:sp>
      <p:sp>
        <p:nvSpPr>
          <p:cNvPr id="8" name="Rectangle 7"/>
          <p:cNvSpPr/>
          <p:nvPr/>
        </p:nvSpPr>
        <p:spPr>
          <a:xfrm>
            <a:off x="1391259" y="1348740"/>
            <a:ext cx="9409176"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control_budget.png"/>
          <p:cNvPicPr>
            <a:picLocks noChangeAspect="1"/>
          </p:cNvPicPr>
          <p:nvPr/>
        </p:nvPicPr>
        <p:blipFill>
          <a:blip r:embed="rId2"/>
          <a:stretch>
            <a:fillRect/>
          </a:stretch>
        </p:blipFill>
        <p:spPr>
          <a:xfrm>
            <a:off x="1432407" y="1389888"/>
            <a:ext cx="9326880"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Systematic terms separated from random ones, because only the systematic ones can be calibrated away, and the two alternatives hatched so the column cannot be summed by mistake. RSS 12.91 mm against a 30 mm capture gate. The largest term left is not on the chart at all: the camera frame against the physical module has never been measured.</a:t>
            </a:r>
          </a:p>
          <a:p>
            <a:pPr algn="l">
              <a:spcAft>
                <a:spcPts val="0"/>
              </a:spcAft>
            </a:pPr>
            <a:r>
              <a:rPr sz="850" b="0" i="0">
                <a:solidFill>
                  <a:srgbClr val="6B7280"/>
                </a:solidFill>
                <a:latin typeface="Consolas"/>
              </a:rPr>
              <a:t>source: recordings/baselines/control_budget.json (2026-08-23)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SAFETY</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reaction budget: how far the arm gets before anyone can stop it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41</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reaction_budget.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Latency, and what that latency costs against the 150 mm clearance floor. A deliberate reach at its worst consumes 562% of the floor; a startle or flinch, 1499%. This is the argument for the floor being 150 mm and for the observer e-stop being a person watching the wearer rather than the screen — no software gate closes this gap.</a:t>
            </a:r>
          </a:p>
          <a:p>
            <a:pPr algn="l">
              <a:spcAft>
                <a:spcPts val="0"/>
              </a:spcAft>
            </a:pPr>
            <a:r>
              <a:rPr sz="850" b="0" i="0">
                <a:solidFill>
                  <a:srgbClr val="6B7280"/>
                </a:solidFill>
                <a:latin typeface="Consolas"/>
              </a:rPr>
              <a:t>source: recordings/baselines/control_budget.json (2026-08-23)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THE MATHEMATICS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the motion generator is actually constrained by</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42</a:t>
            </a:r>
          </a:p>
        </p:txBody>
      </p:sp>
      <p:sp>
        <p:nvSpPr>
          <p:cNvPr id="8" name="Rectangle 7"/>
          <p:cNvSpPr/>
          <p:nvPr/>
        </p:nvSpPr>
        <p:spPr>
          <a:xfrm>
            <a:off x="566928" y="1389888"/>
            <a:ext cx="41148" cy="4352544"/>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ruckig.png"/>
          <p:cNvPicPr>
            <a:picLocks noChangeAspect="1"/>
          </p:cNvPicPr>
          <p:nvPr/>
        </p:nvPicPr>
        <p:blipFill>
          <a:blip r:embed="rId2"/>
          <a:stretch>
            <a:fillRect/>
          </a:stretch>
        </p:blipFill>
        <p:spPr>
          <a:xfrm>
            <a:off x="3467176" y="2649245"/>
            <a:ext cx="5531662" cy="1404061"/>
          </a:xfrm>
          <a:prstGeom prst="rect">
            <a:avLst/>
          </a:prstGeom>
        </p:spPr>
      </p:pic>
      <p:sp>
        <p:nvSpPr>
          <p:cNvPr id="10" name="TextBox 9"/>
          <p:cNvSpPr txBox="1"/>
          <p:nvPr/>
        </p:nvSpPr>
        <p:spPr>
          <a:xfrm>
            <a:off x="841247" y="5330952"/>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The legacy generator clamped each joint independently, so seven joints arrived at seven different times and the hand left the line the IK implies by 51.3 mm. Ruckig is jerk-limited and phase-synchronised: every joint is given the same duration, so they arrive together.</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velocity limits are the robot's own, read from joint_limits.yaml — which the legacy generator never opened, commanding 17.5 rad/s against a 1.3963 limit. Acceleration and jerk are ASSUMED and labelled as such, because that file declares has_acceleration_limits: false for all fourteen joints.</a:t>
            </a:r>
          </a:p>
          <a:p>
            <a:pPr algn="l">
              <a:spcAft>
                <a:spcPts val="0"/>
              </a:spcAft>
            </a:pPr>
            <a:r>
              <a:rPr sz="850" b="0" i="0">
                <a:solidFill>
                  <a:srgbClr val="6B7280"/>
                </a:solidFill>
                <a:latin typeface="Consolas"/>
              </a:rPr>
              <a:t>source: srl_teleop motion generator; config/joint_limits.yaml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MOTION</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Motion generation: a per-joint clamp replaced by Ruckig</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43</a:t>
            </a:r>
          </a:p>
        </p:txBody>
      </p:sp>
      <p:sp>
        <p:nvSpPr>
          <p:cNvPr id="8" name="Rectangle 7"/>
          <p:cNvSpPr/>
          <p:nvPr/>
        </p:nvSpPr>
        <p:spPr>
          <a:xfrm>
            <a:off x="2126669" y="1348740"/>
            <a:ext cx="3829956"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teleop_motion_generator.png"/>
          <p:cNvPicPr>
            <a:picLocks noChangeAspect="1"/>
          </p:cNvPicPr>
          <p:nvPr/>
        </p:nvPicPr>
        <p:blipFill>
          <a:blip r:embed="rId2"/>
          <a:stretch>
            <a:fillRect/>
          </a:stretch>
        </p:blipFill>
        <p:spPr>
          <a:xfrm>
            <a:off x="2167817" y="1389888"/>
            <a:ext cx="3747660" cy="3931920"/>
          </a:xfrm>
          <a:prstGeom prst="rect">
            <a:avLst/>
          </a:prstGeom>
        </p:spPr>
      </p:pic>
      <p:sp>
        <p:nvSpPr>
          <p:cNvPr id="10" name="Rectangle 9"/>
          <p:cNvSpPr/>
          <p:nvPr/>
        </p:nvSpPr>
        <p:spPr>
          <a:xfrm>
            <a:off x="7882127" y="1389888"/>
            <a:ext cx="3742639"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82127" y="1389888"/>
            <a:ext cx="50292" cy="1188720"/>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1583" y="1536192"/>
            <a:ext cx="3376879"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51.3 → 0.0</a:t>
            </a:r>
          </a:p>
        </p:txBody>
      </p:sp>
      <p:sp>
        <p:nvSpPr>
          <p:cNvPr id="13" name="TextBox 12"/>
          <p:cNvSpPr txBox="1"/>
          <p:nvPr/>
        </p:nvSpPr>
        <p:spPr>
          <a:xfrm>
            <a:off x="8101583" y="1993392"/>
            <a:ext cx="3376879"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off-path excursion, mm</a:t>
            </a:r>
          </a:p>
        </p:txBody>
      </p:sp>
      <p:sp>
        <p:nvSpPr>
          <p:cNvPr id="14" name="TextBox 13"/>
          <p:cNvSpPr txBox="1"/>
          <p:nvPr/>
        </p:nvSpPr>
        <p:spPr>
          <a:xfrm>
            <a:off x="8101583" y="2240280"/>
            <a:ext cx="3376879"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left arm; right 39.2 → 0.0, against a 30 mm gate</a:t>
            </a:r>
          </a:p>
        </p:txBody>
      </p:sp>
      <p:sp>
        <p:nvSpPr>
          <p:cNvPr id="15" name="TextBox 14"/>
          <p:cNvSpPr txBox="1"/>
          <p:nvPr/>
        </p:nvSpPr>
        <p:spPr>
          <a:xfrm>
            <a:off x="7882127" y="2761488"/>
            <a:ext cx="3742639" cy="2980944"/>
          </a:xfrm>
          <a:prstGeom prst="rect">
            <a:avLst/>
          </a:prstGeom>
          <a:noFill/>
        </p:spPr>
        <p:txBody>
          <a:bodyPr wrap="square" lIns="0" rIns="0" tIns="0" bIns="0" anchor="t">
            <a:spAutoFit/>
          </a:bodyPr>
          <a:lstStyle/>
          <a:p>
            <a:pPr algn="l">
              <a:spcAft>
                <a:spcPts val="200"/>
              </a:spcAft>
            </a:pPr>
            <a:r>
              <a:rPr sz="1100" b="1" i="0">
                <a:solidFill>
                  <a:srgbClr val="0E1116"/>
                </a:solidFill>
                <a:latin typeface="Calibri"/>
              </a:rPr>
              <a:t>It never read joint_limits.yaml</a:t>
            </a:r>
          </a:p>
          <a:p>
            <a:pPr algn="l">
              <a:spcAft>
                <a:spcPts val="900"/>
              </a:spcAft>
            </a:pPr>
            <a:r>
              <a:rPr sz="950" b="0" i="0">
                <a:solidFill>
                  <a:srgbClr val="1B1D21"/>
                </a:solidFill>
                <a:latin typeface="Calibri"/>
              </a:rPr>
              <a:t>17.5 rad/s commanded against a 1.3963 limit — 12.53×. Now 1.00×.</a:t>
            </a:r>
          </a:p>
          <a:p>
            <a:pPr algn="l">
              <a:spcAft>
                <a:spcPts val="200"/>
              </a:spcAft>
            </a:pPr>
            <a:r>
              <a:rPr sz="1100" b="1" i="0">
                <a:solidFill>
                  <a:srgbClr val="0E1116"/>
                </a:solidFill>
                <a:latin typeface="Calibri"/>
              </a:rPr>
              <a:t>Not a tuning problem</a:t>
            </a:r>
          </a:p>
          <a:p>
            <a:pPr algn="l">
              <a:spcAft>
                <a:spcPts val="900"/>
              </a:spcAft>
            </a:pPr>
            <a:r>
              <a:rPr sz="950" b="0" i="0">
                <a:solidFill>
                  <a:srgbClr val="1B1D21"/>
                </a:solidFill>
                <a:latin typeface="Calibri"/>
              </a:rPr>
              <a:t>swept against its own step size, the clamp's excursion SETTLES at 68 mm. It cannot be tuned into compliance.</a:t>
            </a:r>
          </a:p>
          <a:p>
            <a:pPr algn="l">
              <a:spcAft>
                <a:spcPts val="200"/>
              </a:spcAft>
            </a:pPr>
            <a:r>
              <a:rPr sz="1100" b="1" i="0">
                <a:solidFill>
                  <a:srgbClr val="0E1116"/>
                </a:solidFill>
                <a:latin typeface="Calibri"/>
              </a:rPr>
              <a:t>Acceleration and jerk are ASSUMED and labelled</a:t>
            </a:r>
          </a:p>
          <a:p>
            <a:pPr algn="l">
              <a:spcAft>
                <a:spcPts val="900"/>
              </a:spcAft>
            </a:pPr>
            <a:r>
              <a:rPr sz="950" b="0" i="0">
                <a:solidFill>
                  <a:srgbClr val="1B1D21"/>
                </a:solidFill>
                <a:latin typeface="Calibri"/>
              </a:rPr>
              <a:t>the yaml declares has_acceleration_limits: false for all fourteen joints. Velocity limits are the robot's.</a:t>
            </a:r>
          </a:p>
        </p:txBody>
      </p:sp>
      <p:sp>
        <p:nvSpPr>
          <p:cNvPr id="16" name="TextBox 15"/>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motion_generator:=legacy reproduces any recording made before 2026-08-23.</a:t>
            </a:r>
          </a:p>
          <a:p>
            <a:pPr algn="l">
              <a:spcAft>
                <a:spcPts val="0"/>
              </a:spcAft>
            </a:pPr>
            <a:r>
              <a:rPr sz="850" b="0" i="0">
                <a:solidFill>
                  <a:srgbClr val="6B7280"/>
                </a:solidFill>
                <a:latin typeface="Consolas"/>
              </a:rPr>
              <a:t>source: recordings/baselines/teleop_motion.json (2026-08-23)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THE MATHEMATICS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Why a fixed EMA is the wrong shape, and what replaced it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44</a:t>
            </a:r>
          </a:p>
        </p:txBody>
      </p:sp>
      <p:sp>
        <p:nvSpPr>
          <p:cNvPr id="8" name="Rectangle 7"/>
          <p:cNvSpPr/>
          <p:nvPr/>
        </p:nvSpPr>
        <p:spPr>
          <a:xfrm>
            <a:off x="566928" y="1389888"/>
            <a:ext cx="41148" cy="4352544"/>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one_euro.png"/>
          <p:cNvPicPr>
            <a:picLocks noChangeAspect="1"/>
          </p:cNvPicPr>
          <p:nvPr/>
        </p:nvPicPr>
        <p:blipFill>
          <a:blip r:embed="rId2"/>
          <a:stretch>
            <a:fillRect/>
          </a:stretch>
        </p:blipFill>
        <p:spPr>
          <a:xfrm>
            <a:off x="2663647" y="2401138"/>
            <a:ext cx="7138720" cy="1900275"/>
          </a:xfrm>
          <a:prstGeom prst="rect">
            <a:avLst/>
          </a:prstGeom>
        </p:spPr>
      </p:pic>
      <p:sp>
        <p:nvSpPr>
          <p:cNvPr id="10" name="TextBox 9"/>
          <p:cNvSpPr txBox="1"/>
          <p:nvPr/>
        </p:nvSpPr>
        <p:spPr>
          <a:xfrm>
            <a:off x="841247" y="5330952"/>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The 1-Euro filter (Casiez, Roussel &amp; Vogel, CHI 2012): a one-pole low pass whose cutoff rises with the estimated speed. Still, the cutoff is low and tremor is filtered hard; moving, the cutoff opens and the lag collapses.</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Tremor is high frequency at low amplitude and motion is low frequency at high amplitude, so one constant cannot serve both. Every alpha is computed from the MEASURED dt, so the response belongs to the filter and not to the machine's load — the EMA applied a fixed alpha per timer tick at 100 Hz against a 72 Hz headset. Orientation SLERPs with sign canonicalisation: averaging quaternion components chases a 360° excursion across a sign flip that never physically happened.</a:t>
            </a:r>
          </a:p>
          <a:p>
            <a:pPr algn="l">
              <a:spcAft>
                <a:spcPts val="0"/>
              </a:spcAft>
            </a:pPr>
            <a:r>
              <a:rPr sz="850" b="0" i="0">
                <a:solidFill>
                  <a:srgbClr val="6B7280"/>
                </a:solidFill>
                <a:latin typeface="Consolas"/>
              </a:rPr>
              <a:t>source: srl_teleop/smoothing.py — one implementation, both input paths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VR</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VR path: smoothing, and where it stops working</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45</a:t>
            </a:r>
          </a:p>
        </p:txBody>
      </p:sp>
      <p:sp>
        <p:nvSpPr>
          <p:cNvPr id="8" name="Rectangle 7"/>
          <p:cNvSpPr/>
          <p:nvPr/>
        </p:nvSpPr>
        <p:spPr>
          <a:xfrm>
            <a:off x="649909" y="1348740"/>
            <a:ext cx="5225796" cy="419709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vr_smoothing.png"/>
          <p:cNvPicPr>
            <a:picLocks noChangeAspect="1"/>
          </p:cNvPicPr>
          <p:nvPr/>
        </p:nvPicPr>
        <p:blipFill>
          <a:blip r:embed="rId2"/>
          <a:stretch>
            <a:fillRect/>
          </a:stretch>
        </p:blipFill>
        <p:spPr>
          <a:xfrm>
            <a:off x="691057" y="1389888"/>
            <a:ext cx="5143500" cy="4114800"/>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stillness residual and reach lag</a:t>
            </a:r>
          </a:p>
        </p:txBody>
      </p:sp>
      <p:sp>
        <p:nvSpPr>
          <p:cNvPr id="11" name="Rectangle 10"/>
          <p:cNvSpPr/>
          <p:nvPr/>
        </p:nvSpPr>
        <p:spPr>
          <a:xfrm>
            <a:off x="6191859" y="2019687"/>
            <a:ext cx="5474055" cy="285520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s_vr_lag_vs_speed.png"/>
          <p:cNvPicPr>
            <a:picLocks noChangeAspect="1"/>
          </p:cNvPicPr>
          <p:nvPr/>
        </p:nvPicPr>
        <p:blipFill>
          <a:blip r:embed="rId3"/>
          <a:stretch>
            <a:fillRect/>
          </a:stretch>
        </p:blipFill>
        <p:spPr>
          <a:xfrm>
            <a:off x="6233007" y="2060835"/>
            <a:ext cx="5391759" cy="2772904"/>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peak lag against peak hand speed</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1-Euro against the EMA it replaced: 3.4× better stillness and 2.4× less lag. Under 0.27 m/s every protocol segment stays inside the 30 mm gate; the deliberate fast reach at 0.31–0.35 m/s does not. The smoothing figure is the filter maths recomputed through the shipped code — NOT a through-the-node or real-arm measurement.</a:t>
            </a:r>
          </a:p>
          <a:p>
            <a:pPr algn="l">
              <a:spcAft>
                <a:spcPts val="0"/>
              </a:spcAft>
            </a:pPr>
            <a:r>
              <a:rPr sz="850" b="0" i="0">
                <a:solidFill>
                  <a:srgbClr val="6B7280"/>
                </a:solidFill>
                <a:latin typeface="Consolas"/>
              </a:rPr>
              <a:t>source: srl_vr_teleop/vr_smoothing.py; recordings/vr_teleop/protocol_20260826_124739.json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AUTONOMY</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shared autonomy is actually for</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46</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shared_autonomy_gain.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Intent inference against a declared object coordinate that is wrong by 0 to 120 mm, 400 trials. Calibrated perception holds flat; the declared coordinate collapses past one cube pitch and — the part that matters — becomes CONFIDENTLY wrong rather than ambiguous. The ambiguous fraction falls as the wrong fraction rises, which is the worst failure shape a shared-control arbiter can have.</a:t>
            </a:r>
          </a:p>
          <a:p>
            <a:pPr algn="l">
              <a:spcAft>
                <a:spcPts val="0"/>
              </a:spcAft>
            </a:pPr>
            <a:r>
              <a:rPr sz="850" b="0" i="0">
                <a:solidFill>
                  <a:srgbClr val="6B7280"/>
                </a:solidFill>
                <a:latin typeface="Consolas"/>
              </a:rPr>
              <a:t>source: recordings/baselines/shared_autonomy_gain.json (2026-08-24)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ROBUSTNESS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Degrading rather than stopping, one rung at a time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47</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capability_ladder.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What each rung of the degradation ladder costs in end-effector position, replayed through 20 440 REAL recorded master frames, and where each of the 128 channel subsets lands. DIR_ONLY and NONE produce no position at all — drawn as 'no position', never as a bar of height zero, which would read as perfect. Recovery is monotonic: a channel coming back never leaves the system on a lower rung.</a:t>
            </a:r>
          </a:p>
          <a:p>
            <a:pPr algn="l">
              <a:spcAft>
                <a:spcPts val="0"/>
              </a:spcAft>
            </a:pPr>
            <a:r>
              <a:rPr sz="850" b="0" i="0">
                <a:solidFill>
                  <a:srgbClr val="6B7280"/>
                </a:solidFill>
                <a:latin typeface="Consolas"/>
              </a:rPr>
              <a:t>source: recordings/baselines/capability_ladder.json, capability_degradation.json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REAL HARDWARE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simulation-to-hardware gap — measured on the real arms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48</a:t>
            </a:r>
          </a:p>
        </p:txBody>
      </p:sp>
      <p:sp>
        <p:nvSpPr>
          <p:cNvPr id="8" name="Rectangle 7"/>
          <p:cNvSpPr/>
          <p:nvPr/>
        </p:nvSpPr>
        <p:spPr>
          <a:xfrm>
            <a:off x="1287780" y="1348740"/>
            <a:ext cx="5324856"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sim_to_real_park_error.png"/>
          <p:cNvPicPr>
            <a:picLocks noChangeAspect="1"/>
          </p:cNvPicPr>
          <p:nvPr/>
        </p:nvPicPr>
        <p:blipFill>
          <a:blip r:embed="rId2"/>
          <a:stretch>
            <a:fillRect/>
          </a:stretch>
        </p:blipFill>
        <p:spPr>
          <a:xfrm>
            <a:off x="1328928" y="1389888"/>
            <a:ext cx="5242560" cy="3931920"/>
          </a:xfrm>
          <a:prstGeom prst="rect">
            <a:avLst/>
          </a:prstGeom>
        </p:spPr>
      </p:pic>
      <p:sp>
        <p:nvSpPr>
          <p:cNvPr id="10" name="Rectangle 9"/>
          <p:cNvSpPr/>
          <p:nvPr/>
        </p:nvSpPr>
        <p:spPr>
          <a:xfrm>
            <a:off x="7699248" y="1389888"/>
            <a:ext cx="3925519" cy="11887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99248" y="1389888"/>
            <a:ext cx="50292" cy="1188720"/>
          </a:xfrm>
          <a:prstGeom prst="rect">
            <a:avLst/>
          </a:prstGeom>
          <a:solidFill>
            <a:srgbClr val="C1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18704" y="1536192"/>
            <a:ext cx="3559759" cy="457200"/>
          </a:xfrm>
          <a:prstGeom prst="rect">
            <a:avLst/>
          </a:prstGeom>
          <a:noFill/>
        </p:spPr>
        <p:txBody>
          <a:bodyPr wrap="square" lIns="0" rIns="0" tIns="0" bIns="0" anchor="t">
            <a:spAutoFit/>
          </a:bodyPr>
          <a:lstStyle/>
          <a:p>
            <a:pPr algn="l">
              <a:spcAft>
                <a:spcPts val="0"/>
              </a:spcAft>
            </a:pPr>
            <a:r>
              <a:rPr sz="2500" b="1" i="0">
                <a:solidFill>
                  <a:srgbClr val="C1392B"/>
                </a:solidFill>
                <a:latin typeface="Calibri"/>
              </a:rPr>
              <a:t>0.305°</a:t>
            </a:r>
          </a:p>
        </p:txBody>
      </p:sp>
      <p:sp>
        <p:nvSpPr>
          <p:cNvPr id="13" name="TextBox 12"/>
          <p:cNvSpPr txBox="1"/>
          <p:nvPr/>
        </p:nvSpPr>
        <p:spPr>
          <a:xfrm>
            <a:off x="7918704" y="1993392"/>
            <a:ext cx="3559759"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every joint parks short</a:t>
            </a:r>
          </a:p>
        </p:txBody>
      </p:sp>
      <p:sp>
        <p:nvSpPr>
          <p:cNvPr id="14" name="TextBox 13"/>
          <p:cNvSpPr txBox="1"/>
          <p:nvPr/>
        </p:nvSpPr>
        <p:spPr>
          <a:xfrm>
            <a:off x="7918704" y="2240280"/>
            <a:ext cx="3559759"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on the side it came from; 211 of 252 errors in a 0.007° band</a:t>
            </a:r>
          </a:p>
        </p:txBody>
      </p:sp>
      <p:sp>
        <p:nvSpPr>
          <p:cNvPr id="15" name="TextBox 14"/>
          <p:cNvSpPr txBox="1"/>
          <p:nvPr/>
        </p:nvSpPr>
        <p:spPr>
          <a:xfrm>
            <a:off x="7699248" y="2761488"/>
            <a:ext cx="3925519" cy="2980944"/>
          </a:xfrm>
          <a:prstGeom prst="rect">
            <a:avLst/>
          </a:prstGeom>
          <a:noFill/>
        </p:spPr>
        <p:txBody>
          <a:bodyPr wrap="square" lIns="0" rIns="0" tIns="0" bIns="0" anchor="t">
            <a:spAutoFit/>
          </a:bodyPr>
          <a:lstStyle/>
          <a:p>
            <a:pPr algn="l">
              <a:spcAft>
                <a:spcPts val="200"/>
              </a:spcAft>
            </a:pPr>
            <a:r>
              <a:rPr sz="1100" b="1" i="0">
                <a:solidFill>
                  <a:srgbClr val="0E1116"/>
                </a:solidFill>
                <a:latin typeface="Calibri"/>
              </a:rPr>
              <a:t>7.2 mm RMS at the end effector</a:t>
            </a:r>
          </a:p>
          <a:p>
            <a:pPr algn="l">
              <a:spcAft>
                <a:spcPts val="900"/>
              </a:spcAft>
            </a:pPr>
            <a:r>
              <a:rPr sz="950" b="0" i="0">
                <a:solidFill>
                  <a:srgbClr val="1B1D21"/>
                </a:solidFill>
                <a:latin typeface="Calibri"/>
              </a:rPr>
              <a:t>on a 100 mm move, both arms.</a:t>
            </a:r>
          </a:p>
          <a:p>
            <a:pPr algn="l">
              <a:spcAft>
                <a:spcPts val="200"/>
              </a:spcAft>
            </a:pPr>
            <a:r>
              <a:rPr sz="1100" b="1" i="0">
                <a:solidFill>
                  <a:srgbClr val="0E1116"/>
                </a:solidFill>
                <a:latin typeface="Calibri"/>
              </a:rPr>
              <a:t>A bound, not a spread</a:t>
            </a:r>
          </a:p>
          <a:p>
            <a:pPr algn="l">
              <a:spcAft>
                <a:spcPts val="900"/>
              </a:spcAft>
            </a:pPr>
            <a:r>
              <a:rPr sz="950" b="0" i="0">
                <a:solidFill>
                  <a:srgbClr val="1B1D21"/>
                </a:solidFill>
                <a:latin typeface="Calibri"/>
              </a:rPr>
              <a:t>pushing the joint errors through the Jacobian reproduces the Cartesian error to 90%, r = 0.923 — a constant terminal offset.</a:t>
            </a:r>
          </a:p>
          <a:p>
            <a:pPr algn="l">
              <a:spcAft>
                <a:spcPts val="200"/>
              </a:spcAft>
            </a:pPr>
            <a:r>
              <a:rPr sz="1100" b="1" i="0">
                <a:solidFill>
                  <a:srgbClr val="0E1116"/>
                </a:solidFill>
                <a:latin typeface="Calibri"/>
              </a:rPr>
              <a:t>ONE parameter per arm removes 74% / 76%</a:t>
            </a:r>
          </a:p>
          <a:p>
            <a:pPr algn="l">
              <a:spcAft>
                <a:spcPts val="900"/>
              </a:spcAft>
            </a:pPr>
            <a:r>
              <a:rPr sz="950" b="0" i="0">
                <a:solidFill>
                  <a:srgbClr val="1B1D21"/>
                </a:solidFill>
                <a:latin typeface="Calibri"/>
              </a:rPr>
              <a:t>held out on an axis it was never fitted on, where a Cartesian 3×3 scores 93 mm.</a:t>
            </a:r>
          </a:p>
        </p:txBody>
      </p:sp>
      <p:sp>
        <p:nvSpPr>
          <p:cNvPr id="16" name="TextBox 15"/>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36 real runs on the physical arms — the only hardware measurement in this deck. The COMPENSATION is modelled and has NOT been tried on hardware. The data already existed in arm_directional_calibration.json and nothing read it.</a:t>
            </a:r>
          </a:p>
          <a:p>
            <a:pPr algn="l">
              <a:spcAft>
                <a:spcPts val="0"/>
              </a:spcAft>
            </a:pPr>
            <a:r>
              <a:rPr sz="850" b="0" i="0">
                <a:solidFill>
                  <a:srgbClr val="6B7280"/>
                </a:solidFill>
                <a:latin typeface="Consolas"/>
              </a:rPr>
              <a:t>source: recordings/baselines/arm_directional_calibration.json, sim_to_real_gap.json (2026-08-23)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THE MATHEMATICS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measurement models behind the numbers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49</a:t>
            </a:r>
          </a:p>
        </p:txBody>
      </p:sp>
      <p:sp>
        <p:nvSpPr>
          <p:cNvPr id="8" name="Rectangle 7"/>
          <p:cNvSpPr/>
          <p:nvPr/>
        </p:nvSpPr>
        <p:spPr>
          <a:xfrm>
            <a:off x="566928" y="1389888"/>
            <a:ext cx="41148" cy="2143509"/>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q_terminal_offset.png"/>
          <p:cNvPicPr>
            <a:picLocks noChangeAspect="1"/>
          </p:cNvPicPr>
          <p:nvPr/>
        </p:nvPicPr>
        <p:blipFill>
          <a:blip r:embed="rId2"/>
          <a:stretch>
            <a:fillRect/>
          </a:stretch>
        </p:blipFill>
        <p:spPr>
          <a:xfrm>
            <a:off x="2672440" y="1389888"/>
            <a:ext cx="7121133" cy="1713741"/>
          </a:xfrm>
          <a:prstGeom prst="rect">
            <a:avLst/>
          </a:prstGeom>
        </p:spPr>
      </p:pic>
      <p:sp>
        <p:nvSpPr>
          <p:cNvPr id="10" name="TextBox 9"/>
          <p:cNvSpPr txBox="1"/>
          <p:nvPr/>
        </p:nvSpPr>
        <p:spPr>
          <a:xfrm>
            <a:off x="841247" y="3121917"/>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The simulation-to-hardware gap: every joint parks ε short of its target, on the side it came from. The compensation is to overshoot by ε in the direction of travel — no matrix, no direction basis, no step length, which is exactly why it survives the axis hold-out that kills a Cartesian 3×3.</a:t>
            </a:r>
          </a:p>
        </p:txBody>
      </p:sp>
      <p:sp>
        <p:nvSpPr>
          <p:cNvPr id="11" name="Rectangle 10"/>
          <p:cNvSpPr/>
          <p:nvPr/>
        </p:nvSpPr>
        <p:spPr>
          <a:xfrm>
            <a:off x="566928" y="3643125"/>
            <a:ext cx="41148" cy="924745"/>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q_budget.png"/>
          <p:cNvPicPr>
            <a:picLocks noChangeAspect="1"/>
          </p:cNvPicPr>
          <p:nvPr/>
        </p:nvPicPr>
        <p:blipFill>
          <a:blip r:embed="rId3"/>
          <a:stretch>
            <a:fillRect/>
          </a:stretch>
        </p:blipFill>
        <p:spPr>
          <a:xfrm>
            <a:off x="2611735" y="3643125"/>
            <a:ext cx="7242543" cy="494977"/>
          </a:xfrm>
          <a:prstGeom prst="rect">
            <a:avLst/>
          </a:prstGeom>
        </p:spPr>
      </p:pic>
      <p:sp>
        <p:nvSpPr>
          <p:cNvPr id="13" name="TextBox 12"/>
          <p:cNvSpPr txBox="1"/>
          <p:nvPr/>
        </p:nvSpPr>
        <p:spPr>
          <a:xfrm>
            <a:off x="841247" y="4156390"/>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Summed two ways on purpose: RSS is what you would quote if the terms were independent and zero-mean; WORST CASE is what you must design to when several are systematic and point the same way — and the biggest one here is.</a:t>
            </a:r>
          </a:p>
        </p:txBody>
      </p:sp>
      <p:sp>
        <p:nvSpPr>
          <p:cNvPr id="14" name="Rectangle 13"/>
          <p:cNvSpPr/>
          <p:nvPr/>
        </p:nvSpPr>
        <p:spPr>
          <a:xfrm>
            <a:off x="566928" y="4677598"/>
            <a:ext cx="41148" cy="1064833"/>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q_depth.png"/>
          <p:cNvPicPr>
            <a:picLocks noChangeAspect="1"/>
          </p:cNvPicPr>
          <p:nvPr/>
        </p:nvPicPr>
        <p:blipFill>
          <a:blip r:embed="rId4"/>
          <a:stretch>
            <a:fillRect/>
          </a:stretch>
        </p:blipFill>
        <p:spPr>
          <a:xfrm>
            <a:off x="3449928" y="4677598"/>
            <a:ext cx="5566158" cy="635065"/>
          </a:xfrm>
          <a:prstGeom prst="rect">
            <a:avLst/>
          </a:prstGeom>
        </p:spPr>
      </p:pic>
      <p:sp>
        <p:nvSpPr>
          <p:cNvPr id="16" name="TextBox 15"/>
          <p:cNvSpPr txBox="1"/>
          <p:nvPr/>
        </p:nvSpPr>
        <p:spPr>
          <a:xfrm>
            <a:off x="841247" y="5330952"/>
            <a:ext cx="10783519" cy="429768"/>
          </a:xfrm>
          <a:prstGeom prst="rect">
            <a:avLst/>
          </a:prstGeom>
          <a:noFill/>
        </p:spPr>
        <p:txBody>
          <a:bodyPr wrap="square" lIns="0" rIns="0" tIns="0" bIns="0" anchor="t">
            <a:spAutoFit/>
          </a:bodyPr>
          <a:lstStyle/>
          <a:p>
            <a:pPr algn="l">
              <a:spcAft>
                <a:spcPts val="0"/>
              </a:spcAft>
            </a:pPr>
            <a:r>
              <a:rPr sz="1050" b="0" i="0">
                <a:solidFill>
                  <a:srgbClr val="6B7280"/>
                </a:solidFill>
                <a:latin typeface="Calibri"/>
              </a:rPr>
              <a:t>Stereo depth noise grows with the SQUARE of range, which is why 2.0 mm at grasp range and the 0.082 m quoted elsewhere are the same sensor at different distances.</a:t>
            </a:r>
          </a:p>
        </p:txBody>
      </p:sp>
      <p:sp>
        <p:nvSpPr>
          <p:cNvPr id="17" name="TextBox 16"/>
          <p:cNvSpPr txBox="1"/>
          <p:nvPr/>
        </p:nvSpPr>
        <p:spPr>
          <a:xfrm>
            <a:off x="566928" y="5925312"/>
            <a:ext cx="11057839" cy="274320"/>
          </a:xfrm>
          <a:prstGeom prst="rect">
            <a:avLst/>
          </a:prstGeom>
          <a:noFill/>
        </p:spPr>
        <p:txBody>
          <a:bodyPr wrap="square" lIns="0" rIns="0" tIns="0" bIns="0" anchor="t">
            <a:spAutoFit/>
          </a:bodyPr>
          <a:lstStyle/>
          <a:p>
            <a:pPr algn="l">
              <a:spcAft>
                <a:spcPts val="0"/>
              </a:spcAft>
            </a:pPr>
            <a:r>
              <a:rPr sz="850" b="0" i="0">
                <a:solidFill>
                  <a:srgbClr val="6B7280"/>
                </a:solidFill>
                <a:latin typeface="Consolas"/>
              </a:rPr>
              <a:t>source: srl_teleop/sim_to_real_gap.py; scripts/measure_control_budget.py; scripts/measure_depth_pose_accuracy.py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RESULTS · INSTRUMENT</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And the 'speed sweep' was not one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50</a:t>
            </a:r>
          </a:p>
        </p:txBody>
      </p:sp>
      <p:sp>
        <p:nvSpPr>
          <p:cNvPr id="8" name="TextBox 7"/>
          <p:cNvSpPr txBox="1"/>
          <p:nvPr/>
        </p:nvSpPr>
        <p:spPr>
          <a:xfrm>
            <a:off x="566928" y="1389888"/>
            <a:ext cx="11057839" cy="4352544"/>
          </a:xfrm>
          <a:prstGeom prst="rect">
            <a:avLst/>
          </a:prstGeom>
          <a:noFill/>
        </p:spPr>
        <p:txBody>
          <a:bodyPr wrap="square" lIns="0" rIns="0" tIns="0" bIns="0" anchor="t">
            <a:spAutoFit/>
          </a:bodyPr>
          <a:lstStyle/>
          <a:p>
            <a:pPr algn="l">
              <a:spcAft>
                <a:spcPts val="200"/>
              </a:spcAft>
            </a:pPr>
            <a:r>
              <a:rPr sz="1350" b="1" i="0">
                <a:solidFill>
                  <a:srgbClr val="0E1116"/>
                </a:solidFill>
                <a:latin typeface="Calibri"/>
              </a:rPr>
              <a:t>The claim</a:t>
            </a:r>
          </a:p>
          <a:p>
            <a:pPr algn="l">
              <a:spcAft>
                <a:spcPts val="900"/>
              </a:spcAft>
            </a:pPr>
            <a:r>
              <a:rPr sz="1200" b="0" i="0">
                <a:solidFill>
                  <a:srgbClr val="1B1D21"/>
                </a:solidFill>
                <a:latin typeface="Calibri"/>
              </a:rPr>
              <a:t>I reported the parking error as speed-independent across a 5× range.</a:t>
            </a:r>
          </a:p>
          <a:p>
            <a:pPr algn="l">
              <a:spcAft>
                <a:spcPts val="200"/>
              </a:spcAft>
            </a:pPr>
            <a:r>
              <a:rPr sz="1350" b="1" i="0">
                <a:solidFill>
                  <a:srgbClr val="0E1116"/>
                </a:solidFill>
                <a:latin typeface="Calibri"/>
              </a:rPr>
              <a:t>What the data says</a:t>
            </a:r>
          </a:p>
          <a:p>
            <a:pPr algn="l">
              <a:spcAft>
                <a:spcPts val="900"/>
              </a:spcAft>
            </a:pPr>
            <a:r>
              <a:rPr sz="1200" b="0" i="0">
                <a:solidFill>
                  <a:srgbClr val="1B1D21"/>
                </a:solidFill>
                <a:latin typeface="Calibri"/>
              </a:rPr>
              <a:t>vmax_rad_s was read once at bridge start-up and never applied. 7 of 36 runs moved FASTER than the limit they were commanded with, and kortex_highlevel_bridge records this in its own source.</a:t>
            </a:r>
          </a:p>
          <a:p>
            <a:pPr algn="l">
              <a:spcAft>
                <a:spcPts val="200"/>
              </a:spcAft>
            </a:pPr>
            <a:r>
              <a:rPr sz="1350" b="1" i="0">
                <a:solidFill>
                  <a:srgbClr val="0E1116"/>
                </a:solidFill>
                <a:latin typeface="Calibri"/>
              </a:rPr>
              <a:t>So</a:t>
            </a:r>
          </a:p>
          <a:p>
            <a:pPr algn="l">
              <a:spcAft>
                <a:spcPts val="900"/>
              </a:spcAft>
            </a:pPr>
            <a:r>
              <a:rPr sz="1200" b="0" i="0">
                <a:solidFill>
                  <a:srgbClr val="1B1D21"/>
                </a:solidFill>
                <a:latin typeface="Calibri"/>
              </a:rPr>
              <a:t>the three speeds are three REPLICATES of one condition. How the error varies with speed has NEVER been measured, and the file now says so in its own verdict field.</a:t>
            </a:r>
          </a:p>
          <a:p>
            <a:pPr algn="l">
              <a:spcAft>
                <a:spcPts val="200"/>
              </a:spcAft>
            </a:pPr>
            <a:r>
              <a:rPr sz="1350" b="1" i="0">
                <a:solidFill>
                  <a:srgbClr val="0E1116"/>
                </a:solidFill>
                <a:latin typeface="Calibri"/>
              </a:rPr>
              <a:t>A control was added</a:t>
            </a:r>
          </a:p>
          <a:p>
            <a:pPr algn="l">
              <a:spcAft>
                <a:spcPts val="900"/>
              </a:spcAft>
            </a:pPr>
            <a:r>
              <a:rPr sz="1200" b="0" i="0">
                <a:solidFill>
                  <a:srgbClr val="1B1D21"/>
                </a:solidFill>
                <a:latin typeface="Calibri"/>
              </a:rPr>
              <a:t>which asserts the sweep still looks inert — so a genuine sweep makes the test fail and the stale sentences get rewritten.</a:t>
            </a:r>
          </a:p>
        </p:txBody>
      </p:sp>
      <p:sp>
        <p:nvSpPr>
          <p:cNvPr id="9" name="TextBox 8"/>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C1392B"/>
                </a:solidFill>
                <a:latin typeface="Calibri"/>
              </a:rPr>
              <a:t>This slide is a result. A measurement that contradicts an earlier one is an instrument check, not a finding, until the two are reconciled.</a:t>
            </a:r>
          </a:p>
          <a:p>
            <a:pPr algn="l">
              <a:spcAft>
                <a:spcPts val="0"/>
              </a:spcAft>
            </a:pPr>
            <a:r>
              <a:rPr sz="850" b="0" i="0">
                <a:solidFill>
                  <a:srgbClr val="6B7280"/>
                </a:solidFill>
                <a:latin typeface="Consolas"/>
              </a:rPr>
              <a:t>source: recordings/baselines/sim_to_real_gap.json → speed_sweep_was_inert; test_the_arm_stops_short_and_the_bridge_knows.py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31720"/>
            <a:ext cx="141732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19"/>
            <a:ext cx="548640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PART 5</a:t>
            </a:r>
          </a:p>
        </p:txBody>
      </p:sp>
      <p:sp>
        <p:nvSpPr>
          <p:cNvPr id="5" name="TextBox 4"/>
          <p:cNvSpPr txBox="1"/>
          <p:nvPr/>
        </p:nvSpPr>
        <p:spPr>
          <a:xfrm>
            <a:off x="566928" y="2606040"/>
            <a:ext cx="8863279" cy="100584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Workspace characterisation</a:t>
            </a:r>
          </a:p>
        </p:txBody>
      </p:sp>
      <p:sp>
        <p:nvSpPr>
          <p:cNvPr id="6" name="TextBox 5"/>
          <p:cNvSpPr txBox="1"/>
          <p:nvPr/>
        </p:nvSpPr>
        <p:spPr>
          <a:xfrm>
            <a:off x="566928" y="3794760"/>
            <a:ext cx="8131759" cy="1097280"/>
          </a:xfrm>
          <a:prstGeom prst="rect">
            <a:avLst/>
          </a:prstGeom>
          <a:noFill/>
        </p:spPr>
        <p:txBody>
          <a:bodyPr wrap="square" lIns="0" rIns="0" tIns="0" bIns="0" anchor="t">
            <a:spAutoFit/>
          </a:bodyPr>
          <a:lstStyle/>
          <a:p>
            <a:pPr algn="l">
              <a:spcAft>
                <a:spcPts val="0"/>
              </a:spcAft>
            </a:pPr>
            <a:r>
              <a:rPr sz="1350" b="0" i="0">
                <a:solidFill>
                  <a:srgbClr val="C3C9D2"/>
                </a:solidFill>
                <a:latin typeface="Calibri"/>
              </a:rPr>
              <a:t>Why the arms barely move — sized in millimetres, per direction, per design choice, rather than asserted.</a:t>
            </a:r>
          </a:p>
        </p:txBody>
      </p:sp>
      <p:sp>
        <p:nvSpPr>
          <p:cNvPr id="7" name="TextBox 6"/>
          <p:cNvSpPr txBox="1"/>
          <p:nvPr/>
        </p:nvSpPr>
        <p:spPr>
          <a:xfrm>
            <a:off x="10527487" y="6455664"/>
            <a:ext cx="1097280" cy="237744"/>
          </a:xfrm>
          <a:prstGeom prst="rect">
            <a:avLst/>
          </a:prstGeom>
          <a:noFill/>
        </p:spPr>
        <p:txBody>
          <a:bodyPr wrap="square" lIns="0" rIns="0" tIns="0" bIns="0" anchor="t">
            <a:spAutoFit/>
          </a:bodyPr>
          <a:lstStyle/>
          <a:p>
            <a:pPr algn="r">
              <a:spcAft>
                <a:spcPts val="0"/>
              </a:spcAft>
            </a:pPr>
            <a:r>
              <a:rPr sz="850" b="0" i="0">
                <a:solidFill>
                  <a:srgbClr val="5B6270"/>
                </a:solidFill>
                <a:latin typeface="Calibri"/>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Reachability, and two arms that cannot meet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52</a:t>
            </a:r>
          </a:p>
        </p:txBody>
      </p:sp>
      <p:sp>
        <p:nvSpPr>
          <p:cNvPr id="8" name="Rectangle 7"/>
          <p:cNvSpPr/>
          <p:nvPr/>
        </p:nvSpPr>
        <p:spPr>
          <a:xfrm>
            <a:off x="525780" y="1933331"/>
            <a:ext cx="5474055" cy="3027912"/>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chability_polar.png"/>
          <p:cNvPicPr>
            <a:picLocks noChangeAspect="1"/>
          </p:cNvPicPr>
          <p:nvPr/>
        </p:nvPicPr>
        <p:blipFill>
          <a:blip r:embed="rId2"/>
          <a:stretch>
            <a:fillRect/>
          </a:stretch>
        </p:blipFill>
        <p:spPr>
          <a:xfrm>
            <a:off x="566928" y="1974479"/>
            <a:ext cx="5391759" cy="2945616"/>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reach per direction, both arms</a:t>
            </a:r>
          </a:p>
        </p:txBody>
      </p:sp>
      <p:sp>
        <p:nvSpPr>
          <p:cNvPr id="11" name="Rectangle 10"/>
          <p:cNvSpPr/>
          <p:nvPr/>
        </p:nvSpPr>
        <p:spPr>
          <a:xfrm>
            <a:off x="6191859" y="2031008"/>
            <a:ext cx="5474055" cy="2832559"/>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orkspace_disjoint.png"/>
          <p:cNvPicPr>
            <a:picLocks noChangeAspect="1"/>
          </p:cNvPicPr>
          <p:nvPr/>
        </p:nvPicPr>
        <p:blipFill>
          <a:blip r:embed="rId3"/>
          <a:stretch>
            <a:fillRect/>
          </a:stretch>
        </p:blipFill>
        <p:spPr>
          <a:xfrm>
            <a:off x="6233007" y="2072156"/>
            <a:ext cx="5391759" cy="2750263"/>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the two reachable sets do not overlap</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N = 10 repeats over the whole densified path, not one IK call — TRAC-IK restarts randomly and one call is one coin flip. The two arms' reachable sets are disjoint, which is why a handover task needs the right arm re-parked in hardware before it can exist at all.</a:t>
            </a:r>
          </a:p>
          <a:p>
            <a:pPr algn="l">
              <a:spcAft>
                <a:spcPts val="0"/>
              </a:spcAft>
            </a:pPr>
            <a:r>
              <a:rPr sz="850" b="0" i="0">
                <a:solidFill>
                  <a:srgbClr val="6B7280"/>
                </a:solidFill>
                <a:latin typeface="Consolas"/>
              </a:rPr>
              <a:t>source: recordings/baselines/workspace_n10_20260806.json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 · SIZED</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the pinned wrist costs, measured from two start points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53</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orientation_cost.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Mean reach per orientation policy, with a 0.15 m wearer floor enforced under every one. From the HOME end effector the pinned wrist costs 89 mm and looks affordable. At the point where the work actually happens it costs 385 mm, and 11 of 12 direction walks are stopped by the wearer. Measuring from the wrong start point is what hid a factor of seven.</a:t>
            </a:r>
          </a:p>
          <a:p>
            <a:pPr algn="l">
              <a:spcAft>
                <a:spcPts val="0"/>
              </a:spcAft>
            </a:pPr>
            <a:r>
              <a:rPr sz="850" b="0" i="0">
                <a:solidFill>
                  <a:srgbClr val="6B7280"/>
                </a:solidFill>
                <a:latin typeface="Consolas"/>
              </a:rPr>
              <a:t>source: recordings/baselines/orientation_cost.json, orientation_cost_what_binds.json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 · SAFETY</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wearer's posture is part of the model</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54</a:t>
            </a:r>
          </a:p>
        </p:txBody>
      </p:sp>
      <p:sp>
        <p:nvSpPr>
          <p:cNvPr id="8" name="Rectangle 7"/>
          <p:cNvSpPr/>
          <p:nvPr/>
        </p:nvSpPr>
        <p:spPr>
          <a:xfrm>
            <a:off x="3153003" y="1348740"/>
            <a:ext cx="5885688"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wearer_posture.png"/>
          <p:cNvPicPr>
            <a:picLocks noChangeAspect="1"/>
          </p:cNvPicPr>
          <p:nvPr/>
        </p:nvPicPr>
        <p:blipFill>
          <a:blip r:embed="rId2"/>
          <a:stretch>
            <a:fillRect/>
          </a:stretch>
        </p:blipFill>
        <p:spPr>
          <a:xfrm>
            <a:off x="3194151" y="1389888"/>
            <a:ext cx="5803392"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Innermost usable column and home clearance for the five postures. With the wearer's arms deleted entirely the centre is STILL shut, so what closes it is the torso. Two postures — arms clasped behind the back, arms held out to the sides — put the wearer's own limbs inside the 150 mm floor at the HOME pose, which is why a wearer is never asked to adopt them.</a:t>
            </a:r>
          </a:p>
          <a:p>
            <a:pPr algn="l">
              <a:spcAft>
                <a:spcPts val="0"/>
              </a:spcAft>
            </a:pPr>
            <a:r>
              <a:rPr sz="850" b="0" i="0">
                <a:solidFill>
                  <a:srgbClr val="6B7280"/>
                </a:solidFill>
                <a:latin typeface="Consolas"/>
              </a:rPr>
              <a:t>source: recordings/baselines/centre_vs_wearer_posture.json (2026-08-15)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A negative result, drawn as one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55</a:t>
            </a:r>
          </a:p>
        </p:txBody>
      </p:sp>
      <p:sp>
        <p:nvSpPr>
          <p:cNvPr id="8" name="Rectangle 7"/>
          <p:cNvSpPr/>
          <p:nvPr/>
        </p:nvSpPr>
        <p:spPr>
          <a:xfrm>
            <a:off x="1702155" y="1348740"/>
            <a:ext cx="8787383" cy="4434839"/>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centre_on_surface.png"/>
          <p:cNvPicPr>
            <a:picLocks noChangeAspect="1"/>
          </p:cNvPicPr>
          <p:nvPr/>
        </p:nvPicPr>
        <p:blipFill>
          <a:blip r:embed="rId2"/>
          <a:stretch>
            <a:fillRect/>
          </a:stretch>
        </p:blipFill>
        <p:spPr>
          <a:xfrm>
            <a:off x="1743303" y="1389888"/>
            <a:ext cx="8705087" cy="4352543"/>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1 680 configurations of table height, table distance, object column and overhang, both arms, objects RESTING on the surface, 3 583 IK calls. Twenty-two cells pass a single IK call; two survive N=10 over the whole path. Not one is anywhere near the centre, and every survivor needs the object at the very front edge, because the pinned wrist arrives from below.</a:t>
            </a:r>
          </a:p>
          <a:p>
            <a:pPr algn="l">
              <a:spcAft>
                <a:spcPts val="0"/>
              </a:spcAft>
            </a:pPr>
            <a:r>
              <a:rPr sz="850" b="0" i="0">
                <a:solidFill>
                  <a:srgbClr val="6B7280"/>
                </a:solidFill>
                <a:latin typeface="Consolas"/>
              </a:rPr>
              <a:t>source: recordings/baselines/centre_on_surface.json (2026-08-15)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binds the workspace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56</a:t>
            </a:r>
          </a:p>
        </p:txBody>
      </p:sp>
      <p:sp>
        <p:nvSpPr>
          <p:cNvPr id="8" name="Rectangle 7"/>
          <p:cNvSpPr/>
          <p:nvPr/>
        </p:nvSpPr>
        <p:spPr>
          <a:xfrm>
            <a:off x="566928" y="1389888"/>
            <a:ext cx="11073384" cy="329184"/>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453896"/>
            <a:ext cx="2468879" cy="237744"/>
          </a:xfrm>
          <a:prstGeom prst="rect">
            <a:avLst/>
          </a:prstGeom>
          <a:noFill/>
        </p:spPr>
        <p:txBody>
          <a:bodyPr wrap="square" lIns="0" rIns="0" tIns="0" bIns="0" anchor="t">
            <a:spAutoFit/>
          </a:bodyPr>
          <a:lstStyle/>
          <a:p>
            <a:pPr algn="l">
              <a:spcAft>
                <a:spcPts val="0"/>
              </a:spcAft>
            </a:pPr>
            <a:r>
              <a:rPr sz="1150" b="1" i="0">
                <a:solidFill>
                  <a:srgbClr val="FFFFFF"/>
                </a:solidFill>
                <a:latin typeface="Calibri"/>
              </a:rPr>
              <a:t>direction</a:t>
            </a:r>
          </a:p>
        </p:txBody>
      </p:sp>
      <p:sp>
        <p:nvSpPr>
          <p:cNvPr id="10" name="TextBox 9"/>
          <p:cNvSpPr txBox="1"/>
          <p:nvPr/>
        </p:nvSpPr>
        <p:spPr>
          <a:xfrm>
            <a:off x="3328416" y="1453896"/>
            <a:ext cx="3474720" cy="237744"/>
          </a:xfrm>
          <a:prstGeom prst="rect">
            <a:avLst/>
          </a:prstGeom>
          <a:noFill/>
        </p:spPr>
        <p:txBody>
          <a:bodyPr wrap="square" lIns="0" rIns="0" tIns="0" bIns="0" anchor="t">
            <a:spAutoFit/>
          </a:bodyPr>
          <a:lstStyle/>
          <a:p>
            <a:pPr algn="l">
              <a:spcAft>
                <a:spcPts val="0"/>
              </a:spcAft>
            </a:pPr>
            <a:r>
              <a:rPr sz="1150" b="1" i="0">
                <a:solidFill>
                  <a:srgbClr val="FFFFFF"/>
                </a:solidFill>
                <a:latin typeface="Calibri"/>
              </a:rPr>
              <a:t>what limits it</a:t>
            </a:r>
          </a:p>
        </p:txBody>
      </p:sp>
      <p:sp>
        <p:nvSpPr>
          <p:cNvPr id="11" name="TextBox 10"/>
          <p:cNvSpPr txBox="1"/>
          <p:nvPr/>
        </p:nvSpPr>
        <p:spPr>
          <a:xfrm>
            <a:off x="6986016" y="1453896"/>
            <a:ext cx="4581144" cy="237744"/>
          </a:xfrm>
          <a:prstGeom prst="rect">
            <a:avLst/>
          </a:prstGeom>
          <a:noFill/>
        </p:spPr>
        <p:txBody>
          <a:bodyPr wrap="square" lIns="0" rIns="0" tIns="0" bIns="0" anchor="t">
            <a:spAutoFit/>
          </a:bodyPr>
          <a:lstStyle/>
          <a:p>
            <a:pPr algn="l">
              <a:spcAft>
                <a:spcPts val="0"/>
              </a:spcAft>
            </a:pPr>
            <a:r>
              <a:rPr sz="1150" b="1" i="0">
                <a:solidFill>
                  <a:srgbClr val="FFFFFF"/>
                </a:solidFill>
                <a:latin typeface="Calibri"/>
              </a:rPr>
              <a:t>measured</a:t>
            </a:r>
          </a:p>
        </p:txBody>
      </p:sp>
      <p:sp>
        <p:nvSpPr>
          <p:cNvPr id="12" name="Rectangle 11"/>
          <p:cNvSpPr/>
          <p:nvPr/>
        </p:nvSpPr>
        <p:spPr>
          <a:xfrm>
            <a:off x="566928" y="1719072"/>
            <a:ext cx="11073384"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1769363"/>
            <a:ext cx="2468879" cy="566928"/>
          </a:xfrm>
          <a:prstGeom prst="rect">
            <a:avLst/>
          </a:prstGeom>
          <a:noFill/>
        </p:spPr>
        <p:txBody>
          <a:bodyPr wrap="square" lIns="0" rIns="0" tIns="0" bIns="0" anchor="t">
            <a:spAutoFit/>
          </a:bodyPr>
          <a:lstStyle/>
          <a:p>
            <a:pPr algn="l">
              <a:spcAft>
                <a:spcPts val="0"/>
              </a:spcAft>
            </a:pPr>
            <a:r>
              <a:rPr sz="1150" b="1" i="0">
                <a:solidFill>
                  <a:srgbClr val="1B1D21"/>
                </a:solidFill>
                <a:latin typeface="Calibri"/>
              </a:rPr>
              <a:t>forward / outboard</a:t>
            </a:r>
          </a:p>
        </p:txBody>
      </p:sp>
      <p:sp>
        <p:nvSpPr>
          <p:cNvPr id="14" name="TextBox 13"/>
          <p:cNvSpPr txBox="1"/>
          <p:nvPr/>
        </p:nvSpPr>
        <p:spPr>
          <a:xfrm>
            <a:off x="3328416" y="1769363"/>
            <a:ext cx="3474720"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the pinned wrist</a:t>
            </a:r>
          </a:p>
        </p:txBody>
      </p:sp>
      <p:sp>
        <p:nvSpPr>
          <p:cNvPr id="15" name="TextBox 14"/>
          <p:cNvSpPr txBox="1"/>
          <p:nvPr/>
        </p:nvSpPr>
        <p:spPr>
          <a:xfrm>
            <a:off x="6986016" y="1769363"/>
            <a:ext cx="4581144"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onsolas"/>
              </a:rPr>
              <a:t>0.065 m mean reach at the work point, against 0.450 free</a:t>
            </a:r>
          </a:p>
        </p:txBody>
      </p:sp>
      <p:sp>
        <p:nvSpPr>
          <p:cNvPr id="16" name="TextBox 15"/>
          <p:cNvSpPr txBox="1"/>
          <p:nvPr/>
        </p:nvSpPr>
        <p:spPr>
          <a:xfrm>
            <a:off x="676656" y="2336292"/>
            <a:ext cx="2468879" cy="566928"/>
          </a:xfrm>
          <a:prstGeom prst="rect">
            <a:avLst/>
          </a:prstGeom>
          <a:noFill/>
        </p:spPr>
        <p:txBody>
          <a:bodyPr wrap="square" lIns="0" rIns="0" tIns="0" bIns="0" anchor="t">
            <a:spAutoFit/>
          </a:bodyPr>
          <a:lstStyle/>
          <a:p>
            <a:pPr algn="l">
              <a:spcAft>
                <a:spcPts val="0"/>
              </a:spcAft>
            </a:pPr>
            <a:r>
              <a:rPr sz="1150" b="1" i="0">
                <a:solidFill>
                  <a:srgbClr val="1B1D21"/>
                </a:solidFill>
                <a:latin typeface="Calibri"/>
              </a:rPr>
              <a:t>inboard</a:t>
            </a:r>
          </a:p>
        </p:txBody>
      </p:sp>
      <p:sp>
        <p:nvSpPr>
          <p:cNvPr id="17" name="TextBox 16"/>
          <p:cNvSpPr txBox="1"/>
          <p:nvPr/>
        </p:nvSpPr>
        <p:spPr>
          <a:xfrm>
            <a:off x="3328416" y="2336292"/>
            <a:ext cx="3474720"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the wearer — the TORSO, not their arms</a:t>
            </a:r>
          </a:p>
        </p:txBody>
      </p:sp>
      <p:sp>
        <p:nvSpPr>
          <p:cNvPr id="18" name="TextBox 17"/>
          <p:cNvSpPr txBox="1"/>
          <p:nvPr/>
        </p:nvSpPr>
        <p:spPr>
          <a:xfrm>
            <a:off x="6986016" y="2336292"/>
            <a:ext cx="4581144"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min |x| 0.300 (L) / 0.375 (R) with the wearer's arms deleted entirely</a:t>
            </a:r>
          </a:p>
        </p:txBody>
      </p:sp>
      <p:sp>
        <p:nvSpPr>
          <p:cNvPr id="19" name="Rectangle 18"/>
          <p:cNvSpPr/>
          <p:nvPr/>
        </p:nvSpPr>
        <p:spPr>
          <a:xfrm>
            <a:off x="566928" y="2852928"/>
            <a:ext cx="11073384"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903220"/>
            <a:ext cx="2468879" cy="566928"/>
          </a:xfrm>
          <a:prstGeom prst="rect">
            <a:avLst/>
          </a:prstGeom>
          <a:noFill/>
        </p:spPr>
        <p:txBody>
          <a:bodyPr wrap="square" lIns="0" rIns="0" tIns="0" bIns="0" anchor="t">
            <a:spAutoFit/>
          </a:bodyPr>
          <a:lstStyle/>
          <a:p>
            <a:pPr algn="l">
              <a:spcAft>
                <a:spcPts val="0"/>
              </a:spcAft>
            </a:pPr>
            <a:r>
              <a:rPr sz="1150" b="1" i="0">
                <a:solidFill>
                  <a:srgbClr val="1B1D21"/>
                </a:solidFill>
                <a:latin typeface="Calibri"/>
              </a:rPr>
              <a:t>down</a:t>
            </a:r>
          </a:p>
        </p:txBody>
      </p:sp>
      <p:sp>
        <p:nvSpPr>
          <p:cNvPr id="21" name="TextBox 20"/>
          <p:cNvSpPr txBox="1"/>
          <p:nvPr/>
        </p:nvSpPr>
        <p:spPr>
          <a:xfrm>
            <a:off x="3328416" y="2903220"/>
            <a:ext cx="3474720"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the table</a:t>
            </a:r>
          </a:p>
        </p:txBody>
      </p:sp>
      <p:sp>
        <p:nvSpPr>
          <p:cNvPr id="22" name="TextBox 21"/>
          <p:cNvSpPr txBox="1"/>
          <p:nvPr/>
        </p:nvSpPr>
        <p:spPr>
          <a:xfrm>
            <a:off x="6986016" y="2903220"/>
            <a:ext cx="4581144"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no configuration puts |x| ≤ 0.10 m on the surface; 3360 cells searched</a:t>
            </a:r>
          </a:p>
        </p:txBody>
      </p:sp>
      <p:sp>
        <p:nvSpPr>
          <p:cNvPr id="23" name="TextBox 22"/>
          <p:cNvSpPr txBox="1"/>
          <p:nvPr/>
        </p:nvSpPr>
        <p:spPr>
          <a:xfrm>
            <a:off x="676656" y="3470148"/>
            <a:ext cx="2468879" cy="566928"/>
          </a:xfrm>
          <a:prstGeom prst="rect">
            <a:avLst/>
          </a:prstGeom>
          <a:noFill/>
        </p:spPr>
        <p:txBody>
          <a:bodyPr wrap="square" lIns="0" rIns="0" tIns="0" bIns="0" anchor="t">
            <a:spAutoFit/>
          </a:bodyPr>
          <a:lstStyle/>
          <a:p>
            <a:pPr algn="l">
              <a:spcAft>
                <a:spcPts val="0"/>
              </a:spcAft>
            </a:pPr>
            <a:r>
              <a:rPr sz="1150" b="1" i="0">
                <a:solidFill>
                  <a:srgbClr val="1B1D21"/>
                </a:solidFill>
                <a:latin typeface="Calibri"/>
              </a:rPr>
              <a:t>top-down on a surface</a:t>
            </a:r>
          </a:p>
        </p:txBody>
      </p:sp>
      <p:sp>
        <p:nvSpPr>
          <p:cNvPr id="24" name="TextBox 23"/>
          <p:cNvSpPr txBox="1"/>
          <p:nvPr/>
        </p:nvSpPr>
        <p:spPr>
          <a:xfrm>
            <a:off x="3328416" y="3470148"/>
            <a:ext cx="3474720"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not achievable at all</a:t>
            </a:r>
          </a:p>
        </p:txBody>
      </p:sp>
      <p:sp>
        <p:nvSpPr>
          <p:cNvPr id="25" name="TextBox 24"/>
          <p:cNvSpPr txBox="1"/>
          <p:nvPr/>
        </p:nvSpPr>
        <p:spPr>
          <a:xfrm>
            <a:off x="6986016" y="3470148"/>
            <a:ext cx="4581144"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onsolas"/>
              </a:rPr>
              <a:t>0 of 840 cells, any table height 0.70–1.10 m, either arm</a:t>
            </a:r>
          </a:p>
        </p:txBody>
      </p:sp>
      <p:sp>
        <p:nvSpPr>
          <p:cNvPr id="26" name="Rectangle 25"/>
          <p:cNvSpPr/>
          <p:nvPr/>
        </p:nvSpPr>
        <p:spPr>
          <a:xfrm>
            <a:off x="566928" y="3986784"/>
            <a:ext cx="11073384"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4037076"/>
            <a:ext cx="2468879" cy="566928"/>
          </a:xfrm>
          <a:prstGeom prst="rect">
            <a:avLst/>
          </a:prstGeom>
          <a:noFill/>
        </p:spPr>
        <p:txBody>
          <a:bodyPr wrap="square" lIns="0" rIns="0" tIns="0" bIns="0" anchor="t">
            <a:spAutoFit/>
          </a:bodyPr>
          <a:lstStyle/>
          <a:p>
            <a:pPr algn="l">
              <a:spcAft>
                <a:spcPts val="0"/>
              </a:spcAft>
            </a:pPr>
            <a:r>
              <a:rPr sz="1150" b="1" i="0">
                <a:solidFill>
                  <a:srgbClr val="1B1D21"/>
                </a:solidFill>
                <a:latin typeface="Calibri"/>
              </a:rPr>
              <a:t>any joint limit</a:t>
            </a:r>
          </a:p>
        </p:txBody>
      </p:sp>
      <p:sp>
        <p:nvSpPr>
          <p:cNvPr id="28" name="TextBox 27"/>
          <p:cNvSpPr txBox="1"/>
          <p:nvPr/>
        </p:nvSpPr>
        <p:spPr>
          <a:xfrm>
            <a:off x="3328416" y="4037076"/>
            <a:ext cx="3474720"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nothing</a:t>
            </a:r>
          </a:p>
        </p:txBody>
      </p:sp>
      <p:sp>
        <p:nvSpPr>
          <p:cNvPr id="29" name="TextBox 28"/>
          <p:cNvSpPr txBox="1"/>
          <p:nvPr/>
        </p:nvSpPr>
        <p:spPr>
          <a:xfrm>
            <a:off x="6986016" y="4037076"/>
            <a:ext cx="4581144" cy="566928"/>
          </a:xfrm>
          <a:prstGeom prst="rect">
            <a:avLst/>
          </a:prstGeom>
          <a:noFill/>
        </p:spPr>
        <p:txBody>
          <a:bodyPr wrap="square" lIns="0" rIns="0" tIns="0" bIns="0" anchor="t">
            <a:spAutoFit/>
          </a:bodyPr>
          <a:lstStyle/>
          <a:p>
            <a:pPr algn="l">
              <a:spcAft>
                <a:spcPts val="0"/>
              </a:spcAft>
            </a:pPr>
            <a:r>
              <a:rPr sz="1150" b="0" i="0">
                <a:solidFill>
                  <a:srgbClr val="1B1D21"/>
                </a:solidFill>
                <a:latin typeface="Calibri"/>
              </a:rPr>
              <a:t>no direction is bound by one</a:t>
            </a:r>
          </a:p>
        </p:txBody>
      </p:sp>
      <p:sp>
        <p:nvSpPr>
          <p:cNvPr id="30" name="TextBox 29"/>
          <p:cNvSpPr txBox="1"/>
          <p:nvPr/>
        </p:nvSpPr>
        <p:spPr>
          <a:xfrm>
            <a:off x="566928" y="5961888"/>
            <a:ext cx="11057839" cy="850391"/>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Folding the wearer's arms is worth 50 mm to the mannequin and NOTHING to a real person, because what binds changes identity: a limb for the mannequin, the torso every time for the person.</a:t>
            </a:r>
          </a:p>
          <a:p>
            <a:pPr algn="l">
              <a:spcAft>
                <a:spcPts val="0"/>
              </a:spcAft>
            </a:pPr>
            <a:r>
              <a:rPr sz="850" b="0" i="0">
                <a:solidFill>
                  <a:srgbClr val="6B7280"/>
                </a:solidFill>
                <a:latin typeface="Consolas"/>
              </a:rPr>
              <a:t>source: recordings/baselines/centre_vs_wearer_posture.json, centre_on_surface.json, wearer_size_effect.json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 · SIZED</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the pinned wrist costs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57</a:t>
            </a:r>
          </a:p>
        </p:txBody>
      </p:sp>
      <p:sp>
        <p:nvSpPr>
          <p:cNvPr id="8" name="Rectangle 7"/>
          <p:cNvSpPr/>
          <p:nvPr/>
        </p:nvSpPr>
        <p:spPr>
          <a:xfrm>
            <a:off x="566928"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389888"/>
            <a:ext cx="50292" cy="1207008"/>
          </a:xfrm>
          <a:prstGeom prst="rect">
            <a:avLst/>
          </a:prstGeom>
          <a:solidFill>
            <a:srgbClr val="C1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536192"/>
            <a:ext cx="2247823" cy="457200"/>
          </a:xfrm>
          <a:prstGeom prst="rect">
            <a:avLst/>
          </a:prstGeom>
          <a:noFill/>
        </p:spPr>
        <p:txBody>
          <a:bodyPr wrap="square" lIns="0" rIns="0" tIns="0" bIns="0" anchor="t">
            <a:spAutoFit/>
          </a:bodyPr>
          <a:lstStyle/>
          <a:p>
            <a:pPr algn="l">
              <a:spcAft>
                <a:spcPts val="0"/>
              </a:spcAft>
            </a:pPr>
            <a:r>
              <a:rPr sz="2500" b="1" i="0">
                <a:solidFill>
                  <a:srgbClr val="C1392B"/>
                </a:solidFill>
                <a:latin typeface="Calibri"/>
              </a:rPr>
              <a:t>0.065 m</a:t>
            </a:r>
          </a:p>
        </p:txBody>
      </p:sp>
      <p:sp>
        <p:nvSpPr>
          <p:cNvPr id="11" name="TextBox 10"/>
          <p:cNvSpPr txBox="1"/>
          <p:nvPr/>
        </p:nvSpPr>
        <p:spPr>
          <a:xfrm>
            <a:off x="786384"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pinned, at the work point</a:t>
            </a:r>
          </a:p>
        </p:txBody>
      </p:sp>
      <p:sp>
        <p:nvSpPr>
          <p:cNvPr id="12" name="TextBox 11"/>
          <p:cNvSpPr txBox="1"/>
          <p:nvPr/>
        </p:nvSpPr>
        <p:spPr>
          <a:xfrm>
            <a:off x="786384"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11 of 12 direction walks wearer-bound</a:t>
            </a:r>
          </a:p>
        </p:txBody>
      </p:sp>
      <p:sp>
        <p:nvSpPr>
          <p:cNvPr id="13" name="Rectangle 12"/>
          <p:cNvSpPr/>
          <p:nvPr/>
        </p:nvSpPr>
        <p:spPr>
          <a:xfrm>
            <a:off x="3381679"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1679" y="1389888"/>
            <a:ext cx="50292" cy="1207008"/>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1135" y="1536192"/>
            <a:ext cx="2247823" cy="457200"/>
          </a:xfrm>
          <a:prstGeom prst="rect">
            <a:avLst/>
          </a:prstGeom>
          <a:noFill/>
        </p:spPr>
        <p:txBody>
          <a:bodyPr wrap="square" lIns="0" rIns="0" tIns="0" bIns="0" anchor="t">
            <a:spAutoFit/>
          </a:bodyPr>
          <a:lstStyle/>
          <a:p>
            <a:pPr algn="l">
              <a:spcAft>
                <a:spcPts val="0"/>
              </a:spcAft>
            </a:pPr>
            <a:r>
              <a:rPr sz="2500" b="1" i="0">
                <a:solidFill>
                  <a:srgbClr val="1F5FA8"/>
                </a:solidFill>
                <a:latin typeface="Calibri"/>
              </a:rPr>
              <a:t>0.325 m</a:t>
            </a:r>
          </a:p>
        </p:txBody>
      </p:sp>
      <p:sp>
        <p:nvSpPr>
          <p:cNvPr id="16" name="TextBox 15"/>
          <p:cNvSpPr txBox="1"/>
          <p:nvPr/>
        </p:nvSpPr>
        <p:spPr>
          <a:xfrm>
            <a:off x="3601135"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with a 45° cone</a:t>
            </a:r>
          </a:p>
        </p:txBody>
      </p:sp>
      <p:sp>
        <p:nvSpPr>
          <p:cNvPr id="17" name="TextBox 16"/>
          <p:cNvSpPr txBox="1"/>
          <p:nvPr/>
        </p:nvSpPr>
        <p:spPr>
          <a:xfrm>
            <a:off x="3601135"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the follower's own cone supplies it</a:t>
            </a:r>
          </a:p>
        </p:txBody>
      </p:sp>
      <p:sp>
        <p:nvSpPr>
          <p:cNvPr id="18" name="Rectangle 17"/>
          <p:cNvSpPr/>
          <p:nvPr/>
        </p:nvSpPr>
        <p:spPr>
          <a:xfrm>
            <a:off x="6196431"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9888"/>
            <a:ext cx="50292" cy="1207008"/>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5887" y="1536192"/>
            <a:ext cx="2247823" cy="457200"/>
          </a:xfrm>
          <a:prstGeom prst="rect">
            <a:avLst/>
          </a:prstGeom>
          <a:noFill/>
        </p:spPr>
        <p:txBody>
          <a:bodyPr wrap="square" lIns="0" rIns="0" tIns="0" bIns="0" anchor="t">
            <a:spAutoFit/>
          </a:bodyPr>
          <a:lstStyle/>
          <a:p>
            <a:pPr algn="l">
              <a:spcAft>
                <a:spcPts val="0"/>
              </a:spcAft>
            </a:pPr>
            <a:r>
              <a:rPr sz="2500" b="1" i="0">
                <a:solidFill>
                  <a:srgbClr val="2F7D4F"/>
                </a:solidFill>
                <a:latin typeface="Calibri"/>
              </a:rPr>
              <a:t>0.450 m</a:t>
            </a:r>
          </a:p>
        </p:txBody>
      </p:sp>
      <p:sp>
        <p:nvSpPr>
          <p:cNvPr id="21" name="TextBox 20"/>
          <p:cNvSpPr txBox="1"/>
          <p:nvPr/>
        </p:nvSpPr>
        <p:spPr>
          <a:xfrm>
            <a:off x="6415887"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fully free orientation</a:t>
            </a:r>
          </a:p>
        </p:txBody>
      </p:sp>
      <p:sp>
        <p:nvSpPr>
          <p:cNvPr id="22" name="TextBox 21"/>
          <p:cNvSpPr txBox="1"/>
          <p:nvPr/>
        </p:nvSpPr>
        <p:spPr>
          <a:xfrm>
            <a:off x="6415887"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+385 mm, and only 4 walks wearer-bound</a:t>
            </a:r>
          </a:p>
        </p:txBody>
      </p:sp>
      <p:sp>
        <p:nvSpPr>
          <p:cNvPr id="23" name="Rectangle 22"/>
          <p:cNvSpPr/>
          <p:nvPr/>
        </p:nvSpPr>
        <p:spPr>
          <a:xfrm>
            <a:off x="9011183" y="1389888"/>
            <a:ext cx="2613583" cy="120700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1183" y="1389888"/>
            <a:ext cx="50292" cy="12070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0639" y="1536192"/>
            <a:ext cx="2247823" cy="457200"/>
          </a:xfrm>
          <a:prstGeom prst="rect">
            <a:avLst/>
          </a:prstGeom>
          <a:noFill/>
        </p:spPr>
        <p:txBody>
          <a:bodyPr wrap="square" lIns="0" rIns="0" tIns="0" bIns="0" anchor="t">
            <a:spAutoFit/>
          </a:bodyPr>
          <a:lstStyle/>
          <a:p>
            <a:pPr algn="l">
              <a:spcAft>
                <a:spcPts val="0"/>
              </a:spcAft>
            </a:pPr>
            <a:r>
              <a:rPr sz="2500" b="1" i="0">
                <a:solidFill>
                  <a:srgbClr val="6B7280"/>
                </a:solidFill>
                <a:latin typeface="Calibri"/>
              </a:rPr>
              <a:t>+0 mm</a:t>
            </a:r>
          </a:p>
        </p:txBody>
      </p:sp>
      <p:sp>
        <p:nvSpPr>
          <p:cNvPr id="26" name="TextBox 25"/>
          <p:cNvSpPr txBox="1"/>
          <p:nvPr/>
        </p:nvSpPr>
        <p:spPr>
          <a:xfrm>
            <a:off x="9230639" y="1993392"/>
            <a:ext cx="2247823" cy="256032"/>
          </a:xfrm>
          <a:prstGeom prst="rect">
            <a:avLst/>
          </a:prstGeom>
          <a:noFill/>
        </p:spPr>
        <p:txBody>
          <a:bodyPr wrap="square" lIns="0" rIns="0" tIns="0" bIns="0" anchor="t">
            <a:spAutoFit/>
          </a:bodyPr>
          <a:lstStyle/>
          <a:p>
            <a:pPr algn="l">
              <a:spcAft>
                <a:spcPts val="0"/>
              </a:spcAft>
            </a:pPr>
            <a:r>
              <a:rPr sz="1050" b="1" i="0">
                <a:solidFill>
                  <a:srgbClr val="0E1116"/>
                </a:solidFill>
                <a:latin typeface="Calibri"/>
              </a:rPr>
              <a:t>freeing the ROLL alone</a:t>
            </a:r>
          </a:p>
        </p:txBody>
      </p:sp>
      <p:sp>
        <p:nvSpPr>
          <p:cNvPr id="27" name="TextBox 26"/>
          <p:cNvSpPr txBox="1"/>
          <p:nvPr/>
        </p:nvSpPr>
        <p:spPr>
          <a:xfrm>
            <a:off x="9230639" y="2240280"/>
            <a:ext cx="2247823" cy="292608"/>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refused by name — it buys nothing</a:t>
            </a:r>
          </a:p>
        </p:txBody>
      </p:sp>
      <p:sp>
        <p:nvSpPr>
          <p:cNvPr id="28" name="TextBox 27"/>
          <p:cNvSpPr txBox="1"/>
          <p:nvPr/>
        </p:nvSpPr>
        <p:spPr>
          <a:xfrm>
            <a:off x="566928" y="2779776"/>
            <a:ext cx="11057839" cy="2962656"/>
          </a:xfrm>
          <a:prstGeom prst="rect">
            <a:avLst/>
          </a:prstGeom>
          <a:noFill/>
        </p:spPr>
        <p:txBody>
          <a:bodyPr wrap="square" lIns="0" rIns="0" tIns="0" bIns="0" anchor="t">
            <a:spAutoFit/>
          </a:bodyPr>
          <a:lstStyle/>
          <a:p>
            <a:pPr algn="l">
              <a:spcAft>
                <a:spcPts val="200"/>
              </a:spcAft>
            </a:pPr>
            <a:r>
              <a:rPr sz="1250" b="1" i="0">
                <a:solidFill>
                  <a:srgbClr val="0E1116"/>
                </a:solidFill>
                <a:latin typeface="Calibri"/>
              </a:rPr>
              <a:t>The mechanism is not the wearer</a:t>
            </a:r>
          </a:p>
          <a:p>
            <a:pPr algn="l">
              <a:spcAft>
                <a:spcPts val="900"/>
              </a:spcAft>
            </a:pPr>
            <a:r>
              <a:rPr sz="1100" b="0" i="0">
                <a:solidFill>
                  <a:srgbClr val="1B1D21"/>
                </a:solidFill>
                <a:latin typeface="Calibri"/>
              </a:rPr>
              <a:t>A fixed 6-DOF pose on a 7-DOF arm spends the whole redundancy — and the redundancy is exactly the joint that moves the elbow out of the person while the hand stays put.</a:t>
            </a:r>
          </a:p>
          <a:p>
            <a:pPr algn="l">
              <a:spcAft>
                <a:spcPts val="200"/>
              </a:spcAft>
            </a:pPr>
            <a:r>
              <a:rPr sz="1250" b="1" i="0">
                <a:solidFill>
                  <a:srgbClr val="0E1116"/>
                </a:solidFill>
                <a:latin typeface="Calibri"/>
              </a:rPr>
              <a:t>A factor of seven, and it was never sized before this measurement</a:t>
            </a:r>
          </a:p>
          <a:p>
            <a:pPr algn="l">
              <a:spcAft>
                <a:spcPts val="900"/>
              </a:spcAft>
            </a:pPr>
            <a:r>
              <a:rPr sz="1100" b="0" i="0">
                <a:solidFill>
                  <a:srgbClr val="1B1D21"/>
                </a:solidFill>
                <a:latin typeface="Calibri"/>
              </a:rPr>
              <a:t>From the HOME end-effector the penalty is only 89 mm; at the point where the work actually happens it is 385 mm. Measuring from the wrong start point is what hid it.</a:t>
            </a:r>
          </a:p>
          <a:p>
            <a:pPr algn="l">
              <a:spcAft>
                <a:spcPts val="200"/>
              </a:spcAft>
            </a:pPr>
            <a:r>
              <a:rPr sz="1250" b="1" i="0">
                <a:solidFill>
                  <a:srgbClr val="0E1116"/>
                </a:solidFill>
                <a:latin typeface="Calibri"/>
              </a:rPr>
              <a:t>Nothing changes until a mode opts in</a:t>
            </a:r>
          </a:p>
          <a:p>
            <a:pPr algn="l">
              <a:spcAft>
                <a:spcPts val="900"/>
              </a:spcAft>
            </a:pPr>
            <a:r>
              <a:rPr sz="1100" b="0" i="0">
                <a:solidFill>
                  <a:srgbClr val="1B1D21"/>
                </a:solidFill>
                <a:latin typeface="Calibri"/>
              </a:rPr>
              <a:t>orientation_policy defaults to 'exact', so HARD CONSTRAINT 1 is untouched by the finding.</a:t>
            </a:r>
          </a:p>
        </p:txBody>
      </p:sp>
      <p:sp>
        <p:nvSpPr>
          <p:cNvPr id="29" name="TextBox 28"/>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0.15 m wearer floor enforced under every policy, so the comparison is like for like.</a:t>
            </a:r>
          </a:p>
          <a:p>
            <a:pPr algn="l">
              <a:spcAft>
                <a:spcPts val="0"/>
              </a:spcAft>
            </a:pPr>
            <a:r>
              <a:rPr sz="850" b="0" i="0">
                <a:solidFill>
                  <a:srgbClr val="6B7280"/>
                </a:solidFill>
                <a:latin typeface="Consolas"/>
              </a:rPr>
              <a:t>source: scripts/measure_orientation_cost.py; docs/system/21_what_makes_the_workspace_small.md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Mount geometry and the lateral constraint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58</a:t>
            </a:r>
          </a:p>
        </p:txBody>
      </p:sp>
      <p:sp>
        <p:nvSpPr>
          <p:cNvPr id="8" name="Rectangle 7"/>
          <p:cNvSpPr/>
          <p:nvPr/>
        </p:nvSpPr>
        <p:spPr>
          <a:xfrm>
            <a:off x="525780" y="1912683"/>
            <a:ext cx="5474055" cy="3069208"/>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ount_sweep.png"/>
          <p:cNvPicPr>
            <a:picLocks noChangeAspect="1"/>
          </p:cNvPicPr>
          <p:nvPr/>
        </p:nvPicPr>
        <p:blipFill>
          <a:blip r:embed="rId2"/>
          <a:stretch>
            <a:fillRect/>
          </a:stretch>
        </p:blipFill>
        <p:spPr>
          <a:xfrm>
            <a:off x="566928" y="1953831"/>
            <a:ext cx="5391759" cy="2986912"/>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mount position sweep</a:t>
            </a:r>
          </a:p>
        </p:txBody>
      </p:sp>
      <p:sp>
        <p:nvSpPr>
          <p:cNvPr id="11" name="Rectangle 10"/>
          <p:cNvSpPr/>
          <p:nvPr/>
        </p:nvSpPr>
        <p:spPr>
          <a:xfrm>
            <a:off x="6191859" y="2005624"/>
            <a:ext cx="5474055" cy="2883326"/>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ateral_constraint.png"/>
          <p:cNvPicPr>
            <a:picLocks noChangeAspect="1"/>
          </p:cNvPicPr>
          <p:nvPr/>
        </p:nvPicPr>
        <p:blipFill>
          <a:blip r:embed="rId3"/>
          <a:stretch>
            <a:fillRect/>
          </a:stretch>
        </p:blipFill>
        <p:spPr>
          <a:xfrm>
            <a:off x="6233007" y="2046772"/>
            <a:ext cx="5391759" cy="2801030"/>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the lateral constraint</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mount was swept rather than chosen: 150 mm outboard and 15° of yaw is where the reachable set stops fighting the wearer. base_link still sits 161 mm from the torso and no joint moves it — so a clearance reading of exactly 0.1610 m is the MOUNT, not the arm.</a:t>
            </a:r>
          </a:p>
          <a:p>
            <a:pPr algn="l">
              <a:spcAft>
                <a:spcPts val="0"/>
              </a:spcAft>
            </a:pPr>
            <a:r>
              <a:rPr sz="850" b="0" i="0">
                <a:solidFill>
                  <a:srgbClr val="6B7280"/>
                </a:solidFill>
                <a:latin typeface="Consolas"/>
              </a:rPr>
              <a:t>source: recordings/baselines/gap_vs_mount.json, clearance_region.json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WORKSPACE</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Two arms that barely share a workspace, and cannot mirror</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59</a:t>
            </a:r>
          </a:p>
        </p:txBody>
      </p:sp>
      <p:sp>
        <p:nvSpPr>
          <p:cNvPr id="8" name="Rectangle 7"/>
          <p:cNvSpPr/>
          <p:nvPr/>
        </p:nvSpPr>
        <p:spPr>
          <a:xfrm>
            <a:off x="525780" y="1451627"/>
            <a:ext cx="5474055" cy="3991321"/>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s_mount_overlap_sweep.png"/>
          <p:cNvPicPr>
            <a:picLocks noChangeAspect="1"/>
          </p:cNvPicPr>
          <p:nvPr/>
        </p:nvPicPr>
        <p:blipFill>
          <a:blip r:embed="rId2"/>
          <a:stretch>
            <a:fillRect/>
          </a:stretch>
        </p:blipFill>
        <p:spPr>
          <a:xfrm>
            <a:off x="566928" y="1492775"/>
            <a:ext cx="5391759" cy="3909025"/>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cells both arms reach, across the sweep</a:t>
            </a:r>
          </a:p>
        </p:txBody>
      </p:sp>
      <p:sp>
        <p:nvSpPr>
          <p:cNvPr id="11" name="Rectangle 10"/>
          <p:cNvSpPr/>
          <p:nvPr/>
        </p:nvSpPr>
        <p:spPr>
          <a:xfrm>
            <a:off x="6191859" y="1451627"/>
            <a:ext cx="5474055" cy="3991321"/>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s_home_mirror_residual.png"/>
          <p:cNvPicPr>
            <a:picLocks noChangeAspect="1"/>
          </p:cNvPicPr>
          <p:nvPr/>
        </p:nvPicPr>
        <p:blipFill>
          <a:blip r:embed="rId3"/>
          <a:stretch>
            <a:fillRect/>
          </a:stretch>
        </p:blipFill>
        <p:spPr>
          <a:xfrm>
            <a:off x="6233007" y="1492775"/>
            <a:ext cx="5391759" cy="3909025"/>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per-link mirror residual at home</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best mount anywhere in a 108-configuration sweep gives the two arms 29 shared cells. And they cannot be made symmetric: the mounts' base axes mirror exactly but differ by 168° of roll, so two identical arms on mirrored mounts cannot mirror. The control matters — reflecting the LEFT arm against ITSELF gives 1.24 m, so a small residual is a measurement and not the instrument agreeing with itself.</a:t>
            </a:r>
          </a:p>
          <a:p>
            <a:pPr algn="l">
              <a:spcAft>
                <a:spcPts val="0"/>
              </a:spcAft>
            </a:pPr>
            <a:r>
              <a:rPr sz="850" b="0" i="0">
                <a:solidFill>
                  <a:srgbClr val="6B7280"/>
                </a:solidFill>
                <a:latin typeface="Consolas"/>
              </a:rPr>
              <a:t>source: recordings/baselines/mount_overlap_sweep.json, home_render.json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331720"/>
            <a:ext cx="141732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74519"/>
            <a:ext cx="5486400" cy="365760"/>
          </a:xfrm>
          <a:prstGeom prst="rect">
            <a:avLst/>
          </a:prstGeom>
          <a:noFill/>
        </p:spPr>
        <p:txBody>
          <a:bodyPr wrap="square" lIns="0" rIns="0" tIns="0" bIns="0" anchor="t">
            <a:spAutoFit/>
          </a:bodyPr>
          <a:lstStyle/>
          <a:p>
            <a:pPr algn="l">
              <a:spcAft>
                <a:spcPts val="0"/>
              </a:spcAft>
            </a:pPr>
            <a:r>
              <a:rPr sz="1200" b="1" i="0">
                <a:solidFill>
                  <a:srgbClr val="1F5FA8"/>
                </a:solidFill>
                <a:latin typeface="Calibri"/>
              </a:rPr>
              <a:t>PART 6</a:t>
            </a:r>
          </a:p>
        </p:txBody>
      </p:sp>
      <p:sp>
        <p:nvSpPr>
          <p:cNvPr id="5" name="TextBox 4"/>
          <p:cNvSpPr txBox="1"/>
          <p:nvPr/>
        </p:nvSpPr>
        <p:spPr>
          <a:xfrm>
            <a:off x="566928" y="2606040"/>
            <a:ext cx="8863279" cy="100584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Method, limits and next steps</a:t>
            </a:r>
          </a:p>
        </p:txBody>
      </p:sp>
      <p:sp>
        <p:nvSpPr>
          <p:cNvPr id="6" name="TextBox 5"/>
          <p:cNvSpPr txBox="1"/>
          <p:nvPr/>
        </p:nvSpPr>
        <p:spPr>
          <a:xfrm>
            <a:off x="566928" y="3794760"/>
            <a:ext cx="8131759" cy="1097280"/>
          </a:xfrm>
          <a:prstGeom prst="rect">
            <a:avLst/>
          </a:prstGeom>
          <a:noFill/>
        </p:spPr>
        <p:txBody>
          <a:bodyPr wrap="square" lIns="0" rIns="0" tIns="0" bIns="0" anchor="t">
            <a:spAutoFit/>
          </a:bodyPr>
          <a:lstStyle/>
          <a:p>
            <a:pPr algn="l">
              <a:spcAft>
                <a:spcPts val="0"/>
              </a:spcAft>
            </a:pPr>
            <a:r>
              <a:rPr sz="1350" b="0" i="0">
                <a:solidFill>
                  <a:srgbClr val="C3C9D2"/>
                </a:solidFill>
                <a:latin typeface="Calibri"/>
              </a:rPr>
              <a:t>The operator's window, the instrument discipline that produced these numbers, and an honest account of what none of them support.</a:t>
            </a:r>
          </a:p>
        </p:txBody>
      </p:sp>
      <p:sp>
        <p:nvSpPr>
          <p:cNvPr id="7" name="TextBox 6"/>
          <p:cNvSpPr txBox="1"/>
          <p:nvPr/>
        </p:nvSpPr>
        <p:spPr>
          <a:xfrm>
            <a:off x="10527487" y="6455664"/>
            <a:ext cx="1097280" cy="237744"/>
          </a:xfrm>
          <a:prstGeom prst="rect">
            <a:avLst/>
          </a:prstGeom>
          <a:noFill/>
        </p:spPr>
        <p:txBody>
          <a:bodyPr wrap="square" lIns="0" rIns="0" tIns="0" bIns="0" anchor="t">
            <a:spAutoFit/>
          </a:bodyPr>
          <a:lstStyle/>
          <a:p>
            <a:pPr algn="r">
              <a:spcAft>
                <a:spcPts val="0"/>
              </a:spcAft>
            </a:pPr>
            <a:r>
              <a:rPr sz="850" b="0" i="0">
                <a:solidFill>
                  <a:srgbClr val="5B6270"/>
                </a:solidFill>
                <a:latin typeface="Calibri"/>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OPERATOR</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window is the interface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61</a:t>
            </a:r>
          </a:p>
        </p:txBody>
      </p:sp>
      <p:sp>
        <p:nvSpPr>
          <p:cNvPr id="8" name="Rectangle 7"/>
          <p:cNvSpPr/>
          <p:nvPr/>
        </p:nvSpPr>
        <p:spPr>
          <a:xfrm>
            <a:off x="825500" y="1348740"/>
            <a:ext cx="7072376" cy="401421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ui_control_window.png"/>
          <p:cNvPicPr>
            <a:picLocks noChangeAspect="1"/>
          </p:cNvPicPr>
          <p:nvPr/>
        </p:nvPicPr>
        <p:blipFill>
          <a:blip r:embed="rId2"/>
          <a:stretch>
            <a:fillRect/>
          </a:stretch>
        </p:blipFill>
        <p:spPr>
          <a:xfrm>
            <a:off x="866648" y="1389888"/>
            <a:ext cx="6990080" cy="3931920"/>
          </a:xfrm>
          <a:prstGeom prst="rect">
            <a:avLst/>
          </a:prstGeom>
        </p:spPr>
      </p:pic>
      <p:sp>
        <p:nvSpPr>
          <p:cNvPr id="10" name="TextBox 9"/>
          <p:cNvSpPr txBox="1"/>
          <p:nvPr/>
        </p:nvSpPr>
        <p:spPr>
          <a:xfrm>
            <a:off x="8522207" y="1389888"/>
            <a:ext cx="3102559" cy="4352544"/>
          </a:xfrm>
          <a:prstGeom prst="rect">
            <a:avLst/>
          </a:prstGeom>
          <a:noFill/>
        </p:spPr>
        <p:txBody>
          <a:bodyPr wrap="square" lIns="0" rIns="0" tIns="0" bIns="0" anchor="t">
            <a:spAutoFit/>
          </a:bodyPr>
          <a:lstStyle/>
          <a:p>
            <a:pPr algn="l">
              <a:spcAft>
                <a:spcPts val="200"/>
              </a:spcAft>
            </a:pPr>
            <a:r>
              <a:rPr sz="1050" b="1" i="0">
                <a:solidFill>
                  <a:srgbClr val="0E1116"/>
                </a:solidFill>
                <a:latin typeface="Calibri"/>
              </a:rPr>
              <a:t>Every capability reaches the window</a:t>
            </a:r>
          </a:p>
          <a:p>
            <a:pPr algn="l">
              <a:spcAft>
                <a:spcPts val="900"/>
              </a:spcAft>
            </a:pPr>
            <a:r>
              <a:rPr sz="900" b="0" i="0">
                <a:solidFill>
                  <a:srgbClr val="1B1D21"/>
                </a:solidFill>
                <a:latin typeface="Calibri"/>
              </a:rPr>
              <a:t>A feature reachable only from a terminal does not exist for the person running the session.</a:t>
            </a:r>
          </a:p>
          <a:p>
            <a:pPr algn="l">
              <a:spcAft>
                <a:spcPts val="200"/>
              </a:spcAft>
            </a:pPr>
            <a:r>
              <a:rPr sz="1050" b="1" i="0">
                <a:solidFill>
                  <a:srgbClr val="0E1116"/>
                </a:solidFill>
                <a:latin typeface="Calibri"/>
              </a:rPr>
              <a:t>257 checks, 0 failed</a:t>
            </a:r>
          </a:p>
          <a:p>
            <a:pPr algn="l">
              <a:spcAft>
                <a:spcPts val="900"/>
              </a:spcAft>
            </a:pPr>
            <a:r>
              <a:rPr sz="900" b="0" i="0">
                <a:solidFill>
                  <a:srgbClr val="1B1D21"/>
                </a:solidFill>
                <a:latin typeface="Calibri"/>
              </a:rPr>
              <a:t>The audit presses every button AND checks what the press did — the e-stop must reach /estop, and a service button with no stack must say so.</a:t>
            </a:r>
          </a:p>
          <a:p>
            <a:pPr algn="l">
              <a:spcAft>
                <a:spcPts val="200"/>
              </a:spcAft>
            </a:pPr>
            <a:r>
              <a:rPr sz="1050" b="1" i="0">
                <a:solidFill>
                  <a:srgbClr val="0E1116"/>
                </a:solidFill>
                <a:latin typeface="Calibri"/>
              </a:rPr>
              <a:t>A passing audit is not proof</a:t>
            </a:r>
          </a:p>
          <a:p>
            <a:pPr algn="l">
              <a:spcAft>
                <a:spcPts val="900"/>
              </a:spcAft>
            </a:pPr>
            <a:r>
              <a:rPr sz="900" b="0" i="0">
                <a:solidFill>
                  <a:srgbClr val="1B1D21"/>
                </a:solidFill>
                <a:latin typeface="Calibri"/>
              </a:rPr>
              <a:t>Three defects lived for weeks behind a green return code: an invisible embedded RViz, a control column capped below its own content, and every mode button below the fold. So: launch it and look at it.</a:t>
            </a:r>
          </a:p>
        </p:txBody>
      </p:sp>
      <p:sp>
        <p:nvSpPr>
          <p:cNvPr id="11" name="TextBox 10"/>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audit's own worst catch: it had HUNG on a modal consent dialog since that dialog was added, so it never reached the presses that would have shown five buttons doing nothing silently inside a Qt slot.</a:t>
            </a:r>
          </a:p>
          <a:p>
            <a:pPr algn="l">
              <a:spcAft>
                <a:spcPts val="0"/>
              </a:spcAft>
            </a:pPr>
            <a:r>
              <a:rPr sz="850" b="0" i="0">
                <a:solidFill>
                  <a:srgbClr val="6B7280"/>
                </a:solidFill>
                <a:latin typeface="Consolas"/>
              </a:rPr>
              <a:t>source: recordings/session/20260824_190937/control_window.png; scripts/verify_gui_buttons.py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OPERATOR</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Commanded against actual, side by side</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62</a:t>
            </a:r>
          </a:p>
        </p:txBody>
      </p:sp>
      <p:sp>
        <p:nvSpPr>
          <p:cNvPr id="8" name="Rectangle 7"/>
          <p:cNvSpPr/>
          <p:nvPr/>
        </p:nvSpPr>
        <p:spPr>
          <a:xfrm>
            <a:off x="525780" y="1721215"/>
            <a:ext cx="5474055" cy="3452145"/>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ui_rviz_after_fix.png"/>
          <p:cNvPicPr>
            <a:picLocks noChangeAspect="1"/>
          </p:cNvPicPr>
          <p:nvPr/>
        </p:nvPicPr>
        <p:blipFill>
          <a:blip r:embed="rId2"/>
          <a:stretch>
            <a:fillRect/>
          </a:stretch>
        </p:blipFill>
        <p:spPr>
          <a:xfrm>
            <a:off x="566928" y="1762363"/>
            <a:ext cx="5391759" cy="3369849"/>
          </a:xfrm>
          <a:prstGeom prst="rect">
            <a:avLst/>
          </a:prstGeom>
        </p:spPr>
      </p:pic>
      <p:sp>
        <p:nvSpPr>
          <p:cNvPr id="10" name="TextBox 9"/>
          <p:cNvSpPr txBox="1"/>
          <p:nvPr/>
        </p:nvSpPr>
        <p:spPr>
          <a:xfrm>
            <a:off x="566928"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the embedded COMMANDED view</a:t>
            </a:r>
          </a:p>
        </p:txBody>
      </p:sp>
      <p:sp>
        <p:nvSpPr>
          <p:cNvPr id="11" name="Rectangle 10"/>
          <p:cNvSpPr/>
          <p:nvPr/>
        </p:nvSpPr>
        <p:spPr>
          <a:xfrm>
            <a:off x="6191859" y="1889707"/>
            <a:ext cx="5474055" cy="311516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ui_dual_panels.png"/>
          <p:cNvPicPr>
            <a:picLocks noChangeAspect="1"/>
          </p:cNvPicPr>
          <p:nvPr/>
        </p:nvPicPr>
        <p:blipFill>
          <a:blip r:embed="rId3"/>
          <a:stretch>
            <a:fillRect/>
          </a:stretch>
        </p:blipFill>
        <p:spPr>
          <a:xfrm>
            <a:off x="6233007" y="1930855"/>
            <a:ext cx="5391759" cy="3032864"/>
          </a:xfrm>
          <a:prstGeom prst="rect">
            <a:avLst/>
          </a:prstGeom>
        </p:spPr>
      </p:pic>
      <p:sp>
        <p:nvSpPr>
          <p:cNvPr id="13" name="TextBox 12"/>
          <p:cNvSpPr txBox="1"/>
          <p:nvPr/>
        </p:nvSpPr>
        <p:spPr>
          <a:xfrm>
            <a:off x="6233007" y="5559551"/>
            <a:ext cx="5391759" cy="219456"/>
          </a:xfrm>
          <a:prstGeom prst="rect">
            <a:avLst/>
          </a:prstGeom>
          <a:noFill/>
        </p:spPr>
        <p:txBody>
          <a:bodyPr wrap="square" lIns="0" rIns="0" tIns="0" bIns="0" anchor="t">
            <a:spAutoFit/>
          </a:bodyPr>
          <a:lstStyle/>
          <a:p>
            <a:pPr algn="ctr">
              <a:spcAft>
                <a:spcPts val="0"/>
              </a:spcAft>
            </a:pPr>
            <a:r>
              <a:rPr sz="1000" b="1" i="0">
                <a:solidFill>
                  <a:srgbClr val="1F5FA8"/>
                </a:solidFill>
                <a:latin typeface="Calibri"/>
              </a:rPr>
              <a:t>both panels and the divergence readout</a:t>
            </a:r>
          </a:p>
        </p:txBody>
      </p:sp>
      <p:sp>
        <p:nvSpPr>
          <p:cNvPr id="14" name="TextBox 13"/>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RViz (COMMANDED) embedded beside a native ACTUAL panel drawn from the real_* frames, with the divergence readout under both. The RViz master draws three states, not two — commanded, actual, and PLANNED-BUT-REFUSED with its reason string, which cannot be drawn without one.</a:t>
            </a:r>
          </a:p>
          <a:p>
            <a:pPr algn="l">
              <a:spcAft>
                <a:spcPts val="0"/>
              </a:spcAft>
            </a:pPr>
            <a:r>
              <a:rPr sz="850" b="0" i="0">
                <a:solidFill>
                  <a:srgbClr val="6B7280"/>
                </a:solidFill>
                <a:latin typeface="Consolas"/>
              </a:rPr>
              <a:t>source: thesis_v2/figures/rviz_after_fix.png; docs/img/gui_dual_panels.png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METHOD</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standing rule, and what it caught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63</a:t>
            </a:r>
          </a:p>
        </p:txBody>
      </p:sp>
      <p:sp>
        <p:nvSpPr>
          <p:cNvPr id="8" name="TextBox 7"/>
          <p:cNvSpPr txBox="1"/>
          <p:nvPr/>
        </p:nvSpPr>
        <p:spPr>
          <a:xfrm>
            <a:off x="566928" y="1389888"/>
            <a:ext cx="11057839" cy="4352544"/>
          </a:xfrm>
          <a:prstGeom prst="rect">
            <a:avLst/>
          </a:prstGeom>
          <a:noFill/>
        </p:spPr>
        <p:txBody>
          <a:bodyPr wrap="square" lIns="0" rIns="0" tIns="0" bIns="0" anchor="t">
            <a:spAutoFit/>
          </a:bodyPr>
          <a:lstStyle/>
          <a:p>
            <a:pPr algn="l">
              <a:spcAft>
                <a:spcPts val="200"/>
              </a:spcAft>
            </a:pPr>
            <a:r>
              <a:rPr sz="1400" b="1" i="0">
                <a:solidFill>
                  <a:srgbClr val="0E1116"/>
                </a:solidFill>
                <a:latin typeface="Calibri"/>
              </a:rPr>
              <a:t>Before reporting a bad measurement, validate the instrument.</a:t>
            </a:r>
          </a:p>
          <a:p>
            <a:pPr algn="l">
              <a:spcAft>
                <a:spcPts val="900"/>
              </a:spcAft>
            </a:pPr>
            <a:r>
              <a:rPr sz="1250" b="0" i="0">
                <a:solidFill>
                  <a:srgbClr val="1B1D21"/>
                </a:solidFill>
                <a:latin typeface="Calibri"/>
              </a:rPr>
              <a:t>A surprising failure is evidence about the INSTRUMENT until the instrument has been cleared. This has been the fault seventeen times.</a:t>
            </a:r>
          </a:p>
        </p:txBody>
      </p:sp>
      <p:sp>
        <p:nvSpPr>
          <p:cNvPr id="9" name="Rectangle 8"/>
          <p:cNvSpPr/>
          <p:nvPr/>
        </p:nvSpPr>
        <p:spPr>
          <a:xfrm>
            <a:off x="566928" y="2258568"/>
            <a:ext cx="11073384" cy="329184"/>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322575"/>
            <a:ext cx="4114800" cy="237744"/>
          </a:xfrm>
          <a:prstGeom prst="rect">
            <a:avLst/>
          </a:prstGeom>
          <a:noFill/>
        </p:spPr>
        <p:txBody>
          <a:bodyPr wrap="square" lIns="0" rIns="0" tIns="0" bIns="0" anchor="t">
            <a:spAutoFit/>
          </a:bodyPr>
          <a:lstStyle/>
          <a:p>
            <a:pPr algn="l">
              <a:spcAft>
                <a:spcPts val="0"/>
              </a:spcAft>
            </a:pPr>
            <a:r>
              <a:rPr sz="1050" b="1" i="0">
                <a:solidFill>
                  <a:srgbClr val="FFFFFF"/>
                </a:solidFill>
                <a:latin typeface="Calibri"/>
              </a:rPr>
              <a:t>what it looked like</a:t>
            </a:r>
          </a:p>
        </p:txBody>
      </p:sp>
      <p:sp>
        <p:nvSpPr>
          <p:cNvPr id="11" name="TextBox 10"/>
          <p:cNvSpPr txBox="1"/>
          <p:nvPr/>
        </p:nvSpPr>
        <p:spPr>
          <a:xfrm>
            <a:off x="4974336" y="2322575"/>
            <a:ext cx="6592824" cy="237744"/>
          </a:xfrm>
          <a:prstGeom prst="rect">
            <a:avLst/>
          </a:prstGeom>
          <a:noFill/>
        </p:spPr>
        <p:txBody>
          <a:bodyPr wrap="square" lIns="0" rIns="0" tIns="0" bIns="0" anchor="t">
            <a:spAutoFit/>
          </a:bodyPr>
          <a:lstStyle/>
          <a:p>
            <a:pPr algn="l">
              <a:spcAft>
                <a:spcPts val="0"/>
              </a:spcAft>
            </a:pPr>
            <a:r>
              <a:rPr sz="1050" b="1" i="0">
                <a:solidFill>
                  <a:srgbClr val="FFFFFF"/>
                </a:solidFill>
                <a:latin typeface="Calibri"/>
              </a:rPr>
              <a:t>what it actually was</a:t>
            </a:r>
          </a:p>
        </p:txBody>
      </p:sp>
      <p:sp>
        <p:nvSpPr>
          <p:cNvPr id="12" name="Rectangle 11"/>
          <p:cNvSpPr/>
          <p:nvPr/>
        </p:nvSpPr>
        <p:spPr>
          <a:xfrm>
            <a:off x="566928" y="2587751"/>
            <a:ext cx="11073384"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638044"/>
            <a:ext cx="4114800" cy="566928"/>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T2's grippers never closed</a:t>
            </a:r>
          </a:p>
        </p:txBody>
      </p:sp>
      <p:sp>
        <p:nvSpPr>
          <p:cNvPr id="14" name="TextBox 13"/>
          <p:cNvSpPr txBox="1"/>
          <p:nvPr/>
        </p:nvSpPr>
        <p:spPr>
          <a:xfrm>
            <a:off x="4974336" y="2638044"/>
            <a:ext cx="6592824" cy="566928"/>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run_abc held a grip until the pads REACHED the object — unsatisfiable for a task declaring grip_obj=None</a:t>
            </a:r>
          </a:p>
        </p:txBody>
      </p:sp>
      <p:sp>
        <p:nvSpPr>
          <p:cNvPr id="15" name="TextBox 14"/>
          <p:cNvSpPr txBox="1"/>
          <p:nvPr/>
        </p:nvSpPr>
        <p:spPr>
          <a:xfrm>
            <a:off x="676656" y="3204972"/>
            <a:ext cx="4114800" cy="566928"/>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A flaky autonomy task</a:t>
            </a:r>
          </a:p>
        </p:txBody>
      </p:sp>
      <p:sp>
        <p:nvSpPr>
          <p:cNvPr id="16" name="TextBox 15"/>
          <p:cNvSpPr txBox="1"/>
          <p:nvPr/>
        </p:nvSpPr>
        <p:spPr>
          <a:xfrm>
            <a:off x="4974336" y="3204972"/>
            <a:ext cx="6592824" cy="566928"/>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clip_scene measured stage 2 at stage 1's approach: a 99.1 mm error in the MEASUREMENT, not the task</a:t>
            </a:r>
          </a:p>
        </p:txBody>
      </p:sp>
      <p:sp>
        <p:nvSpPr>
          <p:cNvPr id="17" name="Rectangle 16"/>
          <p:cNvSpPr/>
          <p:nvPr/>
        </p:nvSpPr>
        <p:spPr>
          <a:xfrm>
            <a:off x="566928" y="3721607"/>
            <a:ext cx="11073384"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3771899"/>
            <a:ext cx="4114800" cy="566928"/>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A grasp that was 13.47 mm short</a:t>
            </a:r>
          </a:p>
        </p:txBody>
      </p:sp>
      <p:sp>
        <p:nvSpPr>
          <p:cNvPr id="19" name="TextBox 18"/>
          <p:cNvSpPr txBox="1"/>
          <p:nvPr/>
        </p:nvSpPr>
        <p:spPr>
          <a:xfrm>
            <a:off x="4974336" y="3771899"/>
            <a:ext cx="6592824" cy="566928"/>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PAD_MID_EE was derived, not measured — and the pad midpoint is a curve, not a constant: the fingers swing on a four-bar</a:t>
            </a:r>
          </a:p>
        </p:txBody>
      </p:sp>
      <p:sp>
        <p:nvSpPr>
          <p:cNvPr id="20" name="TextBox 19"/>
          <p:cNvSpPr txBox="1"/>
          <p:nvPr/>
        </p:nvSpPr>
        <p:spPr>
          <a:xfrm>
            <a:off x="676656" y="4338827"/>
            <a:ext cx="4114800" cy="566928"/>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A failing test called '='</a:t>
            </a:r>
          </a:p>
        </p:txBody>
      </p:sp>
      <p:sp>
        <p:nvSpPr>
          <p:cNvPr id="21" name="TextBox 20"/>
          <p:cNvSpPr txBox="1"/>
          <p:nvPr/>
        </p:nvSpPr>
        <p:spPr>
          <a:xfrm>
            <a:off x="4974336" y="4338827"/>
            <a:ext cx="6592824" cy="566928"/>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the test gate matched ^FAILED over pytest output, and pep257 echoes the source lines it objects to</a:t>
            </a:r>
          </a:p>
        </p:txBody>
      </p:sp>
      <p:sp>
        <p:nvSpPr>
          <p:cNvPr id="22" name="Rectangle 21"/>
          <p:cNvSpPr/>
          <p:nvPr/>
        </p:nvSpPr>
        <p:spPr>
          <a:xfrm>
            <a:off x="566928" y="4855464"/>
            <a:ext cx="11073384"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4905755"/>
            <a:ext cx="4114800" cy="566928"/>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Three instruments reporting defects that did not exist</a:t>
            </a:r>
          </a:p>
        </p:txBody>
      </p:sp>
      <p:sp>
        <p:nvSpPr>
          <p:cNvPr id="24" name="TextBox 23"/>
          <p:cNvSpPr txBox="1"/>
          <p:nvPr/>
        </p:nvSpPr>
        <p:spPr>
          <a:xfrm>
            <a:off x="4974336" y="4905755"/>
            <a:ext cx="6592824" cy="566928"/>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an i % 2 arm mapping, a by-design absence read as a gap, and a release demanded from a task that never releases</a:t>
            </a:r>
          </a:p>
        </p:txBody>
      </p:sp>
      <p:sp>
        <p:nvSpPr>
          <p:cNvPr id="25" name="TextBox 24"/>
          <p:cNvSpPr txBox="1"/>
          <p:nvPr/>
        </p:nvSpPr>
        <p:spPr>
          <a:xfrm>
            <a:off x="566928" y="6016752"/>
            <a:ext cx="11057839" cy="795527"/>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Every analysis script carries a known-answer test, and a check that cannot fail on a deliberately broken input is not a check.</a:t>
            </a:r>
          </a:p>
          <a:p>
            <a:pPr algn="l">
              <a:spcAft>
                <a:spcPts val="0"/>
              </a:spcAft>
            </a:pPr>
            <a:r>
              <a:rPr sz="850" b="0" i="0">
                <a:solidFill>
                  <a:srgbClr val="6B7280"/>
                </a:solidFill>
                <a:latin typeface="Consolas"/>
              </a:rPr>
              <a:t>source: CLAUDE.md — THE STANDING RULE; docs/system/findings.md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LIMITS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What is verified, and what is not</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64</a:t>
            </a:r>
          </a:p>
        </p:txBody>
      </p:sp>
      <p:sp>
        <p:nvSpPr>
          <p:cNvPr id="8" name="Rectangle 7"/>
          <p:cNvSpPr/>
          <p:nvPr/>
        </p:nvSpPr>
        <p:spPr>
          <a:xfrm>
            <a:off x="566928" y="1389888"/>
            <a:ext cx="5382615" cy="41148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389888"/>
            <a:ext cx="50292" cy="4114800"/>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54480"/>
            <a:ext cx="4925415" cy="292608"/>
          </a:xfrm>
          <a:prstGeom prst="rect">
            <a:avLst/>
          </a:prstGeom>
          <a:noFill/>
        </p:spPr>
        <p:txBody>
          <a:bodyPr wrap="square" lIns="0" rIns="0" tIns="0" bIns="0" anchor="t">
            <a:spAutoFit/>
          </a:bodyPr>
          <a:lstStyle/>
          <a:p>
            <a:pPr algn="l">
              <a:spcAft>
                <a:spcPts val="0"/>
              </a:spcAft>
            </a:pPr>
            <a:r>
              <a:rPr sz="1150" b="1" i="0">
                <a:solidFill>
                  <a:srgbClr val="2F7D4F"/>
                </a:solidFill>
                <a:latin typeface="Calibri"/>
              </a:rPr>
              <a:t>MEASURED, AND THE FILE IS COMMITTED</a:t>
            </a:r>
          </a:p>
        </p:txBody>
      </p:sp>
      <p:sp>
        <p:nvSpPr>
          <p:cNvPr id="11" name="TextBox 10"/>
          <p:cNvSpPr txBox="1"/>
          <p:nvPr/>
        </p:nvSpPr>
        <p:spPr>
          <a:xfrm>
            <a:off x="822960" y="1938528"/>
            <a:ext cx="4879695" cy="3803904"/>
          </a:xfrm>
          <a:prstGeom prst="rect">
            <a:avLst/>
          </a:prstGeom>
          <a:noFill/>
        </p:spPr>
        <p:txBody>
          <a:bodyPr wrap="square" lIns="0" rIns="0" tIns="0" bIns="0" anchor="t">
            <a:spAutoFit/>
          </a:bodyPr>
          <a:lstStyle/>
          <a:p>
            <a:pPr algn="l">
              <a:spcAft>
                <a:spcPts val="600"/>
              </a:spcAft>
            </a:pPr>
            <a:r>
              <a:rPr sz="1050" b="0" i="0">
                <a:solidFill>
                  <a:srgbClr val="1B1D21"/>
                </a:solidFill>
                <a:latin typeface="Calibri"/>
              </a:rPr>
              <a:t>— Grasping and placement across five modes, 17 cells × 8 angles</a:t>
            </a:r>
          </a:p>
          <a:p>
            <a:pPr algn="l">
              <a:spcAft>
                <a:spcPts val="600"/>
              </a:spcAft>
            </a:pPr>
            <a:r>
              <a:rPr sz="1050" b="0" i="0">
                <a:solidFill>
                  <a:srgbClr val="1B1D21"/>
                </a:solidFill>
                <a:latin typeface="Calibri"/>
              </a:rPr>
              <a:t>— The parking error, on 36 real-hardware runs</a:t>
            </a:r>
          </a:p>
          <a:p>
            <a:pPr algn="l">
              <a:spcAft>
                <a:spcPts val="600"/>
              </a:spcAft>
            </a:pPr>
            <a:r>
              <a:rPr sz="1050" b="0" i="0">
                <a:solidFill>
                  <a:srgbClr val="1B1D21"/>
                </a:solidFill>
                <a:latin typeface="Calibri"/>
              </a:rPr>
              <a:t>— Ruckig against the clamp it replaced, including the sweep showing the clamp cannot be tuned</a:t>
            </a:r>
          </a:p>
          <a:p>
            <a:pPr algn="l">
              <a:spcAft>
                <a:spcPts val="600"/>
              </a:spcAft>
            </a:pPr>
            <a:r>
              <a:rPr sz="1050" b="0" i="0">
                <a:solidFill>
                  <a:srgbClr val="1B1D21"/>
                </a:solidFill>
                <a:latin typeface="Calibri"/>
              </a:rPr>
              <a:t>— Workspace reach per direction at N = 10 over the whole path</a:t>
            </a:r>
          </a:p>
          <a:p>
            <a:pPr algn="l">
              <a:spcAft>
                <a:spcPts val="600"/>
              </a:spcAft>
            </a:pPr>
            <a:r>
              <a:rPr sz="1050" b="0" i="0">
                <a:solidFill>
                  <a:srgbClr val="1B1D21"/>
                </a:solidFill>
                <a:latin typeface="Calibri"/>
              </a:rPr>
              <a:t>— Clearance to the wearer, geometrically, per task</a:t>
            </a:r>
          </a:p>
          <a:p>
            <a:pPr algn="l">
              <a:spcAft>
                <a:spcPts val="600"/>
              </a:spcAft>
            </a:pPr>
            <a:r>
              <a:rPr sz="1050" b="0" i="0">
                <a:solidFill>
                  <a:srgbClr val="1B1D21"/>
                </a:solidFill>
                <a:latin typeface="Calibri"/>
              </a:rPr>
              <a:t>— Six injected perception faults, each refusal naming its own fault</a:t>
            </a:r>
          </a:p>
          <a:p>
            <a:pPr algn="l">
              <a:spcAft>
                <a:spcPts val="600"/>
              </a:spcAft>
            </a:pPr>
            <a:r>
              <a:rPr sz="1050" b="0" i="0">
                <a:solidFill>
                  <a:srgbClr val="1B1D21"/>
                </a:solidFill>
                <a:latin typeface="Calibri"/>
              </a:rPr>
              <a:t>— 1381 unit tests passing; 257 GUI checks, 0 failed</a:t>
            </a:r>
          </a:p>
        </p:txBody>
      </p:sp>
      <p:sp>
        <p:nvSpPr>
          <p:cNvPr id="12" name="Rectangle 11"/>
          <p:cNvSpPr/>
          <p:nvPr/>
        </p:nvSpPr>
        <p:spPr>
          <a:xfrm>
            <a:off x="6242151" y="1389888"/>
            <a:ext cx="5382615" cy="41148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2151" y="1389888"/>
            <a:ext cx="50292" cy="4114800"/>
          </a:xfrm>
          <a:prstGeom prst="rect">
            <a:avLst/>
          </a:prstGeom>
          <a:solidFill>
            <a:srgbClr val="C1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8183" y="1554480"/>
            <a:ext cx="4925415" cy="292608"/>
          </a:xfrm>
          <a:prstGeom prst="rect">
            <a:avLst/>
          </a:prstGeom>
          <a:noFill/>
        </p:spPr>
        <p:txBody>
          <a:bodyPr wrap="square" lIns="0" rIns="0" tIns="0" bIns="0" anchor="t">
            <a:spAutoFit/>
          </a:bodyPr>
          <a:lstStyle/>
          <a:p>
            <a:pPr algn="l">
              <a:spcAft>
                <a:spcPts val="0"/>
              </a:spcAft>
            </a:pPr>
            <a:r>
              <a:rPr sz="1150" b="1" i="0">
                <a:solidFill>
                  <a:srgbClr val="C1392B"/>
                </a:solidFill>
                <a:latin typeface="Calibri"/>
              </a:rPr>
              <a:t>NOT MEASURED — AND NOT CLAIMED</a:t>
            </a:r>
          </a:p>
        </p:txBody>
      </p:sp>
      <p:sp>
        <p:nvSpPr>
          <p:cNvPr id="15" name="TextBox 14"/>
          <p:cNvSpPr txBox="1"/>
          <p:nvPr/>
        </p:nvSpPr>
        <p:spPr>
          <a:xfrm>
            <a:off x="6498183" y="1938528"/>
            <a:ext cx="4879695" cy="3803904"/>
          </a:xfrm>
          <a:prstGeom prst="rect">
            <a:avLst/>
          </a:prstGeom>
          <a:noFill/>
        </p:spPr>
        <p:txBody>
          <a:bodyPr wrap="square" lIns="0" rIns="0" tIns="0" bIns="0" anchor="t">
            <a:spAutoFit/>
          </a:bodyPr>
          <a:lstStyle/>
          <a:p>
            <a:pPr algn="l">
              <a:spcAft>
                <a:spcPts val="600"/>
              </a:spcAft>
            </a:pPr>
            <a:r>
              <a:rPr sz="1050" b="0" i="0">
                <a:solidFill>
                  <a:srgbClr val="1B1D21"/>
                </a:solidFill>
                <a:latin typeface="Calibri"/>
              </a:rPr>
              <a:t>— NO HUMAN DATA HAS BEEN COLLECTED AT ALL — blocked on ethics</a:t>
            </a:r>
          </a:p>
          <a:p>
            <a:pPr algn="l">
              <a:spcAft>
                <a:spcPts val="600"/>
              </a:spcAft>
            </a:pPr>
            <a:r>
              <a:rPr sz="1050" b="0" i="0">
                <a:solidFill>
                  <a:srgbClr val="1B1D21"/>
                </a:solidFill>
                <a:latin typeface="Calibri"/>
              </a:rPr>
              <a:t>— Speech recognition against a real speaker: /dev/snd has only 'timer', so every voice number came from synthesised audio</a:t>
            </a:r>
          </a:p>
          <a:p>
            <a:pPr algn="l">
              <a:spcAft>
                <a:spcPts val="600"/>
              </a:spcAft>
            </a:pPr>
            <a:r>
              <a:rPr sz="1050" b="0" i="0">
                <a:solidFill>
                  <a:srgbClr val="1B1D21"/>
                </a:solidFill>
                <a:latin typeface="Calibri"/>
              </a:rPr>
              <a:t>— The sim-to-real compensation, on hardware</a:t>
            </a:r>
          </a:p>
          <a:p>
            <a:pPr algn="l">
              <a:spcAft>
                <a:spcPts val="600"/>
              </a:spcAft>
            </a:pPr>
            <a:r>
              <a:rPr sz="1050" b="0" i="0">
                <a:solidFill>
                  <a:srgbClr val="1B1D21"/>
                </a:solidFill>
                <a:latin typeface="Calibri"/>
              </a:rPr>
              <a:t>— How the parking error varies with speed</a:t>
            </a:r>
          </a:p>
          <a:p>
            <a:pPr algn="l">
              <a:spcAft>
                <a:spcPts val="600"/>
              </a:spcAft>
            </a:pPr>
            <a:r>
              <a:rPr sz="1050" b="0" i="0">
                <a:solidFill>
                  <a:srgbClr val="1B1D21"/>
                </a:solidFill>
                <a:latin typeface="Calibri"/>
              </a:rPr>
              <a:t>— camera_link against the physical camera module — the largest remaining unknown in the budget</a:t>
            </a:r>
          </a:p>
          <a:p>
            <a:pPr algn="l">
              <a:spcAft>
                <a:spcPts val="600"/>
              </a:spcAft>
            </a:pPr>
            <a:r>
              <a:rPr sz="1050" b="0" i="0">
                <a:solidFill>
                  <a:srgbClr val="1B1D21"/>
                </a:solidFill>
                <a:latin typeface="Calibri"/>
              </a:rPr>
              <a:t>— Detection rate at working distance</a:t>
            </a:r>
          </a:p>
          <a:p>
            <a:pPr algn="l">
              <a:spcAft>
                <a:spcPts val="600"/>
              </a:spcAft>
            </a:pPr>
            <a:r>
              <a:rPr sz="1050" b="0" i="0">
                <a:solidFill>
                  <a:srgbClr val="1B1D21"/>
                </a:solidFill>
                <a:latin typeface="Calibri"/>
              </a:rPr>
              <a:t>— 7 of 14 master channels are incoherent; a soldering problem</a:t>
            </a:r>
          </a:p>
        </p:txBody>
      </p:sp>
      <p:sp>
        <p:nvSpPr>
          <p:cNvPr id="16" name="TextBox 15"/>
          <p:cNvSpPr txBox="1"/>
          <p:nvPr/>
        </p:nvSpPr>
        <p:spPr>
          <a:xfrm>
            <a:off x="566928" y="6016752"/>
            <a:ext cx="11057839" cy="795527"/>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Worn operation is &gt;17 kg with no gravity compensation on someone who did not choose the motion. The operator and the wearer are different people and consent separately.</a:t>
            </a:r>
          </a:p>
          <a:p>
            <a:pPr algn="l">
              <a:spcAft>
                <a:spcPts val="0"/>
              </a:spcAft>
            </a:pPr>
            <a:r>
              <a:rPr sz="850" b="0" i="0">
                <a:solidFill>
                  <a:srgbClr val="6B7280"/>
                </a:solidFill>
                <a:latin typeface="Consolas"/>
              </a:rPr>
              <a:t>source: CLAUDE.md — Blocked on the lab / Blocked on ethics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LIMITS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The study that is designed but not run</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65</a:t>
            </a:r>
          </a:p>
        </p:txBody>
      </p:sp>
      <p:sp>
        <p:nvSpPr>
          <p:cNvPr id="8" name="Rectangle 7"/>
          <p:cNvSpPr/>
          <p:nvPr/>
        </p:nvSpPr>
        <p:spPr>
          <a:xfrm>
            <a:off x="2180989" y="1348740"/>
            <a:ext cx="7829716" cy="4434840"/>
          </a:xfrm>
          <a:prstGeom prst="rect">
            <a:avLst/>
          </a:prstGeom>
          <a:solidFill>
            <a:srgbClr val="FFFFFF"/>
          </a:solidFill>
          <a:ln w="9525">
            <a:solidFill>
              <a:srgbClr val="D8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iag_experiment_design.png"/>
          <p:cNvPicPr>
            <a:picLocks noChangeAspect="1"/>
          </p:cNvPicPr>
          <p:nvPr/>
        </p:nvPicPr>
        <p:blipFill>
          <a:blip r:embed="rId2"/>
          <a:stretch>
            <a:fillRect/>
          </a:stretch>
        </p:blipFill>
        <p:spPr>
          <a:xfrm>
            <a:off x="2222137" y="1389888"/>
            <a:ext cx="7747420" cy="4352544"/>
          </a:xfrm>
          <a:prstGeom prst="rect">
            <a:avLst/>
          </a:prstGeom>
        </p:spPr>
      </p:pic>
      <p:sp>
        <p:nvSpPr>
          <p:cNvPr id="10" name="TextBox 9"/>
          <p:cNvSpPr txBox="1"/>
          <p:nvPr/>
        </p:nvSpPr>
        <p:spPr>
          <a:xfrm>
            <a:off x="566928" y="5833872"/>
            <a:ext cx="11057839" cy="914400"/>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The protocol, the conditions and the analysis exist and are written up. No participant has been recruited: anonymity is enforced in code — write_manifest() raises on name, email, date of birth, address and phone — but consent has not been sought, so the participant results chapter is deliberately empty.</a:t>
            </a:r>
          </a:p>
          <a:p>
            <a:pPr algn="l">
              <a:spcAft>
                <a:spcPts val="0"/>
              </a:spcAft>
            </a:pPr>
            <a:r>
              <a:rPr sz="850" b="0" i="0">
                <a:solidFill>
                  <a:srgbClr val="6B7280"/>
                </a:solidFill>
                <a:latin typeface="Consolas"/>
              </a:rPr>
              <a:t>source: thesis_v2/figures/diagrams/experiment_design.tex; docs/research/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CONCLUSION</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Contributions</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66</a:t>
            </a:r>
          </a:p>
        </p:txBody>
      </p:sp>
      <p:sp>
        <p:nvSpPr>
          <p:cNvPr id="8" name="TextBox 7"/>
          <p:cNvSpPr txBox="1"/>
          <p:nvPr/>
        </p:nvSpPr>
        <p:spPr>
          <a:xfrm>
            <a:off x="566928" y="1389888"/>
            <a:ext cx="11057839" cy="4352544"/>
          </a:xfrm>
          <a:prstGeom prst="rect">
            <a:avLst/>
          </a:prstGeom>
          <a:noFill/>
        </p:spPr>
        <p:txBody>
          <a:bodyPr wrap="square" lIns="0" rIns="0" tIns="0" bIns="0" anchor="t">
            <a:spAutoFit/>
          </a:bodyPr>
          <a:lstStyle/>
          <a:p>
            <a:pPr algn="l">
              <a:spcAft>
                <a:spcPts val="200"/>
              </a:spcAft>
            </a:pPr>
            <a:r>
              <a:rPr sz="1200" b="1" i="0">
                <a:solidFill>
                  <a:srgbClr val="0E1116"/>
                </a:solidFill>
                <a:latin typeface="Calibri"/>
              </a:rPr>
              <a:t>A working multimodal master interface</a:t>
            </a:r>
          </a:p>
          <a:p>
            <a:pPr algn="l">
              <a:spcAft>
                <a:spcPts val="900"/>
              </a:spcAft>
            </a:pPr>
            <a:r>
              <a:rPr sz="1050" b="0" i="0">
                <a:solidFill>
                  <a:srgbClr val="1B1D21"/>
                </a:solidFill>
                <a:latin typeface="Calibri"/>
              </a:rPr>
              <a:t>Four input routes — instrumented mannequin arm, VR controllers, shared autonomy over either, and a typed or spoken sentence — into one arm-command path, with the baseline condition kept free of in-repo dependencies so the comparison is not circular.</a:t>
            </a:r>
          </a:p>
          <a:p>
            <a:pPr algn="l">
              <a:spcAft>
                <a:spcPts val="200"/>
              </a:spcAft>
            </a:pPr>
            <a:r>
              <a:rPr sz="1200" b="1" i="0">
                <a:solidFill>
                  <a:srgbClr val="0E1116"/>
                </a:solidFill>
                <a:latin typeface="Calibri"/>
              </a:rPr>
              <a:t>A safety architecture that measures the wearer rather than trusting the planner</a:t>
            </a:r>
          </a:p>
          <a:p>
            <a:pPr algn="l">
              <a:spcAft>
                <a:spcPts val="900"/>
              </a:spcAft>
            </a:pPr>
            <a:r>
              <a:rPr sz="1050" b="0" i="0">
                <a:solidFill>
                  <a:srgbClr val="1B1D21"/>
                </a:solidFill>
                <a:latin typeface="Calibri"/>
              </a:rPr>
              <a:t>The wearer's body and posture are variables with one source; the camera may only ever make that body BIGGER; and the clearance floor is enforced against the same body the planner sees.</a:t>
            </a:r>
          </a:p>
          <a:p>
            <a:pPr algn="l">
              <a:spcAft>
                <a:spcPts val="200"/>
              </a:spcAft>
            </a:pPr>
            <a:r>
              <a:rPr sz="1200" b="1" i="0">
                <a:solidFill>
                  <a:srgbClr val="0E1116"/>
                </a:solidFill>
                <a:latin typeface="Calibri"/>
              </a:rPr>
              <a:t>A workspace characterisation that sizes its own constraints</a:t>
            </a:r>
          </a:p>
          <a:p>
            <a:pPr algn="l">
              <a:spcAft>
                <a:spcPts val="900"/>
              </a:spcAft>
            </a:pPr>
            <a:r>
              <a:rPr sz="1050" b="0" i="0">
                <a:solidFill>
                  <a:srgbClr val="1B1D21"/>
                </a:solidFill>
                <a:latin typeface="Calibri"/>
              </a:rPr>
              <a:t>The pinned wrist costs a factor of seven at the work point, the torso is what closes the centre, and top-down on a surface is not achievable at all — each with the search that establishes it.</a:t>
            </a:r>
          </a:p>
          <a:p>
            <a:pPr algn="l">
              <a:spcAft>
                <a:spcPts val="200"/>
              </a:spcAft>
            </a:pPr>
            <a:r>
              <a:rPr sz="1200" b="1" i="0">
                <a:solidFill>
                  <a:srgbClr val="0E1116"/>
                </a:solidFill>
                <a:latin typeface="Calibri"/>
              </a:rPr>
              <a:t>Autonomy from a sentence, with zero misunderstandings</a:t>
            </a:r>
          </a:p>
          <a:p>
            <a:pPr algn="l">
              <a:spcAft>
                <a:spcPts val="900"/>
              </a:spcAft>
            </a:pPr>
            <a:r>
              <a:rPr sz="1050" b="0" i="0">
                <a:solidFill>
                  <a:srgbClr val="1B1D21"/>
                </a:solidFill>
                <a:latin typeface="Calibri"/>
              </a:rPr>
              <a:t>40 phrasings in the vision-coupled sweep and 75 in the parser sweep; ambiguity asks, and the ask is answerable in the same box.</a:t>
            </a:r>
          </a:p>
          <a:p>
            <a:pPr algn="l">
              <a:spcAft>
                <a:spcPts val="200"/>
              </a:spcAft>
            </a:pPr>
            <a:r>
              <a:rPr sz="1200" b="1" i="0">
                <a:solidFill>
                  <a:srgbClr val="0E1116"/>
                </a:solidFill>
                <a:latin typeface="Calibri"/>
              </a:rPr>
              <a:t>An instrument discipline, and the ledger of what it caught</a:t>
            </a:r>
          </a:p>
          <a:p>
            <a:pPr algn="l">
              <a:spcAft>
                <a:spcPts val="900"/>
              </a:spcAft>
            </a:pPr>
            <a:r>
              <a:rPr sz="1050" b="0" i="0">
                <a:solidFill>
                  <a:srgbClr val="1B1D21"/>
                </a:solidFill>
                <a:latin typeface="Calibri"/>
              </a:rPr>
              <a:t>Seventeen occasions where the measuring tool was the fault, each written up with the mechanism — which is itself a result about how to evaluate a system like this.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1057839" cy="219456"/>
          </a:xfrm>
          <a:prstGeom prst="rect">
            <a:avLst/>
          </a:prstGeom>
          <a:noFill/>
        </p:spPr>
        <p:txBody>
          <a:bodyPr wrap="square" lIns="0" rIns="0" tIns="0" bIns="0" anchor="t">
            <a:spAutoFit/>
          </a:bodyPr>
          <a:lstStyle/>
          <a:p>
            <a:pPr algn="l">
              <a:spcAft>
                <a:spcPts val="0"/>
              </a:spcAft>
            </a:pPr>
            <a:r>
              <a:rPr sz="1050" b="1" i="0">
                <a:solidFill>
                  <a:srgbClr val="1F5FA8"/>
                </a:solidFill>
                <a:latin typeface="Calibri"/>
              </a:rPr>
              <a:t>NEXT STEPS</a:t>
            </a:r>
          </a:p>
        </p:txBody>
      </p:sp>
      <p:sp>
        <p:nvSpPr>
          <p:cNvPr id="4" name="TextBox 3"/>
          <p:cNvSpPr txBox="1"/>
          <p:nvPr/>
        </p:nvSpPr>
        <p:spPr>
          <a:xfrm>
            <a:off x="566928" y="676656"/>
            <a:ext cx="11057839" cy="566928"/>
          </a:xfrm>
          <a:prstGeom prst="rect">
            <a:avLst/>
          </a:prstGeom>
          <a:noFill/>
        </p:spPr>
        <p:txBody>
          <a:bodyPr wrap="square" lIns="0" rIns="0" tIns="0" bIns="0" anchor="t">
            <a:spAutoFit/>
          </a:bodyPr>
          <a:lstStyle/>
          <a:p>
            <a:pPr algn="l">
              <a:spcAft>
                <a:spcPts val="0"/>
              </a:spcAft>
            </a:pPr>
            <a:r>
              <a:rPr sz="2500" b="1" i="0">
                <a:solidFill>
                  <a:srgbClr val="0E1116"/>
                </a:solidFill>
                <a:latin typeface="Calibri"/>
              </a:rPr>
              <a:t>Next, in order</a:t>
            </a:r>
          </a:p>
        </p:txBody>
      </p:sp>
      <p:sp>
        <p:nvSpPr>
          <p:cNvPr id="5" name="Rectangle 4"/>
          <p:cNvSpPr/>
          <p:nvPr/>
        </p:nvSpPr>
        <p:spPr>
          <a:xfrm>
            <a:off x="566928" y="1225296"/>
            <a:ext cx="11057839" cy="12801"/>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565392"/>
            <a:ext cx="7315200" cy="219456"/>
          </a:xfrm>
          <a:prstGeom prst="rect">
            <a:avLst/>
          </a:prstGeom>
          <a:noFill/>
        </p:spPr>
        <p:txBody>
          <a:bodyPr wrap="square" lIns="0" rIns="0" tIns="0" bIns="0" anchor="t">
            <a:spAutoFit/>
          </a:bodyPr>
          <a:lstStyle/>
          <a:p>
            <a:pPr algn="l">
              <a:spcAft>
                <a:spcPts val="0"/>
              </a:spcAft>
            </a:pPr>
            <a:r>
              <a:rPr sz="850" b="0" i="0">
                <a:solidFill>
                  <a:srgbClr val="6B7280"/>
                </a:solidFill>
                <a:latin typeface="Calibri"/>
              </a:rPr>
              <a:t>Wearable dual-arm supernumerary robot  ·  shared autonomy</a:t>
            </a:r>
          </a:p>
        </p:txBody>
      </p:sp>
      <p:sp>
        <p:nvSpPr>
          <p:cNvPr id="7" name="TextBox 6"/>
          <p:cNvSpPr txBox="1"/>
          <p:nvPr/>
        </p:nvSpPr>
        <p:spPr>
          <a:xfrm>
            <a:off x="10527487" y="6565392"/>
            <a:ext cx="1097280" cy="219456"/>
          </a:xfrm>
          <a:prstGeom prst="rect">
            <a:avLst/>
          </a:prstGeom>
          <a:noFill/>
        </p:spPr>
        <p:txBody>
          <a:bodyPr wrap="square" lIns="0" rIns="0" tIns="0" bIns="0" anchor="t">
            <a:spAutoFit/>
          </a:bodyPr>
          <a:lstStyle/>
          <a:p>
            <a:pPr algn="r">
              <a:spcAft>
                <a:spcPts val="0"/>
              </a:spcAft>
            </a:pPr>
            <a:r>
              <a:rPr sz="850" b="0" i="0">
                <a:solidFill>
                  <a:srgbClr val="6B7280"/>
                </a:solidFill>
                <a:latin typeface="Calibri"/>
              </a:rPr>
              <a:t>67</a:t>
            </a:r>
          </a:p>
        </p:txBody>
      </p:sp>
      <p:sp>
        <p:nvSpPr>
          <p:cNvPr id="8" name="Rectangle 7"/>
          <p:cNvSpPr/>
          <p:nvPr/>
        </p:nvSpPr>
        <p:spPr>
          <a:xfrm>
            <a:off x="566928" y="1389888"/>
            <a:ext cx="11073384" cy="329184"/>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453896"/>
            <a:ext cx="274320" cy="237744"/>
          </a:xfrm>
          <a:prstGeom prst="rect">
            <a:avLst/>
          </a:prstGeom>
          <a:noFill/>
        </p:spPr>
        <p:txBody>
          <a:bodyPr wrap="square" lIns="0" rIns="0" tIns="0" bIns="0" anchor="t">
            <a:spAutoFit/>
          </a:bodyPr>
          <a:lstStyle/>
          <a:p>
            <a:pPr algn="l">
              <a:spcAft>
                <a:spcPts val="0"/>
              </a:spcAft>
            </a:pPr>
            <a:r>
              <a:rPr sz="1050" b="1" i="0">
                <a:solidFill>
                  <a:srgbClr val="FFFFFF"/>
                </a:solidFill>
                <a:latin typeface="Calibri"/>
              </a:rPr>
              <a:t>#</a:t>
            </a:r>
          </a:p>
        </p:txBody>
      </p:sp>
      <p:sp>
        <p:nvSpPr>
          <p:cNvPr id="10" name="TextBox 9"/>
          <p:cNvSpPr txBox="1"/>
          <p:nvPr/>
        </p:nvSpPr>
        <p:spPr>
          <a:xfrm>
            <a:off x="1133856" y="1453896"/>
            <a:ext cx="3840480" cy="237744"/>
          </a:xfrm>
          <a:prstGeom prst="rect">
            <a:avLst/>
          </a:prstGeom>
          <a:noFill/>
        </p:spPr>
        <p:txBody>
          <a:bodyPr wrap="square" lIns="0" rIns="0" tIns="0" bIns="0" anchor="t">
            <a:spAutoFit/>
          </a:bodyPr>
          <a:lstStyle/>
          <a:p>
            <a:pPr algn="l">
              <a:spcAft>
                <a:spcPts val="0"/>
              </a:spcAft>
            </a:pPr>
            <a:r>
              <a:rPr sz="1050" b="1" i="0">
                <a:solidFill>
                  <a:srgbClr val="FFFFFF"/>
                </a:solidFill>
                <a:latin typeface="Calibri"/>
              </a:rPr>
              <a:t>what</a:t>
            </a:r>
          </a:p>
        </p:txBody>
      </p:sp>
      <p:sp>
        <p:nvSpPr>
          <p:cNvPr id="11" name="TextBox 10"/>
          <p:cNvSpPr txBox="1"/>
          <p:nvPr/>
        </p:nvSpPr>
        <p:spPr>
          <a:xfrm>
            <a:off x="5157216" y="1453896"/>
            <a:ext cx="6409944" cy="237744"/>
          </a:xfrm>
          <a:prstGeom prst="rect">
            <a:avLst/>
          </a:prstGeom>
          <a:noFill/>
        </p:spPr>
        <p:txBody>
          <a:bodyPr wrap="square" lIns="0" rIns="0" tIns="0" bIns="0" anchor="t">
            <a:spAutoFit/>
          </a:bodyPr>
          <a:lstStyle/>
          <a:p>
            <a:pPr algn="l">
              <a:spcAft>
                <a:spcPts val="0"/>
              </a:spcAft>
            </a:pPr>
            <a:r>
              <a:rPr sz="1050" b="1" i="0">
                <a:solidFill>
                  <a:srgbClr val="FFFFFF"/>
                </a:solidFill>
                <a:latin typeface="Calibri"/>
              </a:rPr>
              <a:t>why it is next</a:t>
            </a:r>
          </a:p>
        </p:txBody>
      </p:sp>
      <p:sp>
        <p:nvSpPr>
          <p:cNvPr id="12" name="Rectangle 11"/>
          <p:cNvSpPr/>
          <p:nvPr/>
        </p:nvSpPr>
        <p:spPr>
          <a:xfrm>
            <a:off x="566928" y="1719072"/>
            <a:ext cx="11073384" cy="60350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1769363"/>
            <a:ext cx="274320" cy="603504"/>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1</a:t>
            </a:r>
          </a:p>
        </p:txBody>
      </p:sp>
      <p:sp>
        <p:nvSpPr>
          <p:cNvPr id="14" name="TextBox 13"/>
          <p:cNvSpPr txBox="1"/>
          <p:nvPr/>
        </p:nvSpPr>
        <p:spPr>
          <a:xfrm>
            <a:off x="1133856" y="1769363"/>
            <a:ext cx="3840480"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Off-axis directions in the calibration sweep</a:t>
            </a:r>
          </a:p>
        </p:txBody>
      </p:sp>
      <p:sp>
        <p:nvSpPr>
          <p:cNvPr id="15" name="TextBox 14"/>
          <p:cNvSpPr txBox="1"/>
          <p:nvPr/>
        </p:nvSpPr>
        <p:spPr>
          <a:xfrm>
            <a:off x="5157216" y="1769363"/>
            <a:ext cx="6409944"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the 3×3 fit scores 93 mm held out on an axis — six axis-aligned directions are exactly a basis, with no redundancy to test</a:t>
            </a:r>
          </a:p>
        </p:txBody>
      </p:sp>
      <p:sp>
        <p:nvSpPr>
          <p:cNvPr id="16" name="TextBox 15"/>
          <p:cNvSpPr txBox="1"/>
          <p:nvPr/>
        </p:nvSpPr>
        <p:spPr>
          <a:xfrm>
            <a:off x="676656" y="2372868"/>
            <a:ext cx="274320" cy="603504"/>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2</a:t>
            </a:r>
          </a:p>
        </p:txBody>
      </p:sp>
      <p:sp>
        <p:nvSpPr>
          <p:cNvPr id="17" name="TextBox 16"/>
          <p:cNvSpPr txBox="1"/>
          <p:nvPr/>
        </p:nvSpPr>
        <p:spPr>
          <a:xfrm>
            <a:off x="1133856" y="2372868"/>
            <a:ext cx="3840480"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Try the terminal overshoot on hardware</a:t>
            </a:r>
          </a:p>
        </p:txBody>
      </p:sp>
      <p:sp>
        <p:nvSpPr>
          <p:cNvPr id="18" name="TextBox 17"/>
          <p:cNvSpPr txBox="1"/>
          <p:nvPr/>
        </p:nvSpPr>
        <p:spPr>
          <a:xfrm>
            <a:off x="5157216" y="2372868"/>
            <a:ext cx="6409944"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modelled at 74% / 76% removal; both it and the 0.10° deadband are live parameters and four runs settle which wins</a:t>
            </a:r>
          </a:p>
        </p:txBody>
      </p:sp>
      <p:sp>
        <p:nvSpPr>
          <p:cNvPr id="19" name="Rectangle 18"/>
          <p:cNvSpPr/>
          <p:nvPr/>
        </p:nvSpPr>
        <p:spPr>
          <a:xfrm>
            <a:off x="566928" y="2926080"/>
            <a:ext cx="11073384" cy="60350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2976372"/>
            <a:ext cx="274320" cy="603504"/>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3</a:t>
            </a:r>
          </a:p>
        </p:txBody>
      </p:sp>
      <p:sp>
        <p:nvSpPr>
          <p:cNvPr id="21" name="TextBox 20"/>
          <p:cNvSpPr txBox="1"/>
          <p:nvPr/>
        </p:nvSpPr>
        <p:spPr>
          <a:xfrm>
            <a:off x="1133856" y="2976372"/>
            <a:ext cx="3840480"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Measure camera_link against the physical module</a:t>
            </a:r>
          </a:p>
        </p:txBody>
      </p:sp>
      <p:sp>
        <p:nvSpPr>
          <p:cNvPr id="22" name="TextBox 21"/>
          <p:cNvSpPr txBox="1"/>
          <p:nvPr/>
        </p:nvSpPr>
        <p:spPr>
          <a:xfrm>
            <a:off x="5157216" y="2976372"/>
            <a:ext cx="6409944"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the cheapest high-value calibration left, and the largest unknown in the budget</a:t>
            </a:r>
          </a:p>
        </p:txBody>
      </p:sp>
      <p:sp>
        <p:nvSpPr>
          <p:cNvPr id="23" name="TextBox 22"/>
          <p:cNvSpPr txBox="1"/>
          <p:nvPr/>
        </p:nvSpPr>
        <p:spPr>
          <a:xfrm>
            <a:off x="676656" y="3579876"/>
            <a:ext cx="274320" cy="603504"/>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4</a:t>
            </a:r>
          </a:p>
        </p:txBody>
      </p:sp>
      <p:sp>
        <p:nvSpPr>
          <p:cNvPr id="24" name="TextBox 23"/>
          <p:cNvSpPr txBox="1"/>
          <p:nvPr/>
        </p:nvSpPr>
        <p:spPr>
          <a:xfrm>
            <a:off x="1133856" y="3579876"/>
            <a:ext cx="3840480"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Attach a scene camera</a:t>
            </a:r>
          </a:p>
        </p:txBody>
      </p:sp>
      <p:sp>
        <p:nvSpPr>
          <p:cNvPr id="25" name="TextBox 24"/>
          <p:cNvSpPr txBox="1"/>
          <p:nvPr/>
        </p:nvSpPr>
        <p:spPr>
          <a:xfrm>
            <a:off x="5157216" y="3579876"/>
            <a:ext cx="6409944"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the node, both calibration tools and their self-tests are built; no camera has ever been attached to this host</a:t>
            </a:r>
          </a:p>
        </p:txBody>
      </p:sp>
      <p:sp>
        <p:nvSpPr>
          <p:cNvPr id="26" name="Rectangle 25"/>
          <p:cNvSpPr/>
          <p:nvPr/>
        </p:nvSpPr>
        <p:spPr>
          <a:xfrm>
            <a:off x="566928" y="4133088"/>
            <a:ext cx="11073384" cy="603504"/>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4183380"/>
            <a:ext cx="274320" cy="603504"/>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5</a:t>
            </a:r>
          </a:p>
        </p:txBody>
      </p:sp>
      <p:sp>
        <p:nvSpPr>
          <p:cNvPr id="28" name="TextBox 27"/>
          <p:cNvSpPr txBox="1"/>
          <p:nvPr/>
        </p:nvSpPr>
        <p:spPr>
          <a:xfrm>
            <a:off x="1133856" y="4183380"/>
            <a:ext cx="3840480"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Repair the seven incoherent master channels</a:t>
            </a:r>
          </a:p>
        </p:txBody>
      </p:sp>
      <p:sp>
        <p:nvSpPr>
          <p:cNvPr id="29" name="TextBox 28"/>
          <p:cNvSpPr txBox="1"/>
          <p:nvPr/>
        </p:nvSpPr>
        <p:spPr>
          <a:xfrm>
            <a:off x="5157216" y="4183380"/>
            <a:ext cx="6409944"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a soldering problem, with l_j2 and l_j4 named by regression</a:t>
            </a:r>
          </a:p>
        </p:txBody>
      </p:sp>
      <p:sp>
        <p:nvSpPr>
          <p:cNvPr id="30" name="TextBox 29"/>
          <p:cNvSpPr txBox="1"/>
          <p:nvPr/>
        </p:nvSpPr>
        <p:spPr>
          <a:xfrm>
            <a:off x="676656" y="4786884"/>
            <a:ext cx="274320" cy="603504"/>
          </a:xfrm>
          <a:prstGeom prst="rect">
            <a:avLst/>
          </a:prstGeom>
          <a:noFill/>
        </p:spPr>
        <p:txBody>
          <a:bodyPr wrap="square" lIns="0" rIns="0" tIns="0" bIns="0" anchor="t">
            <a:spAutoFit/>
          </a:bodyPr>
          <a:lstStyle/>
          <a:p>
            <a:pPr algn="l">
              <a:spcAft>
                <a:spcPts val="0"/>
              </a:spcAft>
            </a:pPr>
            <a:r>
              <a:rPr sz="1050" b="1" i="0">
                <a:solidFill>
                  <a:srgbClr val="1B1D21"/>
                </a:solidFill>
                <a:latin typeface="Calibri"/>
              </a:rPr>
              <a:t>6</a:t>
            </a:r>
          </a:p>
        </p:txBody>
      </p:sp>
      <p:sp>
        <p:nvSpPr>
          <p:cNvPr id="31" name="TextBox 30"/>
          <p:cNvSpPr txBox="1"/>
          <p:nvPr/>
        </p:nvSpPr>
        <p:spPr>
          <a:xfrm>
            <a:off x="1133856" y="4786884"/>
            <a:ext cx="3840480"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Ethics approval, then participants</a:t>
            </a:r>
          </a:p>
        </p:txBody>
      </p:sp>
      <p:sp>
        <p:nvSpPr>
          <p:cNvPr id="32" name="TextBox 31"/>
          <p:cNvSpPr txBox="1"/>
          <p:nvPr/>
        </p:nvSpPr>
        <p:spPr>
          <a:xfrm>
            <a:off x="5157216" y="4786884"/>
            <a:ext cx="6409944" cy="603504"/>
          </a:xfrm>
          <a:prstGeom prst="rect">
            <a:avLst/>
          </a:prstGeom>
          <a:noFill/>
        </p:spPr>
        <p:txBody>
          <a:bodyPr wrap="square" lIns="0" rIns="0" tIns="0" bIns="0" anchor="t">
            <a:spAutoFit/>
          </a:bodyPr>
          <a:lstStyle/>
          <a:p>
            <a:pPr algn="l">
              <a:spcAft>
                <a:spcPts val="0"/>
              </a:spcAft>
            </a:pPr>
            <a:r>
              <a:rPr sz="1050" b="0" i="0">
                <a:solidFill>
                  <a:srgbClr val="1B1D21"/>
                </a:solidFill>
                <a:latin typeface="Calibri"/>
              </a:rPr>
              <a:t>the protocol is written; the arms are worn by one person and driven by another, and they consent separately</a:t>
            </a:r>
          </a:p>
        </p:txBody>
      </p:sp>
      <p:sp>
        <p:nvSpPr>
          <p:cNvPr id="33" name="TextBox 32"/>
          <p:cNvSpPr txBox="1"/>
          <p:nvPr/>
        </p:nvSpPr>
        <p:spPr>
          <a:xfrm>
            <a:off x="566928" y="6016752"/>
            <a:ext cx="11057839" cy="795527"/>
          </a:xfrm>
          <a:prstGeom prst="rect">
            <a:avLst/>
          </a:prstGeom>
          <a:noFill/>
        </p:spPr>
        <p:txBody>
          <a:bodyPr wrap="square" lIns="0" rIns="0" tIns="0" bIns="0" anchor="t">
            <a:spAutoFit/>
          </a:bodyPr>
          <a:lstStyle/>
          <a:p>
            <a:pPr algn="l">
              <a:spcAft>
                <a:spcPts val="300"/>
              </a:spcAft>
            </a:pPr>
            <a:r>
              <a:rPr sz="1100" b="0" i="0">
                <a:solidFill>
                  <a:srgbClr val="1B1D21"/>
                </a:solidFill>
                <a:latin typeface="Calibri"/>
              </a:rPr>
              <a:t>Ordered by what unblocks the most downstream work, not by effort.</a:t>
            </a:r>
          </a:p>
          <a:p>
            <a:pPr algn="l">
              <a:spcAft>
                <a:spcPts val="0"/>
              </a:spcAft>
            </a:pPr>
            <a:r>
              <a:rPr sz="850" b="0" i="0">
                <a:solidFill>
                  <a:srgbClr val="6B7280"/>
                </a:solidFill>
                <a:latin typeface="Consolas"/>
              </a:rPr>
              <a:t>source: docs/NEXT_SESSION_2026_08_23.md, docs/system/24_motion_planning.md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331720"/>
            <a:ext cx="9509760" cy="914400"/>
          </a:xfrm>
          <a:prstGeom prst="rect">
            <a:avLst/>
          </a:prstGeom>
          <a:noFill/>
        </p:spPr>
        <p:txBody>
          <a:bodyPr wrap="square" lIns="0" rIns="0" tIns="0" bIns="0" anchor="t">
            <a:spAutoFit/>
          </a:bodyPr>
          <a:lstStyle/>
          <a:p>
            <a:pPr algn="l">
              <a:spcAft>
                <a:spcPts val="0"/>
              </a:spcAft>
            </a:pPr>
            <a:r>
              <a:rPr sz="4000" b="1" i="0">
                <a:solidFill>
                  <a:srgbClr val="FFFFFF"/>
                </a:solidFill>
                <a:latin typeface="Calibri"/>
              </a:rPr>
              <a:t>Thank you</a:t>
            </a:r>
          </a:p>
        </p:txBody>
      </p:sp>
      <p:sp>
        <p:nvSpPr>
          <p:cNvPr id="5" name="Rectangle 4"/>
          <p:cNvSpPr/>
          <p:nvPr/>
        </p:nvSpPr>
        <p:spPr>
          <a:xfrm>
            <a:off x="960120" y="3474720"/>
            <a:ext cx="1828800" cy="41148"/>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749039"/>
            <a:ext cx="9509760" cy="1463040"/>
          </a:xfrm>
          <a:prstGeom prst="rect">
            <a:avLst/>
          </a:prstGeom>
          <a:noFill/>
        </p:spPr>
        <p:txBody>
          <a:bodyPr wrap="square" lIns="0" rIns="0" tIns="0" bIns="0" anchor="t">
            <a:spAutoFit/>
          </a:bodyPr>
          <a:lstStyle/>
          <a:p>
            <a:pPr algn="l">
              <a:spcAft>
                <a:spcPts val="600"/>
              </a:spcAft>
            </a:pPr>
            <a:r>
              <a:rPr sz="1300" b="0" i="0">
                <a:solidFill>
                  <a:srgbClr val="AEB6C2"/>
                </a:solidFill>
                <a:latin typeface="Calibri"/>
              </a:rPr>
              <a:t>Everything shown is regenerated from committed recordings by scripts/make_presentation.py.</a:t>
            </a:r>
          </a:p>
          <a:p>
            <a:pPr algn="l">
              <a:spcAft>
                <a:spcPts val="0"/>
              </a:spcAft>
            </a:pPr>
            <a:r>
              <a:rPr sz="1100" b="0" i="0">
                <a:solidFill>
                  <a:srgbClr val="7C8595"/>
                </a:solidFill>
                <a:latin typeface="Consolas"/>
              </a:rPr>
              <a:t>Evidence: recordings/verification/ (clips and the accuracy table) · recordings/baselines/ (every measurement) · recordings/analysis/ (the result figures) · docs/system/findings.md (the diagnostic history)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